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93" r:id="rId3"/>
    <p:sldId id="292" r:id="rId4"/>
    <p:sldId id="294" r:id="rId5"/>
    <p:sldId id="295" r:id="rId6"/>
    <p:sldId id="258" r:id="rId7"/>
  </p:sldIdLst>
  <p:sldSz cx="12192000" cy="6858000"/>
  <p:notesSz cx="6858000" cy="9144000"/>
  <p:embeddedFontLst>
    <p:embeddedFont>
      <p:font typeface="나눔스퀘어OTF" panose="020B0600000101010101" pitchFamily="34" charset="-127"/>
      <p:regular r:id="rId8"/>
    </p:embeddedFont>
    <p:embeddedFont>
      <p:font typeface="나눔스퀘어OTF ExtraBold" panose="020B0600000101010101" pitchFamily="34" charset="-127"/>
      <p:bold r:id="rId9"/>
    </p:embeddedFont>
    <p:embeddedFont>
      <p:font typeface="나눔스퀘어OTF Light" panose="020B0600000101010101" pitchFamily="34" charset="-127"/>
      <p:regular r:id="rId10"/>
    </p:embeddedFont>
    <p:embeddedFont>
      <p:font typeface="나눔스퀘어OTF_ac Bold" panose="020B0600000101010101" pitchFamily="34" charset="-127"/>
      <p:bold r:id="rId11"/>
    </p:embeddedFont>
    <p:embeddedFont>
      <p:font typeface="나눔스퀘어OTF_ac ExtraBold" panose="020B0600000101010101" pitchFamily="34" charset="-127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A85F5-A2D5-9D63-1407-9E8670151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FC0261-23F9-31C0-FD86-8E5DECFFA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732279-1209-2D42-5F9D-6C4F2227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ED15E7-58A8-9835-AE63-460447DD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28C162-B559-A746-0D84-23A2550E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82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956C3-298F-40BF-F0CD-994B1A7B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D53A8B-A87A-4AD6-F7E8-6304CE7B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02E1CE-AD63-ED53-1C80-43BB29D08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4FAA06-407F-53F2-6763-7D935C58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6E4E2-5553-7024-1EFF-B6711953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177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254F4-F468-0BED-C9D6-A29FD618A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5CAA33-29CD-152B-A237-824C346AF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9123FC-DA72-D62B-EBB1-F31244665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7A7670-8736-E0B3-6B9F-DCDD4FB0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45D13-E4E4-2AAD-F3E1-E24059AB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48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AFC04-FE79-52F8-CD0D-3C56D6A5B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5EF8BB-5D31-7B0F-38AD-49BF08C3C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863EA4-738D-CACE-2950-02AE79315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3CA4DF-8DD3-20B3-057D-ABC2F1A2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A7C20F-06A9-252E-0378-2A45747D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5B825C-A5A2-17D3-DCB7-9DC2F0844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258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DC3D8-0DD8-E4BD-5C83-3A3E8FC3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DDF7C1-3566-1666-D919-4FE54293D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B4CE4D-FD59-4C0F-A42E-298294B3F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417FD1-F1E4-B5CC-8D38-E727026E3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1637EF-3A96-A693-0F34-CB679CA3E1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FF64A5-1B7F-46CD-771A-8CA5F648D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20F398-222A-C628-4DDC-7F7D5DD3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43BD96-9D79-3ACC-1F5A-C34A6CD3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624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C7A3C-52AE-C448-DEAC-14B7C328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B5ADC5-BDB7-4F5E-40A3-DB852F8A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AD13F7-2D04-92E8-FAB2-677E5DEB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38F4E8-C595-DA92-42B9-769CDA6A4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88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89D668-BC40-18B9-04E4-478B5DD73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2EB4EF-2E41-AAA0-4552-0D9D9EEA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88F73C-772B-040B-194F-D2C641E07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384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12795D-7264-A134-BF52-CC992849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7131EB-6A9E-B053-6A5B-BECA6442D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188CEF-6D42-E4CC-A6DC-E1F668A7F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606CA7-1E03-F7DB-E6C8-94D419B2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D2F133-6EB9-ECF1-EEEB-8674C9CB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63B449-CDC0-45EA-5D7C-CEE066F8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15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DCC95-52F4-3B1C-A1E9-45572CA49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000E53B-AB2A-9FA5-7FED-048F0F885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B2966D-597A-EACE-FD1E-2FD4CDABD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18131D-3285-768A-F327-802405B1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F9EB35-A2AB-7431-A0ED-136283A6A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558F27-6C90-19F7-3C96-781508D8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497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BCB07-52AD-CE0A-3B3D-B2D13EF5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F0281A-12E3-3246-F389-498BDACE18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52909C-3A28-E53E-A4F7-25B8675C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26C687-A8D6-E2C5-DD51-519F5880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D2589D-1053-0035-09EB-5BAA5C9F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4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4D87AE5-B0D6-7756-17A0-42D434CFB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6B0299-1D09-2E91-FDBA-9FB9883FA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296AC0-2E6A-D40C-4FFD-617F3E04D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45017C-79FE-3AB3-FC03-122D295F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EE5DB5-E737-EC9D-D249-089103DB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4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692DA4-E108-753B-DE63-BFC2AE81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308BEB-9839-F342-E984-48A532597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2DBEB3-7D1A-7EF6-5016-EA7267B2B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B36E8-EA37-42F3-B631-97625E46E67A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1DA39F-924E-D9C8-1B9D-070274F12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65AABE-91C5-3F7C-A760-7DE993252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68F003-7945-4EBA-A4E6-5785FE08D4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76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3123A-6DF1-F88A-2BFC-9AD42149E51E}"/>
              </a:ext>
            </a:extLst>
          </p:cNvPr>
          <p:cNvSpPr txBox="1"/>
          <p:nvPr/>
        </p:nvSpPr>
        <p:spPr>
          <a:xfrm>
            <a:off x="10639672" y="6149400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게임공학과</a:t>
            </a:r>
            <a:endParaRPr lang="en-US" altLang="ko-KR" sz="16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2021180002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43950-9233-7EA6-0D16-544D5961A1C1}"/>
              </a:ext>
            </a:extLst>
          </p:cNvPr>
          <p:cNvSpPr txBox="1"/>
          <p:nvPr/>
        </p:nvSpPr>
        <p:spPr>
          <a:xfrm>
            <a:off x="10674077" y="5780068"/>
            <a:ext cx="1350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고서연</a:t>
            </a:r>
            <a:endParaRPr lang="en-US" altLang="ko-KR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8A856-4025-AAD1-5D23-0B682F5F41D7}"/>
              </a:ext>
            </a:extLst>
          </p:cNvPr>
          <p:cNvSpPr txBox="1"/>
          <p:nvPr/>
        </p:nvSpPr>
        <p:spPr>
          <a:xfrm>
            <a:off x="5554826" y="13918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졸업 논문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8529774-E12D-2EBF-4440-3B5E13CEF981}"/>
              </a:ext>
            </a:extLst>
          </p:cNvPr>
          <p:cNvGrpSpPr/>
          <p:nvPr/>
        </p:nvGrpSpPr>
        <p:grpSpPr>
          <a:xfrm>
            <a:off x="2995497" y="1442001"/>
            <a:ext cx="6201003" cy="1277273"/>
            <a:chOff x="3405572" y="1381728"/>
            <a:chExt cx="6201003" cy="127727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8B3E688-BAA4-CE86-C61A-AD6F09C231C2}"/>
                </a:ext>
              </a:extLst>
            </p:cNvPr>
            <p:cNvSpPr txBox="1"/>
            <p:nvPr/>
          </p:nvSpPr>
          <p:spPr>
            <a:xfrm>
              <a:off x="3405572" y="1381728"/>
              <a:ext cx="62010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단방향 순환형 </a:t>
              </a:r>
              <a:r>
                <a:rPr lang="en-US" altLang="ko-KR" sz="2400" dirty="0" err="1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1vs1</a:t>
              </a:r>
              <a:r>
                <a:rPr lang="en-US" altLang="ko-KR" sz="2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 </a:t>
              </a:r>
              <a:r>
                <a:rPr lang="ko-KR" altLang="en-US" sz="2400" dirty="0"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전투 게임에서 </a:t>
              </a:r>
            </a:p>
            <a:p>
              <a:pPr algn="ctr"/>
              <a:r>
                <a:rPr lang="ko-KR" altLang="en-US" sz="2400" dirty="0">
                  <a:solidFill>
                    <a:srgbClr val="C00000"/>
                  </a:solidFill>
                  <a:latin typeface="나눔스퀘어OTF_ac Bold" panose="020B0600000101010101" pitchFamily="34" charset="-127"/>
                  <a:ea typeface="나눔스퀘어OTF_ac Bold" panose="020B0600000101010101" pitchFamily="34" charset="-127"/>
                </a:rPr>
                <a:t>맵 구조</a:t>
              </a:r>
              <a:r>
                <a:rPr lang="ko-KR" altLang="en-US" sz="2400" dirty="0">
                  <a:solidFill>
                    <a:srgbClr val="C00000"/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가 </a:t>
              </a:r>
              <a:r>
                <a:rPr lang="ko-KR" altLang="en-US" sz="2400" dirty="0">
                  <a:solidFill>
                    <a:srgbClr val="C00000"/>
                  </a:solidFill>
                  <a:latin typeface="나눔스퀘어OTF_ac Bold" panose="020B0600000101010101" pitchFamily="34" charset="-127"/>
                  <a:ea typeface="나눔스퀘어OTF_ac Bold" panose="020B0600000101010101" pitchFamily="34" charset="-127"/>
                </a:rPr>
                <a:t>전투 리듬 사이클</a:t>
              </a:r>
              <a:r>
                <a:rPr lang="ko-KR" altLang="en-US" sz="2400" dirty="0">
                  <a:solidFill>
                    <a:srgbClr val="C00000"/>
                  </a:solidFill>
                  <a:latin typeface="나눔스퀘어OTF" panose="020B0600000101010101" pitchFamily="34" charset="-127"/>
                  <a:ea typeface="나눔스퀘어OTF" panose="020B0600000101010101" pitchFamily="34" charset="-127"/>
                </a:rPr>
                <a:t>에 미치는 영향</a:t>
              </a:r>
              <a:endParaRPr lang="en-US" altLang="ko-KR" sz="2400" dirty="0">
                <a:solidFill>
                  <a:srgbClr val="C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5FD0A6-3670-7B25-8176-5501A7B6E8F0}"/>
                </a:ext>
              </a:extLst>
            </p:cNvPr>
            <p:cNvSpPr txBox="1"/>
            <p:nvPr/>
          </p:nvSpPr>
          <p:spPr>
            <a:xfrm>
              <a:off x="4464662" y="2289669"/>
              <a:ext cx="40828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— </a:t>
              </a:r>
              <a:r>
                <a:rPr lang="ko-KR" altLang="en-US" i="1" dirty="0" err="1">
                  <a:solidFill>
                    <a:srgbClr val="C00000"/>
                  </a:solidFill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루덴스</a:t>
              </a:r>
              <a:r>
                <a:rPr lang="ko-KR" altLang="en-US" dirty="0" err="1"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를</a:t>
              </a:r>
              <a:r>
                <a:rPr lang="ko-KR" altLang="en-US" dirty="0">
                  <a:latin typeface="나눔스퀘어OTF Light" panose="020B0600000101010101" pitchFamily="34" charset="-127"/>
                  <a:ea typeface="나눔스퀘어OTF Light" panose="020B0600000101010101" pitchFamily="34" charset="-127"/>
                </a:rPr>
                <a:t> 중심으로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F882A78-0C13-27DD-8CE2-036F518CCFBC}"/>
              </a:ext>
            </a:extLst>
          </p:cNvPr>
          <p:cNvSpPr txBox="1"/>
          <p:nvPr/>
        </p:nvSpPr>
        <p:spPr>
          <a:xfrm>
            <a:off x="5554826" y="636484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연구 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486B3-C9C5-10F1-D43E-B2E9395E0DBD}"/>
              </a:ext>
            </a:extLst>
          </p:cNvPr>
          <p:cNvSpPr txBox="1"/>
          <p:nvPr/>
        </p:nvSpPr>
        <p:spPr>
          <a:xfrm>
            <a:off x="4807826" y="2796218"/>
            <a:ext cx="25763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미니 실험</a:t>
            </a:r>
            <a:endParaRPr lang="en-US" altLang="ko-KR" sz="4800" dirty="0"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  <a:p>
            <a:endParaRPr lang="ko-KR" altLang="en-US" sz="4800" dirty="0"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2BF85-D439-59F1-03AE-4948FBF36B04}"/>
              </a:ext>
            </a:extLst>
          </p:cNvPr>
          <p:cNvSpPr txBox="1"/>
          <p:nvPr/>
        </p:nvSpPr>
        <p:spPr>
          <a:xfrm>
            <a:off x="5164492" y="3611825"/>
            <a:ext cx="1863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설계안</a:t>
            </a:r>
            <a:endParaRPr lang="ko-KR" altLang="en-US" sz="48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813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6CC10-88DE-8950-E7E2-E4E3031B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353D27-A767-74D4-D638-7E7BC452BBE7}"/>
              </a:ext>
            </a:extLst>
          </p:cNvPr>
          <p:cNvSpPr txBox="1"/>
          <p:nvPr/>
        </p:nvSpPr>
        <p:spPr>
          <a:xfrm>
            <a:off x="5295815" y="196334"/>
            <a:ext cx="1677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하고 싶은 말</a:t>
            </a:r>
            <a:endParaRPr lang="ko-KR" altLang="en-US" sz="24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03C34-1DA0-635D-2ABA-15CEA8DF7205}"/>
              </a:ext>
            </a:extLst>
          </p:cNvPr>
          <p:cNvSpPr txBox="1"/>
          <p:nvPr/>
        </p:nvSpPr>
        <p:spPr>
          <a:xfrm>
            <a:off x="5301561" y="657999"/>
            <a:ext cx="1588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후기 아니고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전기</a:t>
            </a:r>
          </a:p>
        </p:txBody>
      </p:sp>
      <p:pic>
        <p:nvPicPr>
          <p:cNvPr id="8" name="그림 7" descr="텍스트, 인간의 얼굴, 스크린샷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085DA7-4D3E-7C34-B5FB-1F0A02F6A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87" t="19167" r="53828" b="30277"/>
          <a:stretch>
            <a:fillRect/>
          </a:stretch>
        </p:blipFill>
        <p:spPr>
          <a:xfrm>
            <a:off x="752475" y="1990726"/>
            <a:ext cx="2619375" cy="3467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5BAFA7-9A7F-D933-BE31-E8960AE8536D}"/>
              </a:ext>
            </a:extLst>
          </p:cNvPr>
          <p:cNvSpPr txBox="1"/>
          <p:nvPr/>
        </p:nvSpPr>
        <p:spPr>
          <a:xfrm>
            <a:off x="1501752" y="5553849"/>
            <a:ext cx="1120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손교수님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83EB8C-3907-C90B-0D25-B94083DEF9F8}"/>
              </a:ext>
            </a:extLst>
          </p:cNvPr>
          <p:cNvSpPr/>
          <p:nvPr/>
        </p:nvSpPr>
        <p:spPr>
          <a:xfrm>
            <a:off x="1408852" y="3135140"/>
            <a:ext cx="1759862" cy="39344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02EA06B4-4E05-CF88-1CA4-BD02DC1AF7D7}"/>
              </a:ext>
            </a:extLst>
          </p:cNvPr>
          <p:cNvSpPr/>
          <p:nvPr/>
        </p:nvSpPr>
        <p:spPr>
          <a:xfrm>
            <a:off x="4046631" y="1126414"/>
            <a:ext cx="5726017" cy="635712"/>
          </a:xfrm>
          <a:prstGeom prst="wedgeRoundRectCallout">
            <a:avLst>
              <a:gd name="adj1" fmla="val -60783"/>
              <a:gd name="adj2" fmla="val 4543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왜 번거롭게 미니 </a:t>
            </a:r>
            <a:r>
              <a:rPr lang="ko-KR" altLang="en-US" sz="1600" dirty="0" err="1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실험이라는걸</a:t>
            </a:r>
            <a:r>
              <a:rPr lang="ko-KR" altLang="en-US" sz="1600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따로 해야 하는데</a:t>
            </a:r>
            <a:r>
              <a:rPr lang="en-US" altLang="ko-KR" sz="1600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</a:t>
            </a:r>
            <a:endParaRPr lang="ko-KR" altLang="en-US" sz="1600" dirty="0">
              <a:solidFill>
                <a:sysClr val="windowText" lastClr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997E5C85-7964-B7F2-6503-36AA8D896FEE}"/>
              </a:ext>
            </a:extLst>
          </p:cNvPr>
          <p:cNvSpPr/>
          <p:nvPr/>
        </p:nvSpPr>
        <p:spPr>
          <a:xfrm>
            <a:off x="4486275" y="1891987"/>
            <a:ext cx="6866769" cy="1243153"/>
          </a:xfrm>
          <a:prstGeom prst="wedgeRoundRectCallout">
            <a:avLst>
              <a:gd name="adj1" fmla="val 56220"/>
              <a:gd name="adj2" fmla="val -42124"/>
              <a:gd name="adj3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전투 리듬의 </a:t>
            </a:r>
            <a:r>
              <a:rPr lang="ko-KR" altLang="en-US" sz="1600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진입</a:t>
            </a:r>
            <a:r>
              <a:rPr lang="en-US" altLang="ko-KR" sz="1600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유지</a:t>
            </a:r>
            <a:r>
              <a:rPr lang="en-US" altLang="ko-KR" sz="1600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이탈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3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단계는 </a:t>
            </a:r>
            <a:endParaRPr lang="en-US" altLang="ko-KR" sz="1600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모두 이동 거리와 공격 여부에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달려 있습니다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</a:t>
            </a: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그런데 그 이동 거리와 공격 범위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여부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를 결정하는 게</a:t>
            </a:r>
            <a:endParaRPr lang="en-US" altLang="ko-KR" sz="1600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무기들의 집합인 </a:t>
            </a:r>
            <a:r>
              <a:rPr lang="ko-KR" altLang="en-US" sz="1600" b="1" dirty="0" err="1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</a:t>
            </a:r>
            <a:r>
              <a:rPr lang="ko-KR" altLang="en-US" sz="1600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입니다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1600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714D879A-D640-9498-2F29-B533EC3060BD}"/>
              </a:ext>
            </a:extLst>
          </p:cNvPr>
          <p:cNvSpPr/>
          <p:nvPr/>
        </p:nvSpPr>
        <p:spPr>
          <a:xfrm>
            <a:off x="4046632" y="3429000"/>
            <a:ext cx="5726018" cy="752475"/>
          </a:xfrm>
          <a:prstGeom prst="wedgeRoundRectCallout">
            <a:avLst>
              <a:gd name="adj1" fmla="val -60491"/>
              <a:gd name="adj2" fmla="val 4087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그럼 연구 주제는 </a:t>
            </a:r>
            <a:r>
              <a:rPr lang="ko-KR" altLang="en-US" sz="1600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맵 구조</a:t>
            </a:r>
            <a:r>
              <a:rPr lang="ko-KR" altLang="en-US" sz="1600" dirty="0">
                <a:solidFill>
                  <a:srgbClr val="C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가 </a:t>
            </a:r>
            <a:r>
              <a:rPr lang="ko-KR" altLang="en-US" sz="1600" dirty="0">
                <a:solidFill>
                  <a:srgbClr val="C0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전투 리듬 사이클</a:t>
            </a:r>
            <a:r>
              <a:rPr lang="ko-KR" altLang="en-US" sz="1600" dirty="0">
                <a:solidFill>
                  <a:srgbClr val="C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에 미치는 영향</a:t>
            </a:r>
            <a:endParaRPr lang="en-US" altLang="ko-KR" sz="1600" dirty="0">
              <a:solidFill>
                <a:srgbClr val="C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이니까 </a:t>
            </a:r>
            <a:r>
              <a:rPr lang="ko-KR" altLang="en-US" sz="1600" dirty="0" err="1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덱은</a:t>
            </a:r>
            <a:r>
              <a:rPr lang="ko-KR" altLang="en-US" sz="1600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변수로 두면 안 되지</a:t>
            </a:r>
            <a:r>
              <a:rPr lang="en-US" altLang="ko-KR" sz="1600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</a:t>
            </a:r>
            <a:r>
              <a:rPr lang="ko-KR" altLang="en-US" sz="1600" b="1" u="sng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고정 </a:t>
            </a:r>
            <a:r>
              <a:rPr lang="ko-KR" altLang="en-US" sz="1600" b="1" u="sng" dirty="0" err="1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덱으로</a:t>
            </a:r>
            <a:r>
              <a:rPr lang="ko-KR" altLang="en-US" sz="1600" b="1" u="sng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실험하자</a:t>
            </a:r>
            <a:r>
              <a:rPr lang="en-US" altLang="ko-KR" sz="1600" b="1" u="sng" dirty="0">
                <a:solidFill>
                  <a:sysClr val="windowText" lastClr="000000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1600" b="1" u="sng" dirty="0">
              <a:solidFill>
                <a:sysClr val="windowText" lastClr="000000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E67468E7-1B73-23CE-CAFB-C1007CB4FEE5}"/>
              </a:ext>
            </a:extLst>
          </p:cNvPr>
          <p:cNvSpPr/>
          <p:nvPr/>
        </p:nvSpPr>
        <p:spPr>
          <a:xfrm>
            <a:off x="4486275" y="4333875"/>
            <a:ext cx="6866769" cy="2062081"/>
          </a:xfrm>
          <a:prstGeom prst="wedgeRoundRectCallout">
            <a:avLst>
              <a:gd name="adj1" fmla="val 56220"/>
              <a:gd name="adj2" fmla="val -42124"/>
              <a:gd name="adj3" fmla="val 1666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덱을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고정하면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“</a:t>
            </a:r>
            <a:r>
              <a:rPr lang="ko-KR" altLang="en-US" sz="1600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 때문이 아니라 해당 </a:t>
            </a:r>
            <a:r>
              <a:rPr lang="ko-KR" altLang="en-US" sz="1600" b="1" dirty="0" err="1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덱을</a:t>
            </a:r>
            <a:r>
              <a:rPr lang="ko-KR" altLang="en-US" sz="1600" b="1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쥐여줘서 그런 결과가 나온 거야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”</a:t>
            </a: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라는 편향 논란이 생깁니다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또한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“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왜 이 </a:t>
            </a:r>
            <a:r>
              <a:rPr lang="ko-KR" altLang="en-US" sz="1600" dirty="0" err="1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맵에서는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이동 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6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 자주 쓰였는가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?”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“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왜 이 </a:t>
            </a:r>
            <a:r>
              <a:rPr lang="ko-KR" altLang="en-US" sz="1600" dirty="0" err="1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맵에서는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주먹 비중이 급증했는가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?”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같은 질문에 답할 수 없게 됩니다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무엇보다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dirty="0" err="1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덱은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종속 변수입니다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</a:t>
            </a: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플레이어가 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'</a:t>
            </a:r>
            <a:r>
              <a:rPr lang="ko-KR" altLang="en-US" sz="1600" u="sng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 </a:t>
            </a:r>
            <a:r>
              <a:rPr lang="ko-KR" altLang="en-US" sz="1600" u="sng" dirty="0" err="1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맵에선</a:t>
            </a:r>
            <a:r>
              <a:rPr lang="ko-KR" altLang="en-US" sz="1600" u="sng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이걸 쓸 수밖에 없네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'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라고 느끼고 선택한 </a:t>
            </a:r>
            <a:endParaRPr lang="en-US" altLang="ko-KR" sz="1600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결과가 </a:t>
            </a:r>
            <a:r>
              <a:rPr lang="ko-KR" altLang="en-US" sz="1600" u="sng" dirty="0" err="1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맵의</a:t>
            </a:r>
            <a:r>
              <a:rPr lang="ko-KR" altLang="en-US" sz="1600" u="sng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특성을 더 적나라하게 보여주는 데이터</a:t>
            </a:r>
            <a:r>
              <a:rPr lang="ko-KR" altLang="en-US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라고 판단했습니다</a:t>
            </a:r>
            <a:r>
              <a:rPr lang="en-US" altLang="ko-KR" sz="1600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 </a:t>
            </a:r>
            <a:endParaRPr lang="ko-KR" altLang="en-US" sz="1600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7A008D1B-4F6A-4CFD-E922-C297C16D1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9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64DE-334C-1876-0A34-E14F54BA0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4748B5F-185F-CB37-2664-15557E2AC45F}"/>
              </a:ext>
            </a:extLst>
          </p:cNvPr>
          <p:cNvSpPr/>
          <p:nvPr/>
        </p:nvSpPr>
        <p:spPr>
          <a:xfrm>
            <a:off x="124995" y="3258291"/>
            <a:ext cx="11942008" cy="3478511"/>
          </a:xfrm>
          <a:prstGeom prst="roundRect">
            <a:avLst>
              <a:gd name="adj" fmla="val 258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1B8D7F-6D75-0FDD-8E3D-7F7230F0A8D4}"/>
              </a:ext>
            </a:extLst>
          </p:cNvPr>
          <p:cNvSpPr txBox="1"/>
          <p:nvPr/>
        </p:nvSpPr>
        <p:spPr>
          <a:xfrm>
            <a:off x="4651534" y="196334"/>
            <a:ext cx="2872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문서 목적 및 연구 질문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46373-6F4B-F0A9-EB34-00396B169933}"/>
              </a:ext>
            </a:extLst>
          </p:cNvPr>
          <p:cNvSpPr txBox="1"/>
          <p:nvPr/>
        </p:nvSpPr>
        <p:spPr>
          <a:xfrm>
            <a:off x="3626421" y="657999"/>
            <a:ext cx="49391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 err="1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덱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구성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자유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롭게 허용된 환경에서도</a:t>
            </a:r>
            <a:r>
              <a:rPr lang="en-US" altLang="ko-KR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,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endParaRPr lang="en-US" altLang="ko-KR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맵 구조에 따른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전투 사이클의 경향성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이 관측 가능한지를 </a:t>
            </a:r>
            <a:endParaRPr lang="en-US" altLang="ko-KR" sz="1600" dirty="0">
              <a:latin typeface="나눔스퀘어OTF Light" panose="020B0600000101010101" pitchFamily="34" charset="-127"/>
              <a:ea typeface="나눔스퀘어OTF Light" panose="020B0600000101010101" pitchFamily="34" charset="-127"/>
            </a:endParaRPr>
          </a:p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사전에 검증하기 위한 탐색적 실험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E023A3-F91F-B4FA-F017-CFDBC968762A}"/>
              </a:ext>
            </a:extLst>
          </p:cNvPr>
          <p:cNvSpPr txBox="1"/>
          <p:nvPr/>
        </p:nvSpPr>
        <p:spPr>
          <a:xfrm>
            <a:off x="2618128" y="1634836"/>
            <a:ext cx="6955750" cy="876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1.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구성의 자율성이 플레이어의 무작위 선택으로 이어져 데이터를 오염시키는지</a:t>
            </a:r>
            <a:endParaRPr lang="en-US" altLang="ko-KR" sz="16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2.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플레이어가 승리를 추구하는 과정에서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구성이 특정한 메타로 수렴하는지</a:t>
            </a:r>
            <a:endParaRPr lang="en-US" altLang="ko-KR" sz="16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여부를 확인해 본 실험의 실험 방법에 반영한다</a:t>
            </a:r>
            <a:r>
              <a:rPr lang="en-US" altLang="ko-KR" sz="14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9DF4CF2-B864-AAE5-FD2B-4D215399C8AE}"/>
              </a:ext>
            </a:extLst>
          </p:cNvPr>
          <p:cNvSpPr/>
          <p:nvPr/>
        </p:nvSpPr>
        <p:spPr>
          <a:xfrm>
            <a:off x="5088101" y="2809333"/>
            <a:ext cx="2092490" cy="448958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연구 질문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D8D48ED-AFE9-1524-CBA8-161507D58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205661"/>
              </p:ext>
            </p:extLst>
          </p:nvPr>
        </p:nvGraphicFramePr>
        <p:xfrm>
          <a:off x="2031999" y="3708782"/>
          <a:ext cx="8128000" cy="25775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2602081494"/>
                    </a:ext>
                  </a:extLst>
                </a:gridCol>
                <a:gridCol w="5816600">
                  <a:extLst>
                    <a:ext uri="{9D8B030D-6E8A-4147-A177-3AD203B41FA5}">
                      <a16:colId xmlns:a16="http://schemas.microsoft.com/office/drawing/2014/main" val="3743778166"/>
                    </a:ext>
                  </a:extLst>
                </a:gridCol>
              </a:tblGrid>
              <a:tr h="8996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질문 </a:t>
                      </a:r>
                      <a:r>
                        <a:rPr lang="en-US" altLang="ko-KR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1</a:t>
                      </a:r>
                      <a:endParaRPr lang="ko-KR" altLang="en-US" sz="20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맵의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구조적 특징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(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직선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/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코너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)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 플레이어의 무기 및 </a:t>
                      </a:r>
                      <a:endParaRPr lang="en-US" altLang="ko-KR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이동 거리 선택에 결정적인 영향을 미치는가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?</a:t>
                      </a:r>
                      <a:endParaRPr lang="ko-KR" altLang="en-US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835354"/>
                  </a:ext>
                </a:extLst>
              </a:tr>
              <a:tr h="8389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질문 </a:t>
                      </a:r>
                      <a:r>
                        <a:rPr lang="en-US" altLang="ko-KR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2</a:t>
                      </a:r>
                      <a:endParaRPr lang="ko-KR" altLang="en-US" sz="20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반복된 대전을 통해 플레이어들은 </a:t>
                      </a:r>
                      <a:endParaRPr lang="en-US" altLang="ko-KR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해당 </a:t>
                      </a:r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맵에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최적화된 전략을 찾아내는가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?</a:t>
                      </a:r>
                      <a:endParaRPr lang="ko-KR" altLang="en-US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26896"/>
                  </a:ext>
                </a:extLst>
              </a:tr>
              <a:tr h="8389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질문 </a:t>
                      </a:r>
                      <a:r>
                        <a:rPr lang="en-US" altLang="ko-KR" sz="20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3</a:t>
                      </a:r>
                      <a:endParaRPr lang="ko-KR" altLang="en-US" sz="20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맵이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변경되었을 때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기존 유리했던 </a:t>
                      </a:r>
                      <a:r>
                        <a:rPr lang="ko-KR" altLang="en-US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덱</a:t>
                      </a:r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조합 전략이 </a:t>
                      </a:r>
                      <a:endParaRPr lang="en-US" altLang="ko-KR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  <a:p>
                      <a:pPr algn="ctr" latinLnBrk="1"/>
                      <a:r>
                        <a:rPr lang="ko-KR" altLang="en-US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얼마나 빠르게 변화하거나 폐기되는가</a:t>
                      </a:r>
                      <a:r>
                        <a:rPr lang="en-US" altLang="ko-KR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?</a:t>
                      </a:r>
                      <a:endParaRPr lang="ko-KR" altLang="en-US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317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662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FC0D2-D5C2-D624-D034-3DB512540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9C9C9-AB0E-AA00-19B7-28DA5A0C7330}"/>
              </a:ext>
            </a:extLst>
          </p:cNvPr>
          <p:cNvSpPr txBox="1"/>
          <p:nvPr/>
        </p:nvSpPr>
        <p:spPr>
          <a:xfrm>
            <a:off x="5428188" y="196334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실험 방법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7E8EBF-3FB7-B4A9-4685-B9BD0E7A9075}"/>
              </a:ext>
            </a:extLst>
          </p:cNvPr>
          <p:cNvSpPr txBox="1"/>
          <p:nvPr/>
        </p:nvSpPr>
        <p:spPr>
          <a:xfrm>
            <a:off x="5590904" y="657999"/>
            <a:ext cx="1010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실험 절차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A6BEAC-431A-E8FE-5502-0CCBA55B2C03}"/>
              </a:ext>
            </a:extLst>
          </p:cNvPr>
          <p:cNvSpPr txBox="1"/>
          <p:nvPr/>
        </p:nvSpPr>
        <p:spPr>
          <a:xfrm>
            <a:off x="3058152" y="1119664"/>
            <a:ext cx="60757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기본 </a:t>
            </a:r>
            <a:r>
              <a:rPr lang="en-US" altLang="ko-KR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1vs1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턴제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전투 규칙 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체력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데미지 등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을 본 실험과 동일하게 적용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0E88C9-9593-97FD-B046-B9166814D1D1}"/>
              </a:ext>
            </a:extLst>
          </p:cNvPr>
          <p:cNvSpPr/>
          <p:nvPr/>
        </p:nvSpPr>
        <p:spPr>
          <a:xfrm>
            <a:off x="124995" y="1996410"/>
            <a:ext cx="11942008" cy="4740393"/>
          </a:xfrm>
          <a:prstGeom prst="roundRect">
            <a:avLst>
              <a:gd name="adj" fmla="val 258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AB73B5-EF4E-6A2E-768D-9961574C297F}"/>
              </a:ext>
            </a:extLst>
          </p:cNvPr>
          <p:cNvSpPr/>
          <p:nvPr/>
        </p:nvSpPr>
        <p:spPr>
          <a:xfrm>
            <a:off x="5088101" y="1547452"/>
            <a:ext cx="2092490" cy="448958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실험 절차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43719ECA-BDDA-80B1-7E8D-FD0B4AB8C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194134"/>
              </p:ext>
            </p:extLst>
          </p:nvPr>
        </p:nvGraphicFramePr>
        <p:xfrm>
          <a:off x="962025" y="3112423"/>
          <a:ext cx="10267950" cy="14930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5788">
                  <a:extLst>
                    <a:ext uri="{9D8B030D-6E8A-4147-A177-3AD203B41FA5}">
                      <a16:colId xmlns:a16="http://schemas.microsoft.com/office/drawing/2014/main" val="2602081494"/>
                    </a:ext>
                  </a:extLst>
                </a:gridCol>
                <a:gridCol w="8142162">
                  <a:extLst>
                    <a:ext uri="{9D8B030D-6E8A-4147-A177-3AD203B41FA5}">
                      <a16:colId xmlns:a16="http://schemas.microsoft.com/office/drawing/2014/main" val="3743778166"/>
                    </a:ext>
                  </a:extLst>
                </a:gridCol>
              </a:tblGrid>
              <a:tr h="5211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1</a:t>
                      </a:r>
                      <a:r>
                        <a:rPr lang="ko-KR" altLang="en-US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단계</a:t>
                      </a:r>
                      <a:endParaRPr lang="en-US" altLang="ko-KR" sz="18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동일한 상대와 연속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3~5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판 대전을 수행한다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sz="16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835354"/>
                  </a:ext>
                </a:extLst>
              </a:tr>
              <a:tr h="4859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2</a:t>
                      </a:r>
                      <a:r>
                        <a:rPr lang="ko-KR" altLang="en-US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패배한 플레이어에게는 </a:t>
                      </a:r>
                      <a:r>
                        <a:rPr lang="ko-KR" altLang="en-US" sz="16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덱을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수정할 우선권을 부여하여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카운터 전략을 유도한다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sz="16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26896"/>
                  </a:ext>
                </a:extLst>
              </a:tr>
              <a:tr h="4859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3</a:t>
                      </a:r>
                      <a:r>
                        <a:rPr lang="ko-KR" altLang="en-US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승률이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5:5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로 수렴하거나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양측의 </a:t>
                      </a:r>
                      <a:r>
                        <a:rPr lang="ko-KR" altLang="en-US" sz="16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덱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구성이 더 이상 변하지 않을 때까지 진행한다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sz="16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31723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905EA27-C400-EC03-CF9A-834AC594BE92}"/>
              </a:ext>
            </a:extLst>
          </p:cNvPr>
          <p:cNvSpPr txBox="1"/>
          <p:nvPr/>
        </p:nvSpPr>
        <p:spPr>
          <a:xfrm>
            <a:off x="2541982" y="2178510"/>
            <a:ext cx="7108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 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A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의 구조를 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1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분간 공개하고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각자 비공개로 승리를 위한 초기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덱을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구성하게 한다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승리하기 위한 최적의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구성과 플레이를 할 것을 강력히 주문한다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B5EC3068-A374-45D5-03DA-860964A05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395380"/>
              </p:ext>
            </p:extLst>
          </p:nvPr>
        </p:nvGraphicFramePr>
        <p:xfrm>
          <a:off x="1000371" y="5069714"/>
          <a:ext cx="10267950" cy="14930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5788">
                  <a:extLst>
                    <a:ext uri="{9D8B030D-6E8A-4147-A177-3AD203B41FA5}">
                      <a16:colId xmlns:a16="http://schemas.microsoft.com/office/drawing/2014/main" val="2602081494"/>
                    </a:ext>
                  </a:extLst>
                </a:gridCol>
                <a:gridCol w="8142162">
                  <a:extLst>
                    <a:ext uri="{9D8B030D-6E8A-4147-A177-3AD203B41FA5}">
                      <a16:colId xmlns:a16="http://schemas.microsoft.com/office/drawing/2014/main" val="3743778166"/>
                    </a:ext>
                  </a:extLst>
                </a:gridCol>
              </a:tblGrid>
              <a:tr h="5211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1</a:t>
                      </a:r>
                      <a:r>
                        <a:rPr lang="ko-KR" altLang="en-US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예고 없이 전장을 맵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B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로 교체한다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sz="16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835354"/>
                  </a:ext>
                </a:extLst>
              </a:tr>
              <a:tr h="4859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2</a:t>
                      </a:r>
                      <a:r>
                        <a:rPr lang="ko-KR" altLang="en-US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첫 판은 맵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A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에서 사용했던 최종 </a:t>
                      </a:r>
                      <a:r>
                        <a:rPr lang="ko-KR" altLang="en-US" sz="16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덱을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그대로 사용하도록 권장한다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sz="16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26896"/>
                  </a:ext>
                </a:extLst>
              </a:tr>
              <a:tr h="4859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3</a:t>
                      </a:r>
                      <a:r>
                        <a:rPr lang="ko-KR" altLang="en-US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단계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이후 연속 대전을 통해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</a:t>
                      </a:r>
                      <a:r>
                        <a:rPr lang="ko-KR" altLang="en-US" sz="16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덱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구성이 맵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B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의 구조에 맞춰 어떻게 변화하는지 관찰한다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sz="16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31723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DB5C1C8-CEDA-55D0-79C0-24C6F7F83B01}"/>
              </a:ext>
            </a:extLst>
          </p:cNvPr>
          <p:cNvSpPr txBox="1"/>
          <p:nvPr/>
        </p:nvSpPr>
        <p:spPr>
          <a:xfrm>
            <a:off x="5692683" y="2693924"/>
            <a:ext cx="806631" cy="426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맵 </a:t>
            </a:r>
            <a:r>
              <a:rPr lang="en-US" altLang="ko-KR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A&gt;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EC9675-ACAA-4D6D-39E2-1BC291233221}"/>
              </a:ext>
            </a:extLst>
          </p:cNvPr>
          <p:cNvSpPr txBox="1"/>
          <p:nvPr/>
        </p:nvSpPr>
        <p:spPr>
          <a:xfrm>
            <a:off x="5710042" y="4648927"/>
            <a:ext cx="801823" cy="426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&lt;</a:t>
            </a: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맵 </a:t>
            </a:r>
            <a:r>
              <a:rPr lang="en-US" altLang="ko-KR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B&gt;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081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0B441-2861-787A-C38C-03A08AFA8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C7D0EF-A420-65E4-A044-36DCA30764CA}"/>
              </a:ext>
            </a:extLst>
          </p:cNvPr>
          <p:cNvSpPr txBox="1"/>
          <p:nvPr/>
        </p:nvSpPr>
        <p:spPr>
          <a:xfrm>
            <a:off x="5436203" y="196334"/>
            <a:ext cx="1319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분석 계획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7CDD7-E688-FD6E-06C1-6A69EDAA0DB0}"/>
              </a:ext>
            </a:extLst>
          </p:cNvPr>
          <p:cNvSpPr txBox="1"/>
          <p:nvPr/>
        </p:nvSpPr>
        <p:spPr>
          <a:xfrm>
            <a:off x="4935279" y="657999"/>
            <a:ext cx="2321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데이터 기록</a:t>
            </a:r>
            <a:r>
              <a:rPr lang="en-US" altLang="ko-KR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 </a:t>
            </a:r>
            <a:r>
              <a:rPr lang="ko-KR" altLang="en-US" sz="1600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및 </a:t>
            </a:r>
            <a:r>
              <a:rPr lang="ko-KR" altLang="en-US" sz="1600" b="1" dirty="0">
                <a:latin typeface="나눔스퀘어OTF Light" panose="020B0600000101010101" pitchFamily="34" charset="-127"/>
                <a:ea typeface="나눔스퀘어OTF Light" panose="020B0600000101010101" pitchFamily="34" charset="-127"/>
              </a:rPr>
              <a:t>가설 검증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BF80B0-0FD9-F88B-3518-3755350AE956}"/>
              </a:ext>
            </a:extLst>
          </p:cNvPr>
          <p:cNvSpPr txBox="1"/>
          <p:nvPr/>
        </p:nvSpPr>
        <p:spPr>
          <a:xfrm>
            <a:off x="3965455" y="1119664"/>
            <a:ext cx="4261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승패 기록을 넘어 선택과 판단의 이유에 주목한다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en-US" altLang="ko-KR" sz="14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681ECD3-6E08-6253-F7EC-A31E6152B0DD}"/>
              </a:ext>
            </a:extLst>
          </p:cNvPr>
          <p:cNvSpPr/>
          <p:nvPr/>
        </p:nvSpPr>
        <p:spPr>
          <a:xfrm>
            <a:off x="124995" y="2081544"/>
            <a:ext cx="11942008" cy="2004090"/>
          </a:xfrm>
          <a:prstGeom prst="roundRect">
            <a:avLst>
              <a:gd name="adj" fmla="val 258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17B2AAC-85A3-ACAB-3BDC-BFE12A96A339}"/>
              </a:ext>
            </a:extLst>
          </p:cNvPr>
          <p:cNvSpPr/>
          <p:nvPr/>
        </p:nvSpPr>
        <p:spPr>
          <a:xfrm>
            <a:off x="5088101" y="1632585"/>
            <a:ext cx="2092490" cy="448958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기록 데이터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5A14A92F-F9A7-B74D-D23D-FDA7525C1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85171"/>
              </p:ext>
            </p:extLst>
          </p:nvPr>
        </p:nvGraphicFramePr>
        <p:xfrm>
          <a:off x="857250" y="4753682"/>
          <a:ext cx="10267950" cy="11944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1095">
                  <a:extLst>
                    <a:ext uri="{9D8B030D-6E8A-4147-A177-3AD203B41FA5}">
                      <a16:colId xmlns:a16="http://schemas.microsoft.com/office/drawing/2014/main" val="2602081494"/>
                    </a:ext>
                  </a:extLst>
                </a:gridCol>
                <a:gridCol w="8526855">
                  <a:extLst>
                    <a:ext uri="{9D8B030D-6E8A-4147-A177-3AD203B41FA5}">
                      <a16:colId xmlns:a16="http://schemas.microsoft.com/office/drawing/2014/main" val="3743778166"/>
                    </a:ext>
                  </a:extLst>
                </a:gridCol>
              </a:tblGrid>
              <a:tr h="618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가설 </a:t>
                      </a:r>
                      <a:r>
                        <a:rPr lang="en-US" altLang="ko-KR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직선 위주의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&lt;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맵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A&gt;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에서는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'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이동 거리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4 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이상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'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의 무기 구성 비율이 점진적으로 증가할 것이다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sz="16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835354"/>
                  </a:ext>
                </a:extLst>
              </a:tr>
              <a:tr h="5763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가설 </a:t>
                      </a:r>
                      <a:r>
                        <a:rPr lang="en-US" altLang="ko-KR" sz="1800" dirty="0">
                          <a:latin typeface="나눔스퀘어OTF_ac Bold" panose="020B0600000101010101" pitchFamily="34" charset="-127"/>
                          <a:ea typeface="나눔스퀘어OTF_ac Bold" panose="020B0600000101010101" pitchFamily="34" charset="-127"/>
                        </a:rPr>
                        <a:t>2</a:t>
                      </a:r>
                      <a:endParaRPr lang="ko-KR" altLang="en-US" sz="1800" dirty="0">
                        <a:latin typeface="나눔스퀘어OTF_ac Bold" panose="020B0600000101010101" pitchFamily="34" charset="-127"/>
                        <a:ea typeface="나눔스퀘어OTF_ac Bold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코너 위주의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&lt;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맵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B&gt;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로 전환되면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, '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이동 거리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3 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이하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' 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및 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'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범위 공격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’ 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무기 위주로 </a:t>
                      </a:r>
                      <a:r>
                        <a:rPr lang="ko-KR" altLang="en-US" sz="1600" dirty="0" err="1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덱이</a:t>
                      </a:r>
                      <a:r>
                        <a:rPr lang="ko-KR" altLang="en-US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 재편될 것이다</a:t>
                      </a:r>
                      <a:r>
                        <a:rPr lang="en-US" altLang="ko-KR" sz="1600" dirty="0">
                          <a:latin typeface="나눔스퀘어OTF" panose="020B0600000101010101" pitchFamily="34" charset="-127"/>
                          <a:ea typeface="나눔스퀘어OTF" panose="020B0600000101010101" pitchFamily="34" charset="-127"/>
                        </a:rPr>
                        <a:t>.</a:t>
                      </a:r>
                      <a:endParaRPr lang="ko-KR" altLang="en-US" sz="1600" dirty="0">
                        <a:latin typeface="나눔스퀘어OTF" panose="020B0600000101010101" pitchFamily="34" charset="-127"/>
                        <a:ea typeface="나눔스퀘어OTF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142689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F799261-B46E-88E1-1179-8E0EEA6D6750}"/>
              </a:ext>
            </a:extLst>
          </p:cNvPr>
          <p:cNvSpPr txBox="1"/>
          <p:nvPr/>
        </p:nvSpPr>
        <p:spPr>
          <a:xfrm>
            <a:off x="340937" y="2653574"/>
            <a:ext cx="53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u="sng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 종류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u="sng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선</a:t>
            </a:r>
            <a:r>
              <a:rPr lang="en-US" altLang="ko-KR" sz="1600" u="sng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/</a:t>
            </a:r>
            <a:r>
              <a:rPr lang="ko-KR" altLang="en-US" sz="1600" u="sng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후공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총 턴 수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승패 결과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u="sng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  <a:r>
              <a:rPr lang="ko-KR" altLang="en-US" sz="1600" u="sng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턴 별 사용 무기</a:t>
            </a:r>
            <a:endParaRPr lang="en-US" altLang="ko-KR" sz="1600" u="sng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42F16B-6E6E-D371-7E3B-CC99537C62D0}"/>
              </a:ext>
            </a:extLst>
          </p:cNvPr>
          <p:cNvSpPr txBox="1"/>
          <p:nvPr/>
        </p:nvSpPr>
        <p:spPr>
          <a:xfrm>
            <a:off x="2351989" y="2171407"/>
            <a:ext cx="1303563" cy="426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정량적 데이터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90F05-8F37-5523-21EF-0831E6F228E6}"/>
              </a:ext>
            </a:extLst>
          </p:cNvPr>
          <p:cNvSpPr txBox="1"/>
          <p:nvPr/>
        </p:nvSpPr>
        <p:spPr>
          <a:xfrm>
            <a:off x="340937" y="3205142"/>
            <a:ext cx="53256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사용 무기의 평균 이동 거리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 </a:t>
            </a:r>
          </a:p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각 무기의 채택 빈도 및 사용 횟수</a:t>
            </a:r>
            <a:endParaRPr lang="en-US" altLang="ko-KR" sz="16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ct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...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F6B2693-7B08-909A-D70F-4E120816265B}"/>
              </a:ext>
            </a:extLst>
          </p:cNvPr>
          <p:cNvCxnSpPr>
            <a:endCxn id="4" idx="0"/>
          </p:cNvCxnSpPr>
          <p:nvPr/>
        </p:nvCxnSpPr>
        <p:spPr>
          <a:xfrm>
            <a:off x="3003771" y="3009213"/>
            <a:ext cx="0" cy="1959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E83A479-502A-5ADE-D9A2-405F6159D077}"/>
              </a:ext>
            </a:extLst>
          </p:cNvPr>
          <p:cNvSpPr txBox="1"/>
          <p:nvPr/>
        </p:nvSpPr>
        <p:spPr>
          <a:xfrm>
            <a:off x="6447989" y="2652944"/>
            <a:ext cx="5325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매 판 종료 후 양측 플레이어에게 묻는다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58A35-653E-7C68-B20C-DB091C473386}"/>
              </a:ext>
            </a:extLst>
          </p:cNvPr>
          <p:cNvSpPr txBox="1"/>
          <p:nvPr/>
        </p:nvSpPr>
        <p:spPr>
          <a:xfrm>
            <a:off x="8459041" y="2170777"/>
            <a:ext cx="1303563" cy="426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정성적 데이터</a:t>
            </a:r>
            <a:endParaRPr lang="ko-KR" altLang="en-US" sz="16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BA6C9-7274-C712-9AB6-42265DF576F0}"/>
              </a:ext>
            </a:extLst>
          </p:cNvPr>
          <p:cNvSpPr txBox="1"/>
          <p:nvPr/>
        </p:nvSpPr>
        <p:spPr>
          <a:xfrm>
            <a:off x="6200362" y="2999957"/>
            <a:ext cx="58666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“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왜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덱을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이동 거리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/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무기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바꿨는가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 때문인가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,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상대 때문인가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?”</a:t>
            </a:r>
          </a:p>
          <a:p>
            <a:pPr algn="ct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(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 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B 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전환 직후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) "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아까 쓰던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덱이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이 </a:t>
            </a:r>
            <a:r>
              <a:rPr lang="ko-KR" altLang="en-US" sz="1600" dirty="0" err="1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맵에서도</a:t>
            </a: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 통하는가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 </a:t>
            </a:r>
          </a:p>
          <a:p>
            <a:pPr algn="ct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안 통한다면 그 이유는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?</a:t>
            </a:r>
          </a:p>
          <a:p>
            <a:pPr algn="ct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CD70E6-D73C-8B3B-9364-7C71F1507730}"/>
              </a:ext>
            </a:extLst>
          </p:cNvPr>
          <p:cNvSpPr txBox="1"/>
          <p:nvPr/>
        </p:nvSpPr>
        <p:spPr>
          <a:xfrm>
            <a:off x="4267796" y="4186950"/>
            <a:ext cx="4209807" cy="426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수집된 데이터를 바탕으로 다음 가설을 검증한다</a:t>
            </a:r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.</a:t>
            </a:r>
            <a:endParaRPr lang="ko-KR" altLang="en-US" sz="16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7490C6-BD57-C5DF-9F1B-ED0C14A14070}"/>
              </a:ext>
            </a:extLst>
          </p:cNvPr>
          <p:cNvSpPr txBox="1"/>
          <p:nvPr/>
        </p:nvSpPr>
        <p:spPr>
          <a:xfrm>
            <a:off x="649690" y="6070612"/>
            <a:ext cx="11293476" cy="509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위 경향성이 뚜렷하게 관찰될 경우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, 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본 실험에서 </a:t>
            </a:r>
            <a:r>
              <a:rPr lang="ko-KR" altLang="en-US" sz="2000" dirty="0" err="1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덱을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고정하지 않고 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'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자유 </a:t>
            </a:r>
            <a:r>
              <a:rPr lang="ko-KR" altLang="en-US" sz="2000" dirty="0" err="1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덱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 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+ 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승리 인센티브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' </a:t>
            </a:r>
            <a:r>
              <a:rPr lang="ko-KR" altLang="en-US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방식을 채택한다</a:t>
            </a:r>
            <a:r>
              <a:rPr lang="en-US" altLang="ko-KR" sz="2000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. </a:t>
            </a:r>
            <a:endParaRPr lang="ko-KR" altLang="en-US" sz="2000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E1E856A7-2BC7-B410-7923-B33635527FBF}"/>
              </a:ext>
            </a:extLst>
          </p:cNvPr>
          <p:cNvSpPr/>
          <p:nvPr/>
        </p:nvSpPr>
        <p:spPr>
          <a:xfrm>
            <a:off x="340937" y="6231187"/>
            <a:ext cx="384827" cy="30777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26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1B8C6BA-F5C0-0D8E-77E6-DF7DED90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293C975F-6BDD-1B08-BE25-13F306E378D2}"/>
              </a:ext>
            </a:extLst>
          </p:cNvPr>
          <p:cNvGrpSpPr/>
          <p:nvPr/>
        </p:nvGrpSpPr>
        <p:grpSpPr>
          <a:xfrm>
            <a:off x="4746000" y="2079000"/>
            <a:ext cx="2700000" cy="2700000"/>
            <a:chOff x="5035342" y="1230642"/>
            <a:chExt cx="2700000" cy="27000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B8D1E65-11F1-D712-2855-B2F25956BF05}"/>
                </a:ext>
              </a:extLst>
            </p:cNvPr>
            <p:cNvSpPr/>
            <p:nvPr/>
          </p:nvSpPr>
          <p:spPr>
            <a:xfrm>
              <a:off x="5035342" y="177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5754C67-2F93-B20E-B59C-1B3EF22FDAAD}"/>
                </a:ext>
              </a:extLst>
            </p:cNvPr>
            <p:cNvSpPr/>
            <p:nvPr/>
          </p:nvSpPr>
          <p:spPr>
            <a:xfrm>
              <a:off x="5035342" y="123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ACE69B4-3C92-26B2-8322-FFED90DC2716}"/>
                </a:ext>
              </a:extLst>
            </p:cNvPr>
            <p:cNvSpPr/>
            <p:nvPr/>
          </p:nvSpPr>
          <p:spPr>
            <a:xfrm>
              <a:off x="6655342" y="177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2315AA6-B89F-F194-3D67-CC4DABED079A}"/>
                </a:ext>
              </a:extLst>
            </p:cNvPr>
            <p:cNvSpPr/>
            <p:nvPr/>
          </p:nvSpPr>
          <p:spPr>
            <a:xfrm>
              <a:off x="6115342" y="177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8DF9E50-2408-F59C-0705-765957235BD7}"/>
                </a:ext>
              </a:extLst>
            </p:cNvPr>
            <p:cNvSpPr/>
            <p:nvPr/>
          </p:nvSpPr>
          <p:spPr>
            <a:xfrm>
              <a:off x="6115342" y="123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0D94165-CE73-8982-CD83-8496CCBB5597}"/>
                </a:ext>
              </a:extLst>
            </p:cNvPr>
            <p:cNvSpPr/>
            <p:nvPr/>
          </p:nvSpPr>
          <p:spPr>
            <a:xfrm>
              <a:off x="5575342" y="123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9D60CAB-EBAB-EB89-A07D-4E57352E1509}"/>
                </a:ext>
              </a:extLst>
            </p:cNvPr>
            <p:cNvSpPr/>
            <p:nvPr/>
          </p:nvSpPr>
          <p:spPr>
            <a:xfrm>
              <a:off x="6655342" y="231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38ACF38-6787-F0BC-EB49-89440AE72F75}"/>
                </a:ext>
              </a:extLst>
            </p:cNvPr>
            <p:cNvSpPr/>
            <p:nvPr/>
          </p:nvSpPr>
          <p:spPr>
            <a:xfrm>
              <a:off x="5575342" y="285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A149518-09CC-9F59-0C88-4433756DD9AA}"/>
                </a:ext>
              </a:extLst>
            </p:cNvPr>
            <p:cNvSpPr/>
            <p:nvPr/>
          </p:nvSpPr>
          <p:spPr>
            <a:xfrm>
              <a:off x="5035342" y="285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CA890D8-299A-A4F7-D867-E1C668783221}"/>
                </a:ext>
              </a:extLst>
            </p:cNvPr>
            <p:cNvSpPr/>
            <p:nvPr/>
          </p:nvSpPr>
          <p:spPr>
            <a:xfrm>
              <a:off x="5035342" y="231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C19BAF9-D6B0-4B90-8AA9-063720F94A6C}"/>
                </a:ext>
              </a:extLst>
            </p:cNvPr>
            <p:cNvSpPr/>
            <p:nvPr/>
          </p:nvSpPr>
          <p:spPr>
            <a:xfrm>
              <a:off x="5575342" y="339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67266F8-6863-85DF-70DE-ACD6D5A90952}"/>
                </a:ext>
              </a:extLst>
            </p:cNvPr>
            <p:cNvSpPr/>
            <p:nvPr/>
          </p:nvSpPr>
          <p:spPr>
            <a:xfrm>
              <a:off x="6655342" y="339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946CF22-E7AA-D44E-7DD8-43E30AD08949}"/>
                </a:ext>
              </a:extLst>
            </p:cNvPr>
            <p:cNvSpPr/>
            <p:nvPr/>
          </p:nvSpPr>
          <p:spPr>
            <a:xfrm>
              <a:off x="6115342" y="339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DB5C31E-341A-DA2F-399C-6BEF8018FD2F}"/>
                </a:ext>
              </a:extLst>
            </p:cNvPr>
            <p:cNvSpPr/>
            <p:nvPr/>
          </p:nvSpPr>
          <p:spPr>
            <a:xfrm>
              <a:off x="7195342" y="231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ED3C2B1C-D4EE-5D5D-F562-2C5256148B34}"/>
                </a:ext>
              </a:extLst>
            </p:cNvPr>
            <p:cNvSpPr/>
            <p:nvPr/>
          </p:nvSpPr>
          <p:spPr>
            <a:xfrm>
              <a:off x="7195342" y="339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7314830-02D7-074C-5914-67243FD89882}"/>
                </a:ext>
              </a:extLst>
            </p:cNvPr>
            <p:cNvSpPr/>
            <p:nvPr/>
          </p:nvSpPr>
          <p:spPr>
            <a:xfrm>
              <a:off x="7195342" y="2850642"/>
              <a:ext cx="540000" cy="54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544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595</Words>
  <Application>Microsoft Office PowerPoint</Application>
  <PresentationFormat>와이드스크린</PresentationFormat>
  <Paragraphs>84</Paragraphs>
  <Slides>6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나눔스퀘어OTF_ac ExtraBold</vt:lpstr>
      <vt:lpstr>Arial</vt:lpstr>
      <vt:lpstr>나눔스퀘어OTF</vt:lpstr>
      <vt:lpstr>맑은 고딕</vt:lpstr>
      <vt:lpstr>나눔스퀘어OTF ExtraBold</vt:lpstr>
      <vt:lpstr>나눔스퀘어OTF_ac Bold</vt:lpstr>
      <vt:lpstr>나눔스퀘어OTF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애플 움냠냐</dc:creator>
  <cp:lastModifiedBy>애플 움냠냐</cp:lastModifiedBy>
  <cp:revision>3</cp:revision>
  <dcterms:created xsi:type="dcterms:W3CDTF">2026-01-06T12:22:11Z</dcterms:created>
  <dcterms:modified xsi:type="dcterms:W3CDTF">2026-01-06T13:55:46Z</dcterms:modified>
</cp:coreProperties>
</file>