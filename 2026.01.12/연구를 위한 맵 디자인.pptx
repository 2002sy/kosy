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92" r:id="rId3"/>
    <p:sldId id="290" r:id="rId4"/>
    <p:sldId id="294" r:id="rId5"/>
    <p:sldId id="295" r:id="rId6"/>
    <p:sldId id="296" r:id="rId7"/>
    <p:sldId id="299" r:id="rId8"/>
    <p:sldId id="297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269" r:id="rId18"/>
    <p:sldId id="291" r:id="rId19"/>
    <p:sldId id="293" r:id="rId20"/>
  </p:sldIdLst>
  <p:sldSz cx="12192000" cy="6858000"/>
  <p:notesSz cx="6858000" cy="9144000"/>
  <p:embeddedFontLst>
    <p:embeddedFont>
      <p:font typeface="나눔스퀘어OTF" panose="020B0600000101010101" pitchFamily="34" charset="-127"/>
      <p:regular r:id="rId22"/>
    </p:embeddedFont>
    <p:embeddedFont>
      <p:font typeface="나눔스퀘어OTF ExtraBold" panose="020B0600000101010101" pitchFamily="34" charset="-127"/>
      <p:bold r:id="rId23"/>
    </p:embeddedFont>
    <p:embeddedFont>
      <p:font typeface="나눔스퀘어OTF Light" panose="020B0600000101010101" pitchFamily="34" charset="-127"/>
      <p:regular r:id="rId24"/>
    </p:embeddedFont>
    <p:embeddedFont>
      <p:font typeface="나눔스퀘어OTF_ac Bold" panose="020B0600000101010101" pitchFamily="34" charset="-127"/>
      <p:bold r:id="rId25"/>
    </p:embeddedFont>
    <p:embeddedFont>
      <p:font typeface="나눔스퀘어OTF_ac ExtraBold" panose="020B0600000101010101" pitchFamily="34" charset="-127"/>
      <p:bold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3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57879-67E0-421F-B5B9-CE166CF27115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5D6BF3-8F29-4352-B0B8-C80F90491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237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D6BF3-8F29-4352-B0B8-C80F9049165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260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0B653-FC61-16F5-4979-864FEB38B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E5E956-AE38-CD7A-2867-3F15C9866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DC71D-814D-179D-8B67-BCEB6BB14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A3537C-94E0-A748-B4AE-658DDBFA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A858CD-79FE-F5E4-2704-9F72B922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78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240D8-27CB-3F08-4E38-2A54A87BD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3725D5-AAD0-DD29-18B2-B55D45DD1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131AF4-A025-5DC4-4691-C519D1086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D34D5C-65BC-3EE6-1523-9F7554AE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439DC-1ED4-5260-3E6C-1E5B70DC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646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2652D-FC63-DBCF-3E35-B9264C99E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87FE2-8BE7-E909-FDB6-EDBAF3348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8FC849-30E1-7863-CCC9-836BBD6AF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089674-A184-B8B6-B1D1-96C8355F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DA91A3-C113-8A90-0EB4-6E3DD877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68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6194C-3BA5-6702-BAC4-65FE1746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66FC1D-FB36-E55D-D13F-9EC71501B8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205F4A-F71E-6696-EF42-EAD68732A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05EA9A-6830-8032-CEA5-B54D2A35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B817D6-7DCE-EC60-4FE7-009F5A86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2118FD-242D-0F89-A210-FEA01255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6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D99DB-31ED-641B-8CB8-E6A2D753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9DA4AB-E02F-D90B-C4B9-5AAF20A27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17B880-49FF-BEE6-9B87-EB41D5D5B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34298F-97DB-8662-821C-4A922F94C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BAE530-800A-A687-0850-0BBA90B25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9048BD-2368-BD54-DCDB-ACFFF7910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B50C7A1-3740-8B84-B12A-B7EE2A9D7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5E5A26-070E-9FE1-4793-69D54664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45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8C305-A77E-809C-268E-E049AD555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3E0687-0B94-01DC-64A4-21BEEF55A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D5D8E6-12CC-0F2B-F121-E50CBF24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8C5301-D53D-AA86-7822-8B69A1273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83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BF56A1-F570-0CD0-ABE1-CE8A16208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7E8456-CF79-B210-65D7-C77A62E7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89B147-D2E9-EB52-F548-1222ECACF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578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ECCDA-343E-C524-2C48-97C30CDB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DFD01-FC23-7FD6-FDF4-8ABB375D1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517206-3184-17C9-9708-824DEFCDE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191AC2-B45E-8462-29F4-86F389CFD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CC7966-E4F2-3D38-7E8D-29A8F129F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EE9B53-B6A8-B9AE-FFF4-3E56B012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63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D0532-EAE5-B55B-4B3C-F44DDF2D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AEA873-4A8F-B0A8-941E-DE5FD6D99D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EB7E84-DACC-0121-2B6E-D7E710EB2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92A27B-1323-5849-D673-5142E4375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40ECF3-F0D8-6804-8FCA-A212D804E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8A1A4B-86A4-F71C-B523-A2EC3B7C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6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7662E-ABAC-BE6F-BFDF-FF428C2A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9F9410-B7ED-EB34-994C-10DF14756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F8FD0-AF26-14EA-07F4-C5A842F9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E0D5A0-9D17-8460-668D-0B1A4CBC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258A3-6FF0-F552-F898-0DA16EB7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29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BC4210-4053-4FA0-17A7-F57836D2F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C88DD0-64F5-4302-1CB0-B7CD4EA72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298DA-1DCF-B134-ADD3-81C4C309E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9E6840-2A55-4A98-EFB2-0A3A4A99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E8210-E6FB-CA3A-D290-2E7B2F2C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642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81F098-9C7B-507F-B6F2-5BB60274D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C249DF-0598-A86B-8586-51229AD62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BC6A3-E4D4-55D8-7673-35ED3A0C1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F23ED4-2577-609A-1079-20AE21A7A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B2545B-012A-6FC7-FD58-01C986ED3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60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E3123A-6DF1-F88A-2BFC-9AD42149E51E}"/>
              </a:ext>
            </a:extLst>
          </p:cNvPr>
          <p:cNvSpPr txBox="1"/>
          <p:nvPr/>
        </p:nvSpPr>
        <p:spPr>
          <a:xfrm>
            <a:off x="10639672" y="6149400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게임공학과</a:t>
            </a:r>
            <a:endParaRPr lang="en-US" altLang="ko-KR" sz="16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r"/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2021180002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943950-9233-7EA6-0D16-544D5961A1C1}"/>
              </a:ext>
            </a:extLst>
          </p:cNvPr>
          <p:cNvSpPr txBox="1"/>
          <p:nvPr/>
        </p:nvSpPr>
        <p:spPr>
          <a:xfrm>
            <a:off x="10674077" y="5780068"/>
            <a:ext cx="1350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고서연</a:t>
            </a:r>
            <a:endParaRPr lang="en-US" altLang="ko-KR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8A856-4025-AAD1-5D23-0B682F5F41D7}"/>
              </a:ext>
            </a:extLst>
          </p:cNvPr>
          <p:cNvSpPr txBox="1"/>
          <p:nvPr/>
        </p:nvSpPr>
        <p:spPr>
          <a:xfrm>
            <a:off x="5554826" y="139184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졸업 논문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8529774-E12D-2EBF-4440-3B5E13CEF981}"/>
              </a:ext>
            </a:extLst>
          </p:cNvPr>
          <p:cNvGrpSpPr/>
          <p:nvPr/>
        </p:nvGrpSpPr>
        <p:grpSpPr>
          <a:xfrm>
            <a:off x="2995497" y="1659284"/>
            <a:ext cx="6201003" cy="1277273"/>
            <a:chOff x="3405572" y="1381728"/>
            <a:chExt cx="6201003" cy="127727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B3E688-BAA4-CE86-C61A-AD6F09C231C2}"/>
                </a:ext>
              </a:extLst>
            </p:cNvPr>
            <p:cNvSpPr txBox="1"/>
            <p:nvPr/>
          </p:nvSpPr>
          <p:spPr>
            <a:xfrm>
              <a:off x="3405572" y="1381728"/>
              <a:ext cx="620100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단방향 순환형 </a:t>
              </a:r>
              <a:r>
                <a:rPr lang="en-US" altLang="ko-KR" sz="2400" dirty="0" err="1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1vs1</a:t>
              </a:r>
              <a:r>
                <a:rPr lang="en-US" altLang="ko-KR" sz="2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</a:t>
              </a:r>
              <a:r>
                <a:rPr lang="ko-KR" altLang="en-US" sz="2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전투 게임에서 </a:t>
              </a:r>
              <a:endParaRPr lang="en-US" altLang="ko-KR" sz="24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algn="ctr"/>
              <a:r>
                <a:rPr lang="ko-KR" altLang="en-US" sz="2400" dirty="0">
                  <a:solidFill>
                    <a:srgbClr val="C00000"/>
                  </a:solidFill>
                  <a:latin typeface="나눔스퀘어OTF_ac Bold" panose="020B0600000101010101" pitchFamily="34" charset="-127"/>
                  <a:ea typeface="나눔스퀘어OTF_ac Bold" panose="020B0600000101010101" pitchFamily="34" charset="-127"/>
                </a:rPr>
                <a:t>맵 구조</a:t>
              </a:r>
              <a:r>
                <a:rPr lang="ko-KR" altLang="en-US" sz="2400" dirty="0">
                  <a:solidFill>
                    <a:srgbClr val="C00000"/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 </a:t>
              </a:r>
              <a:r>
                <a:rPr lang="ko-KR" altLang="en-US" sz="2400" dirty="0">
                  <a:solidFill>
                    <a:srgbClr val="C00000"/>
                  </a:solidFill>
                  <a:latin typeface="나눔스퀘어OTF_ac Bold" panose="020B0600000101010101" pitchFamily="34" charset="-127"/>
                  <a:ea typeface="나눔스퀘어OTF_ac Bold" panose="020B0600000101010101" pitchFamily="34" charset="-127"/>
                </a:rPr>
                <a:t>전투 리듬 사이클</a:t>
              </a:r>
              <a:r>
                <a:rPr lang="ko-KR" altLang="en-US" sz="2400" dirty="0">
                  <a:solidFill>
                    <a:srgbClr val="C00000"/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에 미치는 영향</a:t>
              </a:r>
              <a:endParaRPr lang="en-US" altLang="ko-KR" sz="2400" dirty="0">
                <a:solidFill>
                  <a:srgbClr val="C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5FD0A6-3670-7B25-8176-5501A7B6E8F0}"/>
                </a:ext>
              </a:extLst>
            </p:cNvPr>
            <p:cNvSpPr txBox="1"/>
            <p:nvPr/>
          </p:nvSpPr>
          <p:spPr>
            <a:xfrm>
              <a:off x="4464662" y="2289669"/>
              <a:ext cx="40828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latin typeface="나눔스퀘어OTF Light" panose="020B0600000101010101" pitchFamily="34" charset="-127"/>
                  <a:ea typeface="나눔스퀘어OTF Light" panose="020B0600000101010101" pitchFamily="34" charset="-127"/>
                </a:rPr>
                <a:t>— </a:t>
              </a:r>
              <a:r>
                <a:rPr lang="ko-KR" altLang="en-US" i="1" dirty="0" err="1">
                  <a:solidFill>
                    <a:srgbClr val="C00000"/>
                  </a:solidFill>
                  <a:latin typeface="나눔스퀘어OTF Light" panose="020B0600000101010101" pitchFamily="34" charset="-127"/>
                  <a:ea typeface="나눔스퀘어OTF Light" panose="020B0600000101010101" pitchFamily="34" charset="-127"/>
                </a:rPr>
                <a:t>루덴스</a:t>
              </a:r>
              <a:r>
                <a:rPr lang="ko-KR" altLang="en-US" dirty="0" err="1">
                  <a:latin typeface="나눔스퀘어OTF Light" panose="020B0600000101010101" pitchFamily="34" charset="-127"/>
                  <a:ea typeface="나눔스퀘어OTF Light" panose="020B0600000101010101" pitchFamily="34" charset="-127"/>
                </a:rPr>
                <a:t>를</a:t>
              </a:r>
              <a:r>
                <a:rPr lang="ko-KR" altLang="en-US" dirty="0">
                  <a:latin typeface="나눔스퀘어OTF Light" panose="020B0600000101010101" pitchFamily="34" charset="-127"/>
                  <a:ea typeface="나눔스퀘어OTF Light" panose="020B0600000101010101" pitchFamily="34" charset="-127"/>
                </a:rPr>
                <a:t> 중심으로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F882A78-0C13-27DD-8CE2-036F518CCFBC}"/>
              </a:ext>
            </a:extLst>
          </p:cNvPr>
          <p:cNvSpPr txBox="1"/>
          <p:nvPr/>
        </p:nvSpPr>
        <p:spPr>
          <a:xfrm>
            <a:off x="5554826" y="636484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연구 자료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486B3-C9C5-10F1-D43E-B2E9395E0DBD}"/>
              </a:ext>
            </a:extLst>
          </p:cNvPr>
          <p:cNvSpPr txBox="1"/>
          <p:nvPr/>
        </p:nvSpPr>
        <p:spPr>
          <a:xfrm>
            <a:off x="4807826" y="3013501"/>
            <a:ext cx="25763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맵 디자인</a:t>
            </a:r>
          </a:p>
        </p:txBody>
      </p:sp>
    </p:spTree>
    <p:extLst>
      <p:ext uri="{BB962C8B-B14F-4D97-AF65-F5344CB8AC3E}">
        <p14:creationId xmlns:p14="http://schemas.microsoft.com/office/powerpoint/2010/main" val="139813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064DE-334C-1876-0A34-E14F54BA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4748B5F-185F-CB37-2664-15557E2AC45F}"/>
              </a:ext>
            </a:extLst>
          </p:cNvPr>
          <p:cNvSpPr/>
          <p:nvPr/>
        </p:nvSpPr>
        <p:spPr>
          <a:xfrm>
            <a:off x="124995" y="2432901"/>
            <a:ext cx="11942008" cy="4303902"/>
          </a:xfrm>
          <a:prstGeom prst="roundRect">
            <a:avLst>
              <a:gd name="adj" fmla="val 258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1B8D7F-6D75-0FDD-8E3D-7F7230F0A8D4}"/>
              </a:ext>
            </a:extLst>
          </p:cNvPr>
          <p:cNvSpPr txBox="1"/>
          <p:nvPr/>
        </p:nvSpPr>
        <p:spPr>
          <a:xfrm>
            <a:off x="4651534" y="196334"/>
            <a:ext cx="2888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문서 목적 및 설계 원칙</a:t>
            </a:r>
            <a:endParaRPr lang="ko-KR" altLang="en-US" sz="24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46373-6F4B-F0A9-EB34-00396B169933}"/>
              </a:ext>
            </a:extLst>
          </p:cNvPr>
          <p:cNvSpPr txBox="1"/>
          <p:nvPr/>
        </p:nvSpPr>
        <p:spPr>
          <a:xfrm>
            <a:off x="3567110" y="657999"/>
            <a:ext cx="50577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실험에 사용될 </a:t>
            </a:r>
            <a:r>
              <a:rPr lang="ko-KR" altLang="en-US" sz="16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보드판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형식의 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대전 </a:t>
            </a:r>
            <a:r>
              <a:rPr lang="ko-KR" altLang="en-US" sz="16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맵을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설계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하기 위한 문서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023A3-F91F-B4FA-F017-CFDBC968762A}"/>
              </a:ext>
            </a:extLst>
          </p:cNvPr>
          <p:cNvSpPr txBox="1"/>
          <p:nvPr/>
        </p:nvSpPr>
        <p:spPr>
          <a:xfrm>
            <a:off x="2535570" y="1119664"/>
            <a:ext cx="7120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본 연구의 목적은 맵 구조가 전투 리듬에 미치는 영향을 분석하는 것이며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</a:p>
          <a:p>
            <a:pPr algn="ct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이를 위해 실험 결과가 사전에 결정되는 구조를 배제하는 것을 최소 조건으로 삼는다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9762B-E3FB-F164-DBE3-1C8228DAF680}"/>
              </a:ext>
            </a:extLst>
          </p:cNvPr>
          <p:cNvSpPr txBox="1"/>
          <p:nvPr/>
        </p:nvSpPr>
        <p:spPr>
          <a:xfrm>
            <a:off x="305334" y="2459039"/>
            <a:ext cx="3406702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1.</a:t>
            </a:r>
          </a:p>
          <a:p>
            <a:pPr algn="ctr"/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선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/</a:t>
            </a:r>
            <a:r>
              <a:rPr lang="ko-KR" altLang="en-US" dirty="0" err="1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후공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또는 특정 전략이 승패를 </a:t>
            </a:r>
            <a:endParaRPr lang="en-US" altLang="ko-KR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  <a:p>
            <a:pPr algn="ctr"/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결정론적으로 고정하지 않도록 한다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.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226A2A-AB1C-19F5-6E6D-F29FD35F827D}"/>
              </a:ext>
            </a:extLst>
          </p:cNvPr>
          <p:cNvSpPr txBox="1"/>
          <p:nvPr/>
        </p:nvSpPr>
        <p:spPr>
          <a:xfrm>
            <a:off x="4165022" y="2459038"/>
            <a:ext cx="386195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2.</a:t>
            </a:r>
          </a:p>
          <a:p>
            <a:pPr algn="ctr"/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특정 무기 구성만으로 </a:t>
            </a:r>
            <a:endParaRPr lang="en-US" altLang="ko-KR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  <a:p>
            <a:pPr algn="ctr"/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승리가 확정되는 극단적 편향을 배제한다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.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ABE7CB-F273-F6A4-3375-81D0CF645AA0}"/>
              </a:ext>
            </a:extLst>
          </p:cNvPr>
          <p:cNvSpPr txBox="1"/>
          <p:nvPr/>
        </p:nvSpPr>
        <p:spPr>
          <a:xfrm>
            <a:off x="9182842" y="2459038"/>
            <a:ext cx="215636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3.</a:t>
            </a:r>
          </a:p>
          <a:p>
            <a:pPr algn="ctr"/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맵 규모를 최소화한다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.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CFFB4-CBDC-F85F-7E5A-75C8FC1D7BBD}"/>
              </a:ext>
            </a:extLst>
          </p:cNvPr>
          <p:cNvSpPr txBox="1"/>
          <p:nvPr/>
        </p:nvSpPr>
        <p:spPr>
          <a:xfrm>
            <a:off x="3320240" y="5263161"/>
            <a:ext cx="555152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4.</a:t>
            </a:r>
          </a:p>
          <a:p>
            <a:pPr algn="ctr"/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각 </a:t>
            </a:r>
            <a:r>
              <a:rPr lang="ko-KR" altLang="en-US" dirty="0" err="1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맵은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전투 리듬의 </a:t>
            </a:r>
            <a:r>
              <a:rPr lang="en-US" altLang="ko-KR" dirty="0">
                <a:solidFill>
                  <a:srgbClr val="C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3</a:t>
            </a:r>
            <a:r>
              <a:rPr lang="ko-KR" altLang="en-US" dirty="0">
                <a:solidFill>
                  <a:srgbClr val="C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단계 중 하나 이상을 강조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하도록 한다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.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3A0A2E0-0D47-CDF5-7F01-780BDC45F15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85000"/>
          </a:blip>
          <a:stretch>
            <a:fillRect/>
          </a:stretch>
        </p:blipFill>
        <p:spPr>
          <a:xfrm>
            <a:off x="569429" y="4181560"/>
            <a:ext cx="956932" cy="9672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E9F530-226B-A21B-7764-47C3F2D6E1CB}"/>
              </a:ext>
            </a:extLst>
          </p:cNvPr>
          <p:cNvSpPr txBox="1"/>
          <p:nvPr/>
        </p:nvSpPr>
        <p:spPr>
          <a:xfrm>
            <a:off x="124996" y="3562320"/>
            <a:ext cx="3767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선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/</a:t>
            </a:r>
            <a:r>
              <a:rPr lang="ko-KR" altLang="en-US" sz="14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후공에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따라 유불리가 발생할 수는 있으나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</a:p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특정 조건이 항상 승리하는 필승 구조는 배제한다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F19149-43ED-6120-279A-03B915757C59}"/>
              </a:ext>
            </a:extLst>
          </p:cNvPr>
          <p:cNvSpPr txBox="1"/>
          <p:nvPr/>
        </p:nvSpPr>
        <p:spPr>
          <a:xfrm>
            <a:off x="1526361" y="4295872"/>
            <a:ext cx="204075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ex) 3-3 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규칙이 없는 오목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선공이 무조건 승리하는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필승법이 존재함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866744-CC43-449D-8A4D-2830F40F5E5F}"/>
              </a:ext>
            </a:extLst>
          </p:cNvPr>
          <p:cNvSpPr txBox="1"/>
          <p:nvPr/>
        </p:nvSpPr>
        <p:spPr>
          <a:xfrm>
            <a:off x="4576993" y="3563871"/>
            <a:ext cx="30380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단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무기 간 유불리는 존재할 수 있으며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</a:p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이는 연구 분석 대상에 포함된다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pic>
        <p:nvPicPr>
          <p:cNvPr id="19" name="그림 18" descr="텍스트, 스크린샷, 도표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4E088B-1F1D-67F3-4BAA-ADC5A97A1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66" t="34176" r="40489" b="14848"/>
          <a:stretch>
            <a:fillRect/>
          </a:stretch>
        </p:blipFill>
        <p:spPr>
          <a:xfrm>
            <a:off x="4242678" y="4181560"/>
            <a:ext cx="1746893" cy="9234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77ACAFA-8DAB-FDDE-290F-7B0511E59DCA}"/>
              </a:ext>
            </a:extLst>
          </p:cNvPr>
          <p:cNvSpPr txBox="1"/>
          <p:nvPr/>
        </p:nvSpPr>
        <p:spPr>
          <a:xfrm>
            <a:off x="6095999" y="4295872"/>
            <a:ext cx="216918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ex) 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주먹 도배 </a:t>
            </a:r>
            <a:r>
              <a:rPr lang="ko-KR" altLang="en-US" sz="14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도배 </a:t>
            </a:r>
            <a:r>
              <a:rPr lang="ko-KR" altLang="en-US" sz="14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덱이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무조건 승리하는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필승법이 존재함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200D03-6AB7-76AA-15EE-2409B210B6DD}"/>
              </a:ext>
            </a:extLst>
          </p:cNvPr>
          <p:cNvSpPr txBox="1"/>
          <p:nvPr/>
        </p:nvSpPr>
        <p:spPr>
          <a:xfrm>
            <a:off x="8584922" y="3406942"/>
            <a:ext cx="33522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불필요한 이동만 반복되는 구조를 배제하여 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사이클의 진입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유지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이탈이 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명확히 드러나게끔 한다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pic>
        <p:nvPicPr>
          <p:cNvPr id="25" name="그림 24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2901DB-728F-AD56-7102-EEDA47A5D4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402" t="33859" r="33094" b="19604"/>
          <a:stretch>
            <a:fillRect/>
          </a:stretch>
        </p:blipFill>
        <p:spPr>
          <a:xfrm>
            <a:off x="8871761" y="4181560"/>
            <a:ext cx="1053276" cy="96728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CBA651D-B1A6-387F-96A2-88DBCBA24B97}"/>
              </a:ext>
            </a:extLst>
          </p:cNvPr>
          <p:cNvSpPr txBox="1"/>
          <p:nvPr/>
        </p:nvSpPr>
        <p:spPr>
          <a:xfrm>
            <a:off x="10022818" y="4279052"/>
            <a:ext cx="16337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ex) 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구간 반복 맵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아무 의미도 없이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이동만 반복하게 됨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4782BC-8BA1-C248-E49C-5C15AE2C2A52}"/>
              </a:ext>
            </a:extLst>
          </p:cNvPr>
          <p:cNvSpPr txBox="1"/>
          <p:nvPr/>
        </p:nvSpPr>
        <p:spPr>
          <a:xfrm>
            <a:off x="2771211" y="6136238"/>
            <a:ext cx="664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 마다 전투 리듬의 진입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유지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이탈 중 하나 이상의 요소가 구조적으로 두드러지게 한다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9DF4CF2-B864-AAE5-FD2B-4D215399C8AE}"/>
              </a:ext>
            </a:extLst>
          </p:cNvPr>
          <p:cNvSpPr/>
          <p:nvPr/>
        </p:nvSpPr>
        <p:spPr>
          <a:xfrm>
            <a:off x="5049754" y="1983943"/>
            <a:ext cx="2092490" cy="448958"/>
          </a:xfrm>
          <a:prstGeom prst="roundRect">
            <a:avLst>
              <a:gd name="adj" fmla="val 93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설계 원칙</a:t>
            </a:r>
          </a:p>
        </p:txBody>
      </p:sp>
    </p:spTree>
    <p:extLst>
      <p:ext uri="{BB962C8B-B14F-4D97-AF65-F5344CB8AC3E}">
        <p14:creationId xmlns:p14="http://schemas.microsoft.com/office/powerpoint/2010/main" val="195166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937F7-D260-D029-E312-3B8A156B6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765956C-D029-2F50-11E4-6857E6DCBA1E}"/>
              </a:ext>
            </a:extLst>
          </p:cNvPr>
          <p:cNvSpPr/>
          <p:nvPr/>
        </p:nvSpPr>
        <p:spPr>
          <a:xfrm>
            <a:off x="116980" y="1590444"/>
            <a:ext cx="11942008" cy="1225184"/>
          </a:xfrm>
          <a:prstGeom prst="roundRect">
            <a:avLst>
              <a:gd name="adj" fmla="val 2583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69940-3C2C-CEE1-4186-1E1ACF8F009D}"/>
              </a:ext>
            </a:extLst>
          </p:cNvPr>
          <p:cNvSpPr txBox="1"/>
          <p:nvPr/>
        </p:nvSpPr>
        <p:spPr>
          <a:xfrm>
            <a:off x="5428188" y="196334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설계 가정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F1D53-1B2F-6EF0-1A46-4FC6D68F15B5}"/>
              </a:ext>
            </a:extLst>
          </p:cNvPr>
          <p:cNvSpPr txBox="1"/>
          <p:nvPr/>
        </p:nvSpPr>
        <p:spPr>
          <a:xfrm>
            <a:off x="3103846" y="657999"/>
            <a:ext cx="5984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본 설계 가정은 검증 대상이 아니라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실험 설계를 위한 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전제적 논리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이다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</a:p>
          <a:p>
            <a:pPr algn="ctr"/>
            <a:r>
              <a:rPr lang="ko-KR" altLang="en-US" sz="16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맵이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어떤 의도와 논리에 따라 구성되었는지를 명시한다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endParaRPr lang="ko-KR" altLang="en-US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C97D2-FA3A-EA86-AAB7-AABDF939FE9F}"/>
              </a:ext>
            </a:extLst>
          </p:cNvPr>
          <p:cNvSpPr txBox="1"/>
          <p:nvPr/>
        </p:nvSpPr>
        <p:spPr>
          <a:xfrm>
            <a:off x="3320240" y="1536583"/>
            <a:ext cx="555152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4.</a:t>
            </a:r>
          </a:p>
          <a:p>
            <a:pPr algn="ctr"/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각 </a:t>
            </a:r>
            <a:r>
              <a:rPr lang="ko-KR" altLang="en-US" dirty="0" err="1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맵은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전투 리듬의 </a:t>
            </a:r>
            <a:r>
              <a:rPr lang="en-US" altLang="ko-KR" dirty="0">
                <a:solidFill>
                  <a:srgbClr val="C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3</a:t>
            </a:r>
            <a:r>
              <a:rPr lang="ko-KR" altLang="en-US" dirty="0">
                <a:solidFill>
                  <a:srgbClr val="C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단계 중 하나 이상을 강조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하도록 한다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.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AAFCE-0169-9627-2980-32C06EF65E23}"/>
              </a:ext>
            </a:extLst>
          </p:cNvPr>
          <p:cNvSpPr txBox="1"/>
          <p:nvPr/>
        </p:nvSpPr>
        <p:spPr>
          <a:xfrm>
            <a:off x="2771211" y="2352190"/>
            <a:ext cx="664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 마다 전투 리듬의 </a:t>
            </a:r>
            <a:r>
              <a:rPr lang="ko-KR" altLang="en-US" sz="1400" b="1" u="sng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진입</a:t>
            </a:r>
            <a:r>
              <a:rPr lang="en-US" altLang="ko-KR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400" b="1" u="sng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유지</a:t>
            </a:r>
            <a:r>
              <a:rPr lang="en-US" altLang="ko-KR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400" b="1" u="sng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이탈</a:t>
            </a:r>
            <a:r>
              <a:rPr lang="ko-KR" altLang="en-US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중 하나 이상의 요소가 구조적으로 두드러지게 한다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825D1FC-23BF-E16B-DC8C-44940EB14D87}"/>
              </a:ext>
            </a:extLst>
          </p:cNvPr>
          <p:cNvSpPr/>
          <p:nvPr/>
        </p:nvSpPr>
        <p:spPr>
          <a:xfrm>
            <a:off x="5041739" y="3128416"/>
            <a:ext cx="2092490" cy="448958"/>
          </a:xfrm>
          <a:prstGeom prst="roundRect">
            <a:avLst>
              <a:gd name="adj" fmla="val 93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설계 가정</a:t>
            </a:r>
            <a:endParaRPr lang="ko-KR" altLang="en-US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DF2292E-AEA2-E469-1AF1-355A2DD1B0E9}"/>
              </a:ext>
            </a:extLst>
          </p:cNvPr>
          <p:cNvSpPr/>
          <p:nvPr/>
        </p:nvSpPr>
        <p:spPr>
          <a:xfrm>
            <a:off x="305738" y="1141486"/>
            <a:ext cx="2092490" cy="448958"/>
          </a:xfrm>
          <a:prstGeom prst="roundRect">
            <a:avLst>
              <a:gd name="adj" fmla="val 937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설계 원칙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823337D-4674-16C7-9A24-B94E7D1F1F9E}"/>
              </a:ext>
            </a:extLst>
          </p:cNvPr>
          <p:cNvSpPr/>
          <p:nvPr/>
        </p:nvSpPr>
        <p:spPr>
          <a:xfrm>
            <a:off x="124995" y="3577373"/>
            <a:ext cx="11942008" cy="3159429"/>
          </a:xfrm>
          <a:prstGeom prst="roundRect">
            <a:avLst>
              <a:gd name="adj" fmla="val 258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0D556A-0079-2CEC-115F-EDD38CE834BC}"/>
              </a:ext>
            </a:extLst>
          </p:cNvPr>
          <p:cNvSpPr txBox="1"/>
          <p:nvPr/>
        </p:nvSpPr>
        <p:spPr>
          <a:xfrm>
            <a:off x="1057944" y="3634850"/>
            <a:ext cx="1901483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</a:t>
            </a:r>
            <a:r>
              <a:rPr lang="ko-KR" altLang="en-US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진입</a:t>
            </a: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</a:t>
            </a:r>
          </a:p>
          <a:p>
            <a:pPr algn="ctr">
              <a:lnSpc>
                <a:spcPct val="150000"/>
              </a:lnSpc>
            </a:pPr>
            <a:r>
              <a:rPr lang="ko-KR" altLang="en-US" u="sng" dirty="0">
                <a:solidFill>
                  <a:srgbClr val="C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직선 구간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 길수록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EB776C-6946-1FC0-BBC0-CE8DFF542322}"/>
              </a:ext>
            </a:extLst>
          </p:cNvPr>
          <p:cNvSpPr txBox="1"/>
          <p:nvPr/>
        </p:nvSpPr>
        <p:spPr>
          <a:xfrm>
            <a:off x="5051486" y="3634849"/>
            <a:ext cx="2089033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</a:t>
            </a:r>
            <a:r>
              <a:rPr lang="ko-KR" altLang="en-US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유지</a:t>
            </a: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</a:t>
            </a:r>
          </a:p>
          <a:p>
            <a:pPr algn="ctr">
              <a:lnSpc>
                <a:spcPct val="150000"/>
              </a:lnSpc>
            </a:pPr>
            <a:r>
              <a:rPr lang="ko-KR" altLang="en-US" u="sng" dirty="0">
                <a:solidFill>
                  <a:srgbClr val="C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코너 구간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 넓을수록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76EE2-529C-3948-7C68-5DDB39227026}"/>
              </a:ext>
            </a:extLst>
          </p:cNvPr>
          <p:cNvSpPr txBox="1"/>
          <p:nvPr/>
        </p:nvSpPr>
        <p:spPr>
          <a:xfrm>
            <a:off x="9210900" y="3634849"/>
            <a:ext cx="2100255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</a:t>
            </a:r>
            <a:r>
              <a:rPr lang="ko-KR" altLang="en-US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이탈</a:t>
            </a: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</a:t>
            </a:r>
          </a:p>
          <a:p>
            <a:pPr algn="ctr">
              <a:lnSpc>
                <a:spcPct val="150000"/>
              </a:lnSpc>
            </a:pPr>
            <a:r>
              <a:rPr lang="ko-KR" altLang="en-US" u="sng" dirty="0">
                <a:solidFill>
                  <a:srgbClr val="C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완충 지대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가 넓을수록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9E30E2-4CF6-BE10-07EC-B4997B75A2D4}"/>
              </a:ext>
            </a:extLst>
          </p:cNvPr>
          <p:cNvSpPr txBox="1"/>
          <p:nvPr/>
        </p:nvSpPr>
        <p:spPr>
          <a:xfrm>
            <a:off x="462428" y="4575708"/>
            <a:ext cx="3092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전투 리듬 </a:t>
            </a:r>
            <a:r>
              <a:rPr lang="ko-KR" altLang="en-US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진입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 </a:t>
            </a:r>
            <a:r>
              <a:rPr lang="ko-KR" altLang="en-US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빨라질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가능성이 높다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2E048D-457B-D36E-82DA-5517C9E3575C}"/>
              </a:ext>
            </a:extLst>
          </p:cNvPr>
          <p:cNvSpPr txBox="1"/>
          <p:nvPr/>
        </p:nvSpPr>
        <p:spPr>
          <a:xfrm>
            <a:off x="4363794" y="4577259"/>
            <a:ext cx="3464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전투 리듬 </a:t>
            </a:r>
            <a:r>
              <a:rPr lang="ko-KR" altLang="en-US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유지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구간이 </a:t>
            </a:r>
            <a:r>
              <a:rPr lang="ko-KR" altLang="en-US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길어질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가능성이 높다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B6A883-53B5-E8BE-8922-80A830EFCAB0}"/>
              </a:ext>
            </a:extLst>
          </p:cNvPr>
          <p:cNvSpPr txBox="1"/>
          <p:nvPr/>
        </p:nvSpPr>
        <p:spPr>
          <a:xfrm>
            <a:off x="8531224" y="4575707"/>
            <a:ext cx="3459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전투 리듬 </a:t>
            </a:r>
            <a:r>
              <a:rPr lang="ko-KR" altLang="en-US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이탈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빈도가 </a:t>
            </a:r>
            <a:r>
              <a:rPr lang="ko-KR" altLang="en-US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증가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할 가능성이 높다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EEB5B2A-BADC-9A30-8CF8-11E4112FF861}"/>
              </a:ext>
            </a:extLst>
          </p:cNvPr>
          <p:cNvCxnSpPr/>
          <p:nvPr/>
        </p:nvCxnSpPr>
        <p:spPr>
          <a:xfrm>
            <a:off x="276226" y="4745832"/>
            <a:ext cx="2428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17D990E7-A6D2-D936-A70D-D256E411A412}"/>
              </a:ext>
            </a:extLst>
          </p:cNvPr>
          <p:cNvCxnSpPr/>
          <p:nvPr/>
        </p:nvCxnSpPr>
        <p:spPr>
          <a:xfrm>
            <a:off x="4168776" y="4735514"/>
            <a:ext cx="2428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504B026-9EB5-EA98-829E-82DA62FA8EF4}"/>
              </a:ext>
            </a:extLst>
          </p:cNvPr>
          <p:cNvCxnSpPr/>
          <p:nvPr/>
        </p:nvCxnSpPr>
        <p:spPr>
          <a:xfrm>
            <a:off x="8334376" y="4735514"/>
            <a:ext cx="2428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그림 51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647DA0-4A51-A642-DA4E-C0A9CDF78F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00" t="23191" r="26273" b="19028"/>
          <a:stretch>
            <a:fillRect/>
          </a:stretch>
        </p:blipFill>
        <p:spPr>
          <a:xfrm>
            <a:off x="5382823" y="5157087"/>
            <a:ext cx="1259740" cy="1213956"/>
          </a:xfrm>
          <a:prstGeom prst="rect">
            <a:avLst/>
          </a:prstGeom>
        </p:spPr>
      </p:pic>
      <p:pic>
        <p:nvPicPr>
          <p:cNvPr id="54" name="그림 53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D37024-1C0A-7A94-7A9C-E2A0162BCC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994" t="39719" r="34405" b="30135"/>
          <a:stretch>
            <a:fillRect/>
          </a:stretch>
        </p:blipFill>
        <p:spPr>
          <a:xfrm>
            <a:off x="873664" y="5246471"/>
            <a:ext cx="1973747" cy="94008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20557D8-4171-0EED-F3A1-0DE39A55FF1A}"/>
              </a:ext>
            </a:extLst>
          </p:cNvPr>
          <p:cNvSpPr txBox="1"/>
          <p:nvPr/>
        </p:nvSpPr>
        <p:spPr>
          <a:xfrm>
            <a:off x="4957068" y="3973769"/>
            <a:ext cx="851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설계 변수 </a:t>
            </a:r>
            <a:r>
              <a:rPr lang="en-US" altLang="ko-KR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</a:t>
            </a:r>
            <a:endParaRPr lang="ko-KR" altLang="en-US" sz="1100" dirty="0">
              <a:solidFill>
                <a:srgbClr val="C0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534CEBC-030E-E73B-7D0E-D986F09A522F}"/>
              </a:ext>
            </a:extLst>
          </p:cNvPr>
          <p:cNvSpPr txBox="1"/>
          <p:nvPr/>
        </p:nvSpPr>
        <p:spPr>
          <a:xfrm>
            <a:off x="773073" y="3978717"/>
            <a:ext cx="851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설계 변수 </a:t>
            </a:r>
            <a:r>
              <a:rPr lang="en-US" altLang="ko-KR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</a:t>
            </a:r>
            <a:endParaRPr lang="ko-KR" altLang="en-US" sz="1100" dirty="0">
              <a:solidFill>
                <a:srgbClr val="C0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48B76BB-C7FC-2B3F-DF36-F45AD187AE61}"/>
              </a:ext>
            </a:extLst>
          </p:cNvPr>
          <p:cNvSpPr txBox="1"/>
          <p:nvPr/>
        </p:nvSpPr>
        <p:spPr>
          <a:xfrm>
            <a:off x="8995030" y="3973769"/>
            <a:ext cx="851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설계 변수 </a:t>
            </a:r>
            <a:r>
              <a:rPr lang="en-US" altLang="ko-KR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3</a:t>
            </a:r>
            <a:endParaRPr lang="ko-KR" altLang="en-US" sz="1100" dirty="0">
              <a:solidFill>
                <a:srgbClr val="C0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2B1A32DF-2DC8-E131-579B-18E0892A1559}"/>
              </a:ext>
            </a:extLst>
          </p:cNvPr>
          <p:cNvGrpSpPr/>
          <p:nvPr/>
        </p:nvGrpSpPr>
        <p:grpSpPr>
          <a:xfrm>
            <a:off x="9420787" y="5162917"/>
            <a:ext cx="1260364" cy="1049257"/>
            <a:chOff x="2749342" y="1687998"/>
            <a:chExt cx="3240000" cy="2697310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82588EFD-A656-88D3-75BC-45795BBF7B23}"/>
                </a:ext>
              </a:extLst>
            </p:cNvPr>
            <p:cNvSpPr/>
            <p:nvPr/>
          </p:nvSpPr>
          <p:spPr>
            <a:xfrm>
              <a:off x="3829342" y="222530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21F21031-4976-AACB-737F-AB40B71BF01C}"/>
                </a:ext>
              </a:extLst>
            </p:cNvPr>
            <p:cNvSpPr/>
            <p:nvPr/>
          </p:nvSpPr>
          <p:spPr>
            <a:xfrm>
              <a:off x="3289342" y="276530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2C6942F9-D73A-5DDD-1730-0D5BD28624B4}"/>
                </a:ext>
              </a:extLst>
            </p:cNvPr>
            <p:cNvSpPr/>
            <p:nvPr/>
          </p:nvSpPr>
          <p:spPr>
            <a:xfrm>
              <a:off x="2749342" y="276530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FA033C63-4F12-74C4-7998-A05C6F2AFCDD}"/>
                </a:ext>
              </a:extLst>
            </p:cNvPr>
            <p:cNvSpPr/>
            <p:nvPr/>
          </p:nvSpPr>
          <p:spPr>
            <a:xfrm>
              <a:off x="2749342" y="330530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3F2E3E71-72F5-5172-F8B3-93C536EBDCC0}"/>
                </a:ext>
              </a:extLst>
            </p:cNvPr>
            <p:cNvSpPr/>
            <p:nvPr/>
          </p:nvSpPr>
          <p:spPr>
            <a:xfrm>
              <a:off x="2749342" y="384530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6EB8AD88-9ED4-A106-102D-BC2917A915FB}"/>
                </a:ext>
              </a:extLst>
            </p:cNvPr>
            <p:cNvSpPr/>
            <p:nvPr/>
          </p:nvSpPr>
          <p:spPr>
            <a:xfrm>
              <a:off x="4369342" y="168799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5DAB0E81-E88E-0288-209F-7D92C4B652F2}"/>
                </a:ext>
              </a:extLst>
            </p:cNvPr>
            <p:cNvSpPr/>
            <p:nvPr/>
          </p:nvSpPr>
          <p:spPr>
            <a:xfrm>
              <a:off x="3289342" y="222530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204DCF38-1EA0-1C9D-0A74-53FFBAEE8DE9}"/>
                </a:ext>
              </a:extLst>
            </p:cNvPr>
            <p:cNvSpPr/>
            <p:nvPr/>
          </p:nvSpPr>
          <p:spPr>
            <a:xfrm>
              <a:off x="3829342" y="168799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E576A717-FA07-0187-E520-29CFBF12A265}"/>
                </a:ext>
              </a:extLst>
            </p:cNvPr>
            <p:cNvSpPr/>
            <p:nvPr/>
          </p:nvSpPr>
          <p:spPr>
            <a:xfrm>
              <a:off x="5449342" y="329992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15D39C8C-7C32-5DE4-AA60-54D0DDEE72B0}"/>
                </a:ext>
              </a:extLst>
            </p:cNvPr>
            <p:cNvSpPr/>
            <p:nvPr/>
          </p:nvSpPr>
          <p:spPr>
            <a:xfrm>
              <a:off x="5449342" y="275992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399474E9-B797-9E5A-E256-7D2F1828A246}"/>
                </a:ext>
              </a:extLst>
            </p:cNvPr>
            <p:cNvSpPr/>
            <p:nvPr/>
          </p:nvSpPr>
          <p:spPr>
            <a:xfrm>
              <a:off x="382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557B743F-FF9A-EA8A-BC35-AEF652913FFA}"/>
                </a:ext>
              </a:extLst>
            </p:cNvPr>
            <p:cNvSpPr/>
            <p:nvPr/>
          </p:nvSpPr>
          <p:spPr>
            <a:xfrm>
              <a:off x="328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CFF85DFC-C947-B627-76E1-6C9CE66EB821}"/>
                </a:ext>
              </a:extLst>
            </p:cNvPr>
            <p:cNvSpPr/>
            <p:nvPr/>
          </p:nvSpPr>
          <p:spPr>
            <a:xfrm>
              <a:off x="544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28BBC06C-C811-4D79-B469-0A1A088BAB26}"/>
                </a:ext>
              </a:extLst>
            </p:cNvPr>
            <p:cNvSpPr/>
            <p:nvPr/>
          </p:nvSpPr>
          <p:spPr>
            <a:xfrm>
              <a:off x="490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E4C0465A-40CC-1A6E-AAB9-04E746094CD2}"/>
                </a:ext>
              </a:extLst>
            </p:cNvPr>
            <p:cNvSpPr/>
            <p:nvPr/>
          </p:nvSpPr>
          <p:spPr>
            <a:xfrm>
              <a:off x="436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AF1F1B61-30ED-6704-99C3-3B5CB39EC3E4}"/>
                </a:ext>
              </a:extLst>
            </p:cNvPr>
            <p:cNvSpPr/>
            <p:nvPr/>
          </p:nvSpPr>
          <p:spPr>
            <a:xfrm>
              <a:off x="4909342" y="168799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F839EBD0-EF08-C765-D9CD-9BF268E54136}"/>
                </a:ext>
              </a:extLst>
            </p:cNvPr>
            <p:cNvSpPr/>
            <p:nvPr/>
          </p:nvSpPr>
          <p:spPr>
            <a:xfrm>
              <a:off x="5449342" y="223068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D713BC6B-1EB0-51F2-091A-6196AFCD6C20}"/>
                </a:ext>
              </a:extLst>
            </p:cNvPr>
            <p:cNvSpPr/>
            <p:nvPr/>
          </p:nvSpPr>
          <p:spPr>
            <a:xfrm>
              <a:off x="5449342" y="1689343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809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3B67D-510B-7F3B-83A0-9484CCB3D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ECE2B4-48E4-2D3C-D258-CB336A53FB98}"/>
              </a:ext>
            </a:extLst>
          </p:cNvPr>
          <p:cNvSpPr txBox="1"/>
          <p:nvPr/>
        </p:nvSpPr>
        <p:spPr>
          <a:xfrm>
            <a:off x="5295899" y="196334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개념 정의 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1</a:t>
            </a:r>
            <a:endParaRPr lang="ko-KR" altLang="en-US" sz="24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57E27-71C4-23AC-3061-6D146CA1D757}"/>
              </a:ext>
            </a:extLst>
          </p:cNvPr>
          <p:cNvSpPr txBox="1"/>
          <p:nvPr/>
        </p:nvSpPr>
        <p:spPr>
          <a:xfrm>
            <a:off x="3640051" y="657999"/>
            <a:ext cx="4911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맵의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구성 단위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‘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구간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’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의 의미를 명확히 규정하여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</a:t>
            </a:r>
          </a:p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이후 설계 및 분석 전반에서 일관된 해석 기준을 유지한다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endParaRPr lang="ko-KR" altLang="en-US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987A3F-FBC3-3D1B-C171-138B8B6E7FB1}"/>
              </a:ext>
            </a:extLst>
          </p:cNvPr>
          <p:cNvSpPr/>
          <p:nvPr/>
        </p:nvSpPr>
        <p:spPr>
          <a:xfrm>
            <a:off x="5041739" y="1401061"/>
            <a:ext cx="2092490" cy="448958"/>
          </a:xfrm>
          <a:prstGeom prst="roundRect">
            <a:avLst>
              <a:gd name="adj" fmla="val 93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구간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4039B92-7ADA-E844-7DE4-BAF711DA8452}"/>
              </a:ext>
            </a:extLst>
          </p:cNvPr>
          <p:cNvSpPr/>
          <p:nvPr/>
        </p:nvSpPr>
        <p:spPr>
          <a:xfrm>
            <a:off x="124995" y="1844775"/>
            <a:ext cx="11942008" cy="2074922"/>
          </a:xfrm>
          <a:prstGeom prst="roundRect">
            <a:avLst>
              <a:gd name="adj" fmla="val 258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3EB789-DBD0-76EC-EC8E-9B6DE4E83AA1}"/>
              </a:ext>
            </a:extLst>
          </p:cNvPr>
          <p:cNvSpPr txBox="1"/>
          <p:nvPr/>
        </p:nvSpPr>
        <p:spPr>
          <a:xfrm>
            <a:off x="2628544" y="2036448"/>
            <a:ext cx="69349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일직선으로 연속 배치되거나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방향 전환을 포함하는 형태로 연속 배치된 타일 묶음</a:t>
            </a:r>
            <a:endParaRPr lang="en-US" altLang="ko-KR" sz="16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6D2CE5-7BD0-D50F-B94F-8B9CEACFC94F}"/>
              </a:ext>
            </a:extLst>
          </p:cNvPr>
          <p:cNvSpPr txBox="1"/>
          <p:nvPr/>
        </p:nvSpPr>
        <p:spPr>
          <a:xfrm>
            <a:off x="1595329" y="2442849"/>
            <a:ext cx="29995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</a:t>
            </a:r>
            <a:r>
              <a:rPr lang="ko-KR" altLang="en-US" dirty="0">
                <a:solidFill>
                  <a:srgbClr val="C00000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직선</a:t>
            </a:r>
            <a:r>
              <a:rPr lang="ko-KR" altLang="en-US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 구간</a:t>
            </a: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</a:t>
            </a: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동일한 방향으로 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4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칸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*</a:t>
            </a:r>
          </a:p>
          <a:p>
            <a:pPr algn="ctr"/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이상의 타일이 연속 배치된 구간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71F88D-B834-5DF9-DFC1-60BE80B54F5B}"/>
              </a:ext>
            </a:extLst>
          </p:cNvPr>
          <p:cNvSpPr txBox="1"/>
          <p:nvPr/>
        </p:nvSpPr>
        <p:spPr>
          <a:xfrm>
            <a:off x="7427211" y="2442848"/>
            <a:ext cx="33393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</a:t>
            </a:r>
            <a:r>
              <a:rPr lang="ko-KR" altLang="en-US" dirty="0">
                <a:solidFill>
                  <a:srgbClr val="C00000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코너</a:t>
            </a:r>
            <a:r>
              <a:rPr lang="ko-KR" altLang="en-US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 구간</a:t>
            </a: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</a:t>
            </a: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방향 전환이 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1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회 또는 </a:t>
            </a:r>
            <a:endParaRPr lang="en-US" altLang="ko-KR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  <a:p>
            <a:pPr algn="ctr"/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2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회 이상 연속적으로 발생하는 구간</a:t>
            </a:r>
            <a:endParaRPr lang="en-US" altLang="ko-KR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52CF7F-446A-58AA-1C99-9336591ADC0A}"/>
              </a:ext>
            </a:extLst>
          </p:cNvPr>
          <p:cNvSpPr txBox="1"/>
          <p:nvPr/>
        </p:nvSpPr>
        <p:spPr>
          <a:xfrm>
            <a:off x="1373942" y="6437821"/>
            <a:ext cx="11942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*3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칸이 아닌 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4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칸인 이유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앞과 뒤가 코너 구간으로 이루어져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3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칸만이 연속된 직선 배열의 경우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앞 뒤 코너 구간과 완전히 겹치게 됨  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C3AE1BB-84EB-4D63-5F7B-0C0B2D388735}"/>
              </a:ext>
            </a:extLst>
          </p:cNvPr>
          <p:cNvCxnSpPr>
            <a:cxnSpLocks/>
          </p:cNvCxnSpPr>
          <p:nvPr/>
        </p:nvCxnSpPr>
        <p:spPr>
          <a:xfrm>
            <a:off x="2953930" y="4262583"/>
            <a:ext cx="2735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A85EFB9-220F-DC8F-A363-F203D98082D8}"/>
              </a:ext>
            </a:extLst>
          </p:cNvPr>
          <p:cNvSpPr txBox="1"/>
          <p:nvPr/>
        </p:nvSpPr>
        <p:spPr>
          <a:xfrm>
            <a:off x="3227443" y="3948103"/>
            <a:ext cx="6316153" cy="5096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서로 인접한 두 구간은 경계에서 하나 이상의 타일을 공유한다</a:t>
            </a:r>
            <a:r>
              <a:rPr lang="en-US" altLang="ko-KR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.</a:t>
            </a:r>
            <a:endParaRPr lang="ko-KR" altLang="en-US" sz="20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pic>
        <p:nvPicPr>
          <p:cNvPr id="16" name="그림 15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06573C-F37C-6E7A-0C73-DD609A673F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00" t="23191" r="26273" b="19028"/>
          <a:stretch>
            <a:fillRect/>
          </a:stretch>
        </p:blipFill>
        <p:spPr>
          <a:xfrm>
            <a:off x="1108214" y="4714326"/>
            <a:ext cx="1259740" cy="1213956"/>
          </a:xfrm>
          <a:prstGeom prst="rect">
            <a:avLst/>
          </a:prstGeom>
        </p:spPr>
      </p:pic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B3D1E76B-0786-3F4F-5095-F3DD6FE8DDF5}"/>
              </a:ext>
            </a:extLst>
          </p:cNvPr>
          <p:cNvSpPr/>
          <p:nvPr/>
        </p:nvSpPr>
        <p:spPr>
          <a:xfrm>
            <a:off x="2504035" y="5180143"/>
            <a:ext cx="384827" cy="30777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DB08C1-B86D-E604-2D7E-E6928012FA1E}"/>
              </a:ext>
            </a:extLst>
          </p:cNvPr>
          <p:cNvSpPr txBox="1"/>
          <p:nvPr/>
        </p:nvSpPr>
        <p:spPr>
          <a:xfrm>
            <a:off x="2949063" y="4863461"/>
            <a:ext cx="3146937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직선 구간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: 0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개</a:t>
            </a:r>
            <a:endParaRPr lang="en-US" altLang="ko-KR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코너 구간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: 4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개 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(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길이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: 5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칸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)</a:t>
            </a: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ECE0488A-A297-F269-A2F4-DF40B3DA5E49}"/>
              </a:ext>
            </a:extLst>
          </p:cNvPr>
          <p:cNvSpPr/>
          <p:nvPr/>
        </p:nvSpPr>
        <p:spPr>
          <a:xfrm>
            <a:off x="1203443" y="4780635"/>
            <a:ext cx="655163" cy="654689"/>
          </a:xfrm>
          <a:custGeom>
            <a:avLst/>
            <a:gdLst>
              <a:gd name="csX0" fmla="*/ 914400 w 2743200"/>
              <a:gd name="csY0" fmla="*/ 0 h 2741214"/>
              <a:gd name="csX1" fmla="*/ 1828800 w 2743200"/>
              <a:gd name="csY1" fmla="*/ 0 h 2741214"/>
              <a:gd name="csX2" fmla="*/ 1828800 w 2743200"/>
              <a:gd name="csY2" fmla="*/ 14988 h 2741214"/>
              <a:gd name="csX3" fmla="*/ 2743200 w 2743200"/>
              <a:gd name="csY3" fmla="*/ 14988 h 2741214"/>
              <a:gd name="csX4" fmla="*/ 2743200 w 2743200"/>
              <a:gd name="csY4" fmla="*/ 929388 h 2741214"/>
              <a:gd name="csX5" fmla="*/ 1828800 w 2743200"/>
              <a:gd name="csY5" fmla="*/ 929388 h 2741214"/>
              <a:gd name="csX6" fmla="*/ 1828800 w 2743200"/>
              <a:gd name="csY6" fmla="*/ 1826814 h 2741214"/>
              <a:gd name="csX7" fmla="*/ 914400 w 2743200"/>
              <a:gd name="csY7" fmla="*/ 1826814 h 2741214"/>
              <a:gd name="csX8" fmla="*/ 914400 w 2743200"/>
              <a:gd name="csY8" fmla="*/ 2741214 h 2741214"/>
              <a:gd name="csX9" fmla="*/ 0 w 2743200"/>
              <a:gd name="csY9" fmla="*/ 2741214 h 2741214"/>
              <a:gd name="csX10" fmla="*/ 0 w 2743200"/>
              <a:gd name="csY10" fmla="*/ 1826814 h 2741214"/>
              <a:gd name="csX11" fmla="*/ 0 w 2743200"/>
              <a:gd name="csY11" fmla="*/ 912414 h 2741214"/>
              <a:gd name="csX12" fmla="*/ 914400 w 2743200"/>
              <a:gd name="csY12" fmla="*/ 912414 h 2741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743200" h="2741214">
                <a:moveTo>
                  <a:pt x="914400" y="0"/>
                </a:moveTo>
                <a:lnTo>
                  <a:pt x="1828800" y="0"/>
                </a:lnTo>
                <a:lnTo>
                  <a:pt x="1828800" y="14988"/>
                </a:lnTo>
                <a:lnTo>
                  <a:pt x="2743200" y="14988"/>
                </a:lnTo>
                <a:lnTo>
                  <a:pt x="2743200" y="929388"/>
                </a:lnTo>
                <a:lnTo>
                  <a:pt x="1828800" y="929388"/>
                </a:lnTo>
                <a:lnTo>
                  <a:pt x="1828800" y="1826814"/>
                </a:lnTo>
                <a:lnTo>
                  <a:pt x="914400" y="1826814"/>
                </a:lnTo>
                <a:lnTo>
                  <a:pt x="914400" y="2741214"/>
                </a:lnTo>
                <a:lnTo>
                  <a:pt x="0" y="2741214"/>
                </a:lnTo>
                <a:lnTo>
                  <a:pt x="0" y="1826814"/>
                </a:lnTo>
                <a:lnTo>
                  <a:pt x="0" y="912414"/>
                </a:lnTo>
                <a:lnTo>
                  <a:pt x="914400" y="912414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40C75B2E-FFEB-4DB6-58BA-CEBE0CEABF3F}"/>
              </a:ext>
            </a:extLst>
          </p:cNvPr>
          <p:cNvSpPr/>
          <p:nvPr/>
        </p:nvSpPr>
        <p:spPr>
          <a:xfrm flipH="1">
            <a:off x="1642196" y="4780634"/>
            <a:ext cx="655163" cy="654689"/>
          </a:xfrm>
          <a:custGeom>
            <a:avLst/>
            <a:gdLst>
              <a:gd name="csX0" fmla="*/ 914400 w 2743200"/>
              <a:gd name="csY0" fmla="*/ 0 h 2741214"/>
              <a:gd name="csX1" fmla="*/ 1828800 w 2743200"/>
              <a:gd name="csY1" fmla="*/ 0 h 2741214"/>
              <a:gd name="csX2" fmla="*/ 1828800 w 2743200"/>
              <a:gd name="csY2" fmla="*/ 14988 h 2741214"/>
              <a:gd name="csX3" fmla="*/ 2743200 w 2743200"/>
              <a:gd name="csY3" fmla="*/ 14988 h 2741214"/>
              <a:gd name="csX4" fmla="*/ 2743200 w 2743200"/>
              <a:gd name="csY4" fmla="*/ 929388 h 2741214"/>
              <a:gd name="csX5" fmla="*/ 1828800 w 2743200"/>
              <a:gd name="csY5" fmla="*/ 929388 h 2741214"/>
              <a:gd name="csX6" fmla="*/ 1828800 w 2743200"/>
              <a:gd name="csY6" fmla="*/ 1826814 h 2741214"/>
              <a:gd name="csX7" fmla="*/ 914400 w 2743200"/>
              <a:gd name="csY7" fmla="*/ 1826814 h 2741214"/>
              <a:gd name="csX8" fmla="*/ 914400 w 2743200"/>
              <a:gd name="csY8" fmla="*/ 2741214 h 2741214"/>
              <a:gd name="csX9" fmla="*/ 0 w 2743200"/>
              <a:gd name="csY9" fmla="*/ 2741214 h 2741214"/>
              <a:gd name="csX10" fmla="*/ 0 w 2743200"/>
              <a:gd name="csY10" fmla="*/ 1826814 h 2741214"/>
              <a:gd name="csX11" fmla="*/ 0 w 2743200"/>
              <a:gd name="csY11" fmla="*/ 912414 h 2741214"/>
              <a:gd name="csX12" fmla="*/ 914400 w 2743200"/>
              <a:gd name="csY12" fmla="*/ 912414 h 2741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743200" h="2741214">
                <a:moveTo>
                  <a:pt x="914400" y="0"/>
                </a:moveTo>
                <a:lnTo>
                  <a:pt x="1828800" y="0"/>
                </a:lnTo>
                <a:lnTo>
                  <a:pt x="1828800" y="14988"/>
                </a:lnTo>
                <a:lnTo>
                  <a:pt x="2743200" y="14988"/>
                </a:lnTo>
                <a:lnTo>
                  <a:pt x="2743200" y="929388"/>
                </a:lnTo>
                <a:lnTo>
                  <a:pt x="1828800" y="929388"/>
                </a:lnTo>
                <a:lnTo>
                  <a:pt x="1828800" y="1826814"/>
                </a:lnTo>
                <a:lnTo>
                  <a:pt x="914400" y="1826814"/>
                </a:lnTo>
                <a:lnTo>
                  <a:pt x="914400" y="2741214"/>
                </a:lnTo>
                <a:lnTo>
                  <a:pt x="0" y="2741214"/>
                </a:lnTo>
                <a:lnTo>
                  <a:pt x="0" y="1826814"/>
                </a:lnTo>
                <a:lnTo>
                  <a:pt x="0" y="912414"/>
                </a:lnTo>
                <a:lnTo>
                  <a:pt x="914400" y="912414"/>
                </a:lnTo>
                <a:close/>
              </a:path>
            </a:pathLst>
          </a:custGeom>
          <a:solidFill>
            <a:srgbClr val="92D050">
              <a:alpha val="23000"/>
            </a:srgb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C3AB63F-F1E8-449D-6B1E-C0A48C79E8FB}"/>
              </a:ext>
            </a:extLst>
          </p:cNvPr>
          <p:cNvGrpSpPr/>
          <p:nvPr/>
        </p:nvGrpSpPr>
        <p:grpSpPr>
          <a:xfrm flipV="1">
            <a:off x="1204805" y="5211640"/>
            <a:ext cx="1092554" cy="654689"/>
            <a:chOff x="8302236" y="4925611"/>
            <a:chExt cx="1092554" cy="654689"/>
          </a:xfrm>
        </p:grpSpPr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5E85239F-BDDF-A620-9D9E-97CC8A0CD4A5}"/>
                </a:ext>
              </a:extLst>
            </p:cNvPr>
            <p:cNvSpPr/>
            <p:nvPr/>
          </p:nvSpPr>
          <p:spPr>
            <a:xfrm flipH="1">
              <a:off x="8739627" y="4925611"/>
              <a:ext cx="655163" cy="654689"/>
            </a:xfrm>
            <a:custGeom>
              <a:avLst/>
              <a:gdLst>
                <a:gd name="csX0" fmla="*/ 914400 w 2743200"/>
                <a:gd name="csY0" fmla="*/ 0 h 2741214"/>
                <a:gd name="csX1" fmla="*/ 1828800 w 2743200"/>
                <a:gd name="csY1" fmla="*/ 0 h 2741214"/>
                <a:gd name="csX2" fmla="*/ 1828800 w 2743200"/>
                <a:gd name="csY2" fmla="*/ 14988 h 2741214"/>
                <a:gd name="csX3" fmla="*/ 2743200 w 2743200"/>
                <a:gd name="csY3" fmla="*/ 14988 h 2741214"/>
                <a:gd name="csX4" fmla="*/ 2743200 w 2743200"/>
                <a:gd name="csY4" fmla="*/ 929388 h 2741214"/>
                <a:gd name="csX5" fmla="*/ 1828800 w 2743200"/>
                <a:gd name="csY5" fmla="*/ 929388 h 2741214"/>
                <a:gd name="csX6" fmla="*/ 1828800 w 2743200"/>
                <a:gd name="csY6" fmla="*/ 1826814 h 2741214"/>
                <a:gd name="csX7" fmla="*/ 914400 w 2743200"/>
                <a:gd name="csY7" fmla="*/ 1826814 h 2741214"/>
                <a:gd name="csX8" fmla="*/ 914400 w 2743200"/>
                <a:gd name="csY8" fmla="*/ 2741214 h 2741214"/>
                <a:gd name="csX9" fmla="*/ 0 w 2743200"/>
                <a:gd name="csY9" fmla="*/ 2741214 h 2741214"/>
                <a:gd name="csX10" fmla="*/ 0 w 2743200"/>
                <a:gd name="csY10" fmla="*/ 1826814 h 2741214"/>
                <a:gd name="csX11" fmla="*/ 0 w 2743200"/>
                <a:gd name="csY11" fmla="*/ 912414 h 2741214"/>
                <a:gd name="csX12" fmla="*/ 914400 w 2743200"/>
                <a:gd name="csY12" fmla="*/ 912414 h 2741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743200" h="2741214">
                  <a:moveTo>
                    <a:pt x="914400" y="0"/>
                  </a:moveTo>
                  <a:lnTo>
                    <a:pt x="1828800" y="0"/>
                  </a:lnTo>
                  <a:lnTo>
                    <a:pt x="1828800" y="14988"/>
                  </a:lnTo>
                  <a:lnTo>
                    <a:pt x="2743200" y="14988"/>
                  </a:lnTo>
                  <a:lnTo>
                    <a:pt x="2743200" y="929388"/>
                  </a:lnTo>
                  <a:lnTo>
                    <a:pt x="1828800" y="929388"/>
                  </a:lnTo>
                  <a:lnTo>
                    <a:pt x="1828800" y="1826814"/>
                  </a:lnTo>
                  <a:lnTo>
                    <a:pt x="914400" y="1826814"/>
                  </a:lnTo>
                  <a:lnTo>
                    <a:pt x="914400" y="2741214"/>
                  </a:lnTo>
                  <a:lnTo>
                    <a:pt x="0" y="2741214"/>
                  </a:lnTo>
                  <a:lnTo>
                    <a:pt x="0" y="1826814"/>
                  </a:lnTo>
                  <a:lnTo>
                    <a:pt x="0" y="912414"/>
                  </a:lnTo>
                  <a:lnTo>
                    <a:pt x="914400" y="912414"/>
                  </a:lnTo>
                  <a:close/>
                </a:path>
              </a:pathLst>
            </a:custGeom>
            <a:solidFill>
              <a:srgbClr val="FF0000">
                <a:alpha val="7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B7C02DF8-5421-2DF9-429B-0F3D0995CCCC}"/>
                </a:ext>
              </a:extLst>
            </p:cNvPr>
            <p:cNvSpPr/>
            <p:nvPr/>
          </p:nvSpPr>
          <p:spPr>
            <a:xfrm>
              <a:off x="8302236" y="4925611"/>
              <a:ext cx="655163" cy="654689"/>
            </a:xfrm>
            <a:custGeom>
              <a:avLst/>
              <a:gdLst>
                <a:gd name="csX0" fmla="*/ 914400 w 2743200"/>
                <a:gd name="csY0" fmla="*/ 0 h 2741214"/>
                <a:gd name="csX1" fmla="*/ 1828800 w 2743200"/>
                <a:gd name="csY1" fmla="*/ 0 h 2741214"/>
                <a:gd name="csX2" fmla="*/ 1828800 w 2743200"/>
                <a:gd name="csY2" fmla="*/ 14988 h 2741214"/>
                <a:gd name="csX3" fmla="*/ 2743200 w 2743200"/>
                <a:gd name="csY3" fmla="*/ 14988 h 2741214"/>
                <a:gd name="csX4" fmla="*/ 2743200 w 2743200"/>
                <a:gd name="csY4" fmla="*/ 929388 h 2741214"/>
                <a:gd name="csX5" fmla="*/ 1828800 w 2743200"/>
                <a:gd name="csY5" fmla="*/ 929388 h 2741214"/>
                <a:gd name="csX6" fmla="*/ 1828800 w 2743200"/>
                <a:gd name="csY6" fmla="*/ 1826814 h 2741214"/>
                <a:gd name="csX7" fmla="*/ 914400 w 2743200"/>
                <a:gd name="csY7" fmla="*/ 1826814 h 2741214"/>
                <a:gd name="csX8" fmla="*/ 914400 w 2743200"/>
                <a:gd name="csY8" fmla="*/ 2741214 h 2741214"/>
                <a:gd name="csX9" fmla="*/ 0 w 2743200"/>
                <a:gd name="csY9" fmla="*/ 2741214 h 2741214"/>
                <a:gd name="csX10" fmla="*/ 0 w 2743200"/>
                <a:gd name="csY10" fmla="*/ 1826814 h 2741214"/>
                <a:gd name="csX11" fmla="*/ 0 w 2743200"/>
                <a:gd name="csY11" fmla="*/ 912414 h 2741214"/>
                <a:gd name="csX12" fmla="*/ 914400 w 2743200"/>
                <a:gd name="csY12" fmla="*/ 912414 h 2741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743200" h="2741214">
                  <a:moveTo>
                    <a:pt x="914400" y="0"/>
                  </a:moveTo>
                  <a:lnTo>
                    <a:pt x="1828800" y="0"/>
                  </a:lnTo>
                  <a:lnTo>
                    <a:pt x="1828800" y="14988"/>
                  </a:lnTo>
                  <a:lnTo>
                    <a:pt x="2743200" y="14988"/>
                  </a:lnTo>
                  <a:lnTo>
                    <a:pt x="2743200" y="929388"/>
                  </a:lnTo>
                  <a:lnTo>
                    <a:pt x="1828800" y="929388"/>
                  </a:lnTo>
                  <a:lnTo>
                    <a:pt x="1828800" y="1826814"/>
                  </a:lnTo>
                  <a:lnTo>
                    <a:pt x="914400" y="1826814"/>
                  </a:lnTo>
                  <a:lnTo>
                    <a:pt x="914400" y="2741214"/>
                  </a:lnTo>
                  <a:lnTo>
                    <a:pt x="0" y="2741214"/>
                  </a:lnTo>
                  <a:lnTo>
                    <a:pt x="0" y="1826814"/>
                  </a:lnTo>
                  <a:lnTo>
                    <a:pt x="0" y="912414"/>
                  </a:lnTo>
                  <a:lnTo>
                    <a:pt x="914400" y="912414"/>
                  </a:lnTo>
                  <a:close/>
                </a:path>
              </a:pathLst>
            </a:custGeom>
            <a:solidFill>
              <a:srgbClr val="FFFF00">
                <a:alpha val="22000"/>
              </a:srgb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FF88D08-1447-F5EF-8858-1D1B1753DB12}"/>
              </a:ext>
            </a:extLst>
          </p:cNvPr>
          <p:cNvGrpSpPr/>
          <p:nvPr/>
        </p:nvGrpSpPr>
        <p:grpSpPr>
          <a:xfrm>
            <a:off x="6189736" y="4812653"/>
            <a:ext cx="1973747" cy="940086"/>
            <a:chOff x="8110025" y="5450815"/>
            <a:chExt cx="1973747" cy="940086"/>
          </a:xfrm>
        </p:grpSpPr>
        <p:pic>
          <p:nvPicPr>
            <p:cNvPr id="50" name="그림 49" descr="텍스트, 스크린샷, 도표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A7C83E0-87F1-B9C6-D2BE-9DA17B262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9994" t="39719" r="34405" b="30135"/>
            <a:stretch>
              <a:fillRect/>
            </a:stretch>
          </p:blipFill>
          <p:spPr>
            <a:xfrm>
              <a:off x="8110025" y="5450815"/>
              <a:ext cx="1973747" cy="940086"/>
            </a:xfrm>
            <a:prstGeom prst="rect">
              <a:avLst/>
            </a:prstGeom>
          </p:spPr>
        </p:pic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6A7343D9-D2A9-4D86-D475-908736645B0F}"/>
                </a:ext>
              </a:extLst>
            </p:cNvPr>
            <p:cNvSpPr/>
            <p:nvPr/>
          </p:nvSpPr>
          <p:spPr>
            <a:xfrm>
              <a:off x="8245135" y="5577597"/>
              <a:ext cx="491672" cy="493729"/>
            </a:xfrm>
            <a:custGeom>
              <a:avLst/>
              <a:gdLst>
                <a:gd name="csX0" fmla="*/ 0 w 1821180"/>
                <a:gd name="csY0" fmla="*/ 0 h 1828800"/>
                <a:gd name="csX1" fmla="*/ 906780 w 1821180"/>
                <a:gd name="csY1" fmla="*/ 0 h 1828800"/>
                <a:gd name="csX2" fmla="*/ 914400 w 1821180"/>
                <a:gd name="csY2" fmla="*/ 0 h 1828800"/>
                <a:gd name="csX3" fmla="*/ 1821180 w 1821180"/>
                <a:gd name="csY3" fmla="*/ 0 h 1828800"/>
                <a:gd name="csX4" fmla="*/ 1821180 w 1821180"/>
                <a:gd name="csY4" fmla="*/ 914400 h 1828800"/>
                <a:gd name="csX5" fmla="*/ 914400 w 1821180"/>
                <a:gd name="csY5" fmla="*/ 914400 h 1828800"/>
                <a:gd name="csX6" fmla="*/ 914400 w 1821180"/>
                <a:gd name="csY6" fmla="*/ 1828800 h 1828800"/>
                <a:gd name="csX7" fmla="*/ 0 w 1821180"/>
                <a:gd name="csY7" fmla="*/ 1828800 h 1828800"/>
                <a:gd name="csX8" fmla="*/ 0 w 1821180"/>
                <a:gd name="csY8" fmla="*/ 914400 h 1828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21180" h="1828800">
                  <a:moveTo>
                    <a:pt x="0" y="0"/>
                  </a:moveTo>
                  <a:lnTo>
                    <a:pt x="906780" y="0"/>
                  </a:lnTo>
                  <a:lnTo>
                    <a:pt x="914400" y="0"/>
                  </a:lnTo>
                  <a:lnTo>
                    <a:pt x="1821180" y="0"/>
                  </a:lnTo>
                  <a:lnTo>
                    <a:pt x="1821180" y="914400"/>
                  </a:lnTo>
                  <a:lnTo>
                    <a:pt x="914400" y="914400"/>
                  </a:lnTo>
                  <a:lnTo>
                    <a:pt x="914400" y="1828800"/>
                  </a:lnTo>
                  <a:lnTo>
                    <a:pt x="0" y="18288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0000">
                <a:alpha val="38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39DC0588-0254-C800-3681-63A5020B78CB}"/>
                </a:ext>
              </a:extLst>
            </p:cNvPr>
            <p:cNvSpPr/>
            <p:nvPr/>
          </p:nvSpPr>
          <p:spPr>
            <a:xfrm flipV="1">
              <a:off x="8245135" y="5824461"/>
              <a:ext cx="491672" cy="493729"/>
            </a:xfrm>
            <a:custGeom>
              <a:avLst/>
              <a:gdLst>
                <a:gd name="csX0" fmla="*/ 0 w 1821180"/>
                <a:gd name="csY0" fmla="*/ 0 h 1828800"/>
                <a:gd name="csX1" fmla="*/ 906780 w 1821180"/>
                <a:gd name="csY1" fmla="*/ 0 h 1828800"/>
                <a:gd name="csX2" fmla="*/ 914400 w 1821180"/>
                <a:gd name="csY2" fmla="*/ 0 h 1828800"/>
                <a:gd name="csX3" fmla="*/ 1821180 w 1821180"/>
                <a:gd name="csY3" fmla="*/ 0 h 1828800"/>
                <a:gd name="csX4" fmla="*/ 1821180 w 1821180"/>
                <a:gd name="csY4" fmla="*/ 914400 h 1828800"/>
                <a:gd name="csX5" fmla="*/ 914400 w 1821180"/>
                <a:gd name="csY5" fmla="*/ 914400 h 1828800"/>
                <a:gd name="csX6" fmla="*/ 914400 w 1821180"/>
                <a:gd name="csY6" fmla="*/ 1828800 h 1828800"/>
                <a:gd name="csX7" fmla="*/ 0 w 1821180"/>
                <a:gd name="csY7" fmla="*/ 1828800 h 1828800"/>
                <a:gd name="csX8" fmla="*/ 0 w 1821180"/>
                <a:gd name="csY8" fmla="*/ 914400 h 1828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21180" h="1828800">
                  <a:moveTo>
                    <a:pt x="0" y="0"/>
                  </a:moveTo>
                  <a:lnTo>
                    <a:pt x="906780" y="0"/>
                  </a:lnTo>
                  <a:lnTo>
                    <a:pt x="914400" y="0"/>
                  </a:lnTo>
                  <a:lnTo>
                    <a:pt x="1821180" y="0"/>
                  </a:lnTo>
                  <a:lnTo>
                    <a:pt x="1821180" y="914400"/>
                  </a:lnTo>
                  <a:lnTo>
                    <a:pt x="914400" y="914400"/>
                  </a:lnTo>
                  <a:lnTo>
                    <a:pt x="914400" y="1828800"/>
                  </a:lnTo>
                  <a:lnTo>
                    <a:pt x="0" y="18288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00">
                <a:alpha val="26000"/>
              </a:srgb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51FE0023-0236-A7F6-4357-F9975712FE5B}"/>
                </a:ext>
              </a:extLst>
            </p:cNvPr>
            <p:cNvSpPr/>
            <p:nvPr/>
          </p:nvSpPr>
          <p:spPr>
            <a:xfrm flipH="1">
              <a:off x="9482149" y="5577597"/>
              <a:ext cx="491672" cy="493729"/>
            </a:xfrm>
            <a:custGeom>
              <a:avLst/>
              <a:gdLst>
                <a:gd name="csX0" fmla="*/ 0 w 1821180"/>
                <a:gd name="csY0" fmla="*/ 0 h 1828800"/>
                <a:gd name="csX1" fmla="*/ 906780 w 1821180"/>
                <a:gd name="csY1" fmla="*/ 0 h 1828800"/>
                <a:gd name="csX2" fmla="*/ 914400 w 1821180"/>
                <a:gd name="csY2" fmla="*/ 0 h 1828800"/>
                <a:gd name="csX3" fmla="*/ 1821180 w 1821180"/>
                <a:gd name="csY3" fmla="*/ 0 h 1828800"/>
                <a:gd name="csX4" fmla="*/ 1821180 w 1821180"/>
                <a:gd name="csY4" fmla="*/ 914400 h 1828800"/>
                <a:gd name="csX5" fmla="*/ 914400 w 1821180"/>
                <a:gd name="csY5" fmla="*/ 914400 h 1828800"/>
                <a:gd name="csX6" fmla="*/ 914400 w 1821180"/>
                <a:gd name="csY6" fmla="*/ 1828800 h 1828800"/>
                <a:gd name="csX7" fmla="*/ 0 w 1821180"/>
                <a:gd name="csY7" fmla="*/ 1828800 h 1828800"/>
                <a:gd name="csX8" fmla="*/ 0 w 1821180"/>
                <a:gd name="csY8" fmla="*/ 914400 h 1828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21180" h="1828800">
                  <a:moveTo>
                    <a:pt x="0" y="0"/>
                  </a:moveTo>
                  <a:lnTo>
                    <a:pt x="906780" y="0"/>
                  </a:lnTo>
                  <a:lnTo>
                    <a:pt x="914400" y="0"/>
                  </a:lnTo>
                  <a:lnTo>
                    <a:pt x="1821180" y="0"/>
                  </a:lnTo>
                  <a:lnTo>
                    <a:pt x="1821180" y="914400"/>
                  </a:lnTo>
                  <a:lnTo>
                    <a:pt x="914400" y="914400"/>
                  </a:lnTo>
                  <a:lnTo>
                    <a:pt x="914400" y="1828800"/>
                  </a:lnTo>
                  <a:lnTo>
                    <a:pt x="0" y="18288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chemeClr val="accent4">
                <a:alpha val="38000"/>
              </a:schemeClr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72FBF8D3-66C1-A43E-1FDA-0A43D9EE1E13}"/>
                </a:ext>
              </a:extLst>
            </p:cNvPr>
            <p:cNvSpPr/>
            <p:nvPr/>
          </p:nvSpPr>
          <p:spPr>
            <a:xfrm flipH="1" flipV="1">
              <a:off x="9482149" y="5824461"/>
              <a:ext cx="491672" cy="493729"/>
            </a:xfrm>
            <a:custGeom>
              <a:avLst/>
              <a:gdLst>
                <a:gd name="csX0" fmla="*/ 0 w 1821180"/>
                <a:gd name="csY0" fmla="*/ 0 h 1828800"/>
                <a:gd name="csX1" fmla="*/ 906780 w 1821180"/>
                <a:gd name="csY1" fmla="*/ 0 h 1828800"/>
                <a:gd name="csX2" fmla="*/ 914400 w 1821180"/>
                <a:gd name="csY2" fmla="*/ 0 h 1828800"/>
                <a:gd name="csX3" fmla="*/ 1821180 w 1821180"/>
                <a:gd name="csY3" fmla="*/ 0 h 1828800"/>
                <a:gd name="csX4" fmla="*/ 1821180 w 1821180"/>
                <a:gd name="csY4" fmla="*/ 914400 h 1828800"/>
                <a:gd name="csX5" fmla="*/ 914400 w 1821180"/>
                <a:gd name="csY5" fmla="*/ 914400 h 1828800"/>
                <a:gd name="csX6" fmla="*/ 914400 w 1821180"/>
                <a:gd name="csY6" fmla="*/ 1828800 h 1828800"/>
                <a:gd name="csX7" fmla="*/ 0 w 1821180"/>
                <a:gd name="csY7" fmla="*/ 1828800 h 1828800"/>
                <a:gd name="csX8" fmla="*/ 0 w 1821180"/>
                <a:gd name="csY8" fmla="*/ 914400 h 1828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21180" h="1828800">
                  <a:moveTo>
                    <a:pt x="0" y="0"/>
                  </a:moveTo>
                  <a:lnTo>
                    <a:pt x="906780" y="0"/>
                  </a:lnTo>
                  <a:lnTo>
                    <a:pt x="914400" y="0"/>
                  </a:lnTo>
                  <a:lnTo>
                    <a:pt x="1821180" y="0"/>
                  </a:lnTo>
                  <a:lnTo>
                    <a:pt x="1821180" y="914400"/>
                  </a:lnTo>
                  <a:lnTo>
                    <a:pt x="914400" y="914400"/>
                  </a:lnTo>
                  <a:lnTo>
                    <a:pt x="914400" y="1828800"/>
                  </a:lnTo>
                  <a:lnTo>
                    <a:pt x="0" y="18288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92D050">
                <a:alpha val="26000"/>
              </a:srgb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27D850E5-37C6-A23E-C2E5-90D15283FE2B}"/>
                </a:ext>
              </a:extLst>
            </p:cNvPr>
            <p:cNvSpPr/>
            <p:nvPr/>
          </p:nvSpPr>
          <p:spPr>
            <a:xfrm>
              <a:off x="8245134" y="5568471"/>
              <a:ext cx="1728685" cy="255990"/>
            </a:xfrm>
            <a:prstGeom prst="rect">
              <a:avLst/>
            </a:prstGeom>
            <a:solidFill>
              <a:schemeClr val="accent1">
                <a:alpha val="38000"/>
              </a:schemeClr>
            </a:solidFill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57853049-D688-B925-9013-65963686D6D3}"/>
                </a:ext>
              </a:extLst>
            </p:cNvPr>
            <p:cNvSpPr/>
            <p:nvPr/>
          </p:nvSpPr>
          <p:spPr>
            <a:xfrm>
              <a:off x="8245135" y="6070113"/>
              <a:ext cx="1728686" cy="255990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38000"/>
              </a:schemeClr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37489590-BDAF-3330-AF78-A23A7FA45ECD}"/>
              </a:ext>
            </a:extLst>
          </p:cNvPr>
          <p:cNvSpPr/>
          <p:nvPr/>
        </p:nvSpPr>
        <p:spPr>
          <a:xfrm>
            <a:off x="8214013" y="5204640"/>
            <a:ext cx="384827" cy="30777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463F03-9B18-8756-0AE8-023E61B95C4B}"/>
              </a:ext>
            </a:extLst>
          </p:cNvPr>
          <p:cNvSpPr txBox="1"/>
          <p:nvPr/>
        </p:nvSpPr>
        <p:spPr>
          <a:xfrm>
            <a:off x="8649370" y="4885732"/>
            <a:ext cx="3312429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직선 구간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: 2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개 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(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길이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: 7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칸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코너 구간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: 4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개 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(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길이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: 3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칸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)</a:t>
            </a:r>
            <a:endParaRPr lang="en-US" altLang="ko-KR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DB0126-2F64-B9D2-3C6B-B521C179606B}"/>
              </a:ext>
            </a:extLst>
          </p:cNvPr>
          <p:cNvSpPr txBox="1"/>
          <p:nvPr/>
        </p:nvSpPr>
        <p:spPr>
          <a:xfrm>
            <a:off x="2949063" y="5769114"/>
            <a:ext cx="28192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0070C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방향 전환이 연속적으로 발생하는 구조이므로 </a:t>
            </a:r>
            <a:endParaRPr lang="en-US" altLang="ko-KR" sz="1100" dirty="0">
              <a:solidFill>
                <a:srgbClr val="0070C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sz="1100" dirty="0">
                <a:solidFill>
                  <a:srgbClr val="0070C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전체가 하나의 코너 구간으로 분류</a:t>
            </a:r>
          </a:p>
        </p:txBody>
      </p:sp>
      <p:sp>
        <p:nvSpPr>
          <p:cNvPr id="62" name="자유형: 도형 61">
            <a:extLst>
              <a:ext uri="{FF2B5EF4-FFF2-40B4-BE49-F238E27FC236}">
                <a16:creationId xmlns:a16="http://schemas.microsoft.com/office/drawing/2014/main" id="{B7C91569-AA59-7A93-877A-07AF24240DD4}"/>
              </a:ext>
            </a:extLst>
          </p:cNvPr>
          <p:cNvSpPr/>
          <p:nvPr/>
        </p:nvSpPr>
        <p:spPr>
          <a:xfrm flipH="1" flipV="1">
            <a:off x="2585421" y="5769114"/>
            <a:ext cx="335737" cy="335494"/>
          </a:xfrm>
          <a:custGeom>
            <a:avLst/>
            <a:gdLst>
              <a:gd name="csX0" fmla="*/ 914400 w 2743200"/>
              <a:gd name="csY0" fmla="*/ 0 h 2741214"/>
              <a:gd name="csX1" fmla="*/ 1828800 w 2743200"/>
              <a:gd name="csY1" fmla="*/ 0 h 2741214"/>
              <a:gd name="csX2" fmla="*/ 1828800 w 2743200"/>
              <a:gd name="csY2" fmla="*/ 14988 h 2741214"/>
              <a:gd name="csX3" fmla="*/ 2743200 w 2743200"/>
              <a:gd name="csY3" fmla="*/ 14988 h 2741214"/>
              <a:gd name="csX4" fmla="*/ 2743200 w 2743200"/>
              <a:gd name="csY4" fmla="*/ 929388 h 2741214"/>
              <a:gd name="csX5" fmla="*/ 1828800 w 2743200"/>
              <a:gd name="csY5" fmla="*/ 929388 h 2741214"/>
              <a:gd name="csX6" fmla="*/ 1828800 w 2743200"/>
              <a:gd name="csY6" fmla="*/ 1826814 h 2741214"/>
              <a:gd name="csX7" fmla="*/ 914400 w 2743200"/>
              <a:gd name="csY7" fmla="*/ 1826814 h 2741214"/>
              <a:gd name="csX8" fmla="*/ 914400 w 2743200"/>
              <a:gd name="csY8" fmla="*/ 2741214 h 2741214"/>
              <a:gd name="csX9" fmla="*/ 0 w 2743200"/>
              <a:gd name="csY9" fmla="*/ 2741214 h 2741214"/>
              <a:gd name="csX10" fmla="*/ 0 w 2743200"/>
              <a:gd name="csY10" fmla="*/ 1826814 h 2741214"/>
              <a:gd name="csX11" fmla="*/ 0 w 2743200"/>
              <a:gd name="csY11" fmla="*/ 912414 h 2741214"/>
              <a:gd name="csX12" fmla="*/ 914400 w 2743200"/>
              <a:gd name="csY12" fmla="*/ 912414 h 2741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743200" h="2741214">
                <a:moveTo>
                  <a:pt x="914400" y="0"/>
                </a:moveTo>
                <a:lnTo>
                  <a:pt x="1828800" y="0"/>
                </a:lnTo>
                <a:lnTo>
                  <a:pt x="1828800" y="14988"/>
                </a:lnTo>
                <a:lnTo>
                  <a:pt x="2743200" y="14988"/>
                </a:lnTo>
                <a:lnTo>
                  <a:pt x="2743200" y="929388"/>
                </a:lnTo>
                <a:lnTo>
                  <a:pt x="1828800" y="929388"/>
                </a:lnTo>
                <a:lnTo>
                  <a:pt x="1828800" y="1826814"/>
                </a:lnTo>
                <a:lnTo>
                  <a:pt x="914400" y="1826814"/>
                </a:lnTo>
                <a:lnTo>
                  <a:pt x="914400" y="2741214"/>
                </a:lnTo>
                <a:lnTo>
                  <a:pt x="0" y="2741214"/>
                </a:lnTo>
                <a:lnTo>
                  <a:pt x="0" y="1826814"/>
                </a:lnTo>
                <a:lnTo>
                  <a:pt x="0" y="912414"/>
                </a:lnTo>
                <a:lnTo>
                  <a:pt x="914400" y="912414"/>
                </a:lnTo>
                <a:close/>
              </a:path>
            </a:pathLst>
          </a:custGeom>
          <a:solidFill>
            <a:schemeClr val="accent4">
              <a:lumMod val="50000"/>
              <a:alpha val="7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2888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4F3B9-4C0A-DFCA-BA63-54F56D7B3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06B124-18D0-81F5-64C9-F8E35A8DB28A}"/>
              </a:ext>
            </a:extLst>
          </p:cNvPr>
          <p:cNvSpPr txBox="1"/>
          <p:nvPr/>
        </p:nvSpPr>
        <p:spPr>
          <a:xfrm>
            <a:off x="5280050" y="196334"/>
            <a:ext cx="1615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개념 정의 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2</a:t>
            </a:r>
            <a:endParaRPr lang="ko-KR" altLang="en-US" sz="24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D7B93-0830-E704-D8FD-2A9AC7CAFF93}"/>
              </a:ext>
            </a:extLst>
          </p:cNvPr>
          <p:cNvSpPr txBox="1"/>
          <p:nvPr/>
        </p:nvSpPr>
        <p:spPr>
          <a:xfrm>
            <a:off x="3428453" y="657999"/>
            <a:ext cx="5335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전투 리듬 분석의 기준 단위를 맵 구조에 기반해 고정하기 위해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</a:p>
          <a:p>
            <a:pPr algn="ctr"/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‘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핵심 </a:t>
            </a:r>
            <a:r>
              <a:rPr lang="ko-KR" altLang="en-US" sz="1600" b="1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구간</a:t>
            </a:r>
            <a:r>
              <a:rPr lang="ko-KR" altLang="en-US" sz="16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’과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‘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완충 </a:t>
            </a:r>
            <a:r>
              <a:rPr lang="ko-KR" altLang="en-US" sz="1600" b="1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지대</a:t>
            </a:r>
            <a:r>
              <a:rPr lang="ko-KR" altLang="en-US" sz="16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’를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구조적 개념으로 정의한다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endParaRPr lang="ko-KR" altLang="en-US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A0A2009-D000-2CBE-776D-6641C8449ABD}"/>
              </a:ext>
            </a:extLst>
          </p:cNvPr>
          <p:cNvSpPr/>
          <p:nvPr/>
        </p:nvSpPr>
        <p:spPr>
          <a:xfrm>
            <a:off x="317005" y="1691731"/>
            <a:ext cx="4178795" cy="3305407"/>
          </a:xfrm>
          <a:prstGeom prst="roundRect">
            <a:avLst>
              <a:gd name="adj" fmla="val 2583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A343D6-47AC-89A3-44E3-887FA0A83895}"/>
              </a:ext>
            </a:extLst>
          </p:cNvPr>
          <p:cNvSpPr/>
          <p:nvPr/>
        </p:nvSpPr>
        <p:spPr>
          <a:xfrm>
            <a:off x="505763" y="1242774"/>
            <a:ext cx="2092490" cy="448958"/>
          </a:xfrm>
          <a:prstGeom prst="roundRect">
            <a:avLst>
              <a:gd name="adj" fmla="val 937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설계 가정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042E32C-AD6A-0F7C-474F-FB68AE085A2B}"/>
              </a:ext>
            </a:extLst>
          </p:cNvPr>
          <p:cNvGrpSpPr/>
          <p:nvPr/>
        </p:nvGrpSpPr>
        <p:grpSpPr>
          <a:xfrm>
            <a:off x="578177" y="1916862"/>
            <a:ext cx="3656449" cy="1248635"/>
            <a:chOff x="8334376" y="3634849"/>
            <a:chExt cx="3656449" cy="124863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55757B-4EF0-93BA-9D9F-278D72982B50}"/>
                </a:ext>
              </a:extLst>
            </p:cNvPr>
            <p:cNvSpPr txBox="1"/>
            <p:nvPr/>
          </p:nvSpPr>
          <p:spPr>
            <a:xfrm>
              <a:off x="9210900" y="3634849"/>
              <a:ext cx="2100255" cy="883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dirty="0">
                  <a:latin typeface="나눔스퀘어OTF_ac ExtraBold" panose="020B0600000101010101" pitchFamily="34" charset="-127"/>
                  <a:ea typeface="나눔스퀘어OTF_ac ExtraBold" panose="020B0600000101010101" pitchFamily="34" charset="-127"/>
                </a:rPr>
                <a:t>&lt;</a:t>
              </a:r>
              <a:r>
                <a:rPr lang="ko-KR" altLang="en-US" dirty="0">
                  <a:latin typeface="나눔스퀘어OTF_ac ExtraBold" panose="020B0600000101010101" pitchFamily="34" charset="-127"/>
                  <a:ea typeface="나눔스퀘어OTF_ac ExtraBold" panose="020B0600000101010101" pitchFamily="34" charset="-127"/>
                </a:rPr>
                <a:t>이탈</a:t>
              </a:r>
              <a:r>
                <a:rPr lang="en-US" altLang="ko-KR" dirty="0">
                  <a:latin typeface="나눔스퀘어OTF_ac ExtraBold" panose="020B0600000101010101" pitchFamily="34" charset="-127"/>
                  <a:ea typeface="나눔스퀘어OTF_ac ExtraBold" panose="020B0600000101010101" pitchFamily="34" charset="-127"/>
                </a:rPr>
                <a:t>&gt;</a:t>
              </a:r>
            </a:p>
            <a:p>
              <a:pPr algn="ctr">
                <a:lnSpc>
                  <a:spcPct val="150000"/>
                </a:lnSpc>
              </a:pPr>
              <a:r>
                <a:rPr lang="ko-KR" altLang="en-US" u="sng" dirty="0">
                  <a:solidFill>
                    <a:srgbClr val="C00000"/>
                  </a:solidFill>
                  <a:latin typeface="나눔스퀘어OTF_ac Bold" panose="020B0600000101010101" pitchFamily="34" charset="-127"/>
                  <a:ea typeface="나눔스퀘어OTF_ac Bold" panose="020B0600000101010101" pitchFamily="34" charset="-127"/>
                </a:rPr>
                <a:t>완충 지대</a:t>
              </a:r>
              <a:r>
                <a:rPr lang="ko-KR" altLang="en-US" dirty="0">
                  <a:latin typeface="나눔스퀘어OTF_ac Bold" panose="020B0600000101010101" pitchFamily="34" charset="-127"/>
                  <a:ea typeface="나눔스퀘어OTF_ac Bold" panose="020B0600000101010101" pitchFamily="34" charset="-127"/>
                </a:rPr>
                <a:t>가 넓을수록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C16101-CF9B-5A1B-8763-271A77623B91}"/>
                </a:ext>
              </a:extLst>
            </p:cNvPr>
            <p:cNvSpPr txBox="1"/>
            <p:nvPr/>
          </p:nvSpPr>
          <p:spPr>
            <a:xfrm>
              <a:off x="8531224" y="4575707"/>
              <a:ext cx="34596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전투 리듬 </a:t>
              </a:r>
              <a:r>
                <a:rPr lang="ko-KR" altLang="en-US" sz="1400" b="1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이탈</a:t>
              </a: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빈도가 </a:t>
              </a:r>
              <a:r>
                <a:rPr lang="ko-KR" altLang="en-US" sz="1400" b="1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증가</a:t>
              </a:r>
              <a:r>
                <a: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할 가능성이 높다</a:t>
              </a:r>
              <a:r>
                <a:rPr lang="en-US" altLang="ko-KR" sz="1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.</a:t>
              </a: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65AB936A-842D-B9FE-52C9-AD0D10F169DF}"/>
                </a:ext>
              </a:extLst>
            </p:cNvPr>
            <p:cNvCxnSpPr/>
            <p:nvPr/>
          </p:nvCxnSpPr>
          <p:spPr>
            <a:xfrm>
              <a:off x="8334376" y="4735514"/>
              <a:ext cx="24288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0D4BC51-A031-EE87-C3B4-CFB3B4614C64}"/>
                </a:ext>
              </a:extLst>
            </p:cNvPr>
            <p:cNvSpPr txBox="1"/>
            <p:nvPr/>
          </p:nvSpPr>
          <p:spPr>
            <a:xfrm>
              <a:off x="8995030" y="3973769"/>
              <a:ext cx="8515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C00000"/>
                  </a:solidFill>
                  <a:latin typeface="나눔스퀘어OTF Light" panose="020B0600000101010101" pitchFamily="34" charset="-127"/>
                  <a:ea typeface="나눔스퀘어OTF Light" panose="020B0600000101010101" pitchFamily="34" charset="-127"/>
                </a:rPr>
                <a:t>설계 변수 </a:t>
              </a:r>
              <a:r>
                <a:rPr lang="en-US" altLang="ko-KR" sz="1100" dirty="0">
                  <a:solidFill>
                    <a:srgbClr val="C00000"/>
                  </a:solidFill>
                  <a:latin typeface="나눔스퀘어OTF Light" panose="020B0600000101010101" pitchFamily="34" charset="-127"/>
                  <a:ea typeface="나눔스퀘어OTF Light" panose="020B0600000101010101" pitchFamily="34" charset="-127"/>
                </a:rPr>
                <a:t>3</a:t>
              </a:r>
              <a:endParaRPr lang="ko-KR" altLang="en-US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4B60A84-65D2-A810-9431-3BC01AC2F097}"/>
              </a:ext>
            </a:extLst>
          </p:cNvPr>
          <p:cNvGrpSpPr/>
          <p:nvPr/>
        </p:nvGrpSpPr>
        <p:grpSpPr>
          <a:xfrm>
            <a:off x="1594900" y="3409287"/>
            <a:ext cx="1406652" cy="1171042"/>
            <a:chOff x="2749342" y="1687998"/>
            <a:chExt cx="3240000" cy="2697310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DFBD764-65F5-BC7F-9788-98E2E20CCECE}"/>
                </a:ext>
              </a:extLst>
            </p:cNvPr>
            <p:cNvSpPr/>
            <p:nvPr/>
          </p:nvSpPr>
          <p:spPr>
            <a:xfrm>
              <a:off x="3829342" y="222530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E965E8DF-78AE-37B5-2569-EF39F2273B67}"/>
                </a:ext>
              </a:extLst>
            </p:cNvPr>
            <p:cNvSpPr/>
            <p:nvPr/>
          </p:nvSpPr>
          <p:spPr>
            <a:xfrm>
              <a:off x="3289342" y="276530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C410E17-C353-8CBB-0576-A2CE71FB4E7B}"/>
                </a:ext>
              </a:extLst>
            </p:cNvPr>
            <p:cNvSpPr/>
            <p:nvPr/>
          </p:nvSpPr>
          <p:spPr>
            <a:xfrm>
              <a:off x="2749342" y="276530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6FBD17A-001E-E50A-05D4-AB5D7DDC2A0B}"/>
                </a:ext>
              </a:extLst>
            </p:cNvPr>
            <p:cNvSpPr/>
            <p:nvPr/>
          </p:nvSpPr>
          <p:spPr>
            <a:xfrm>
              <a:off x="2749342" y="330530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8B11334-24D7-6979-A6A1-12B6504C97D1}"/>
                </a:ext>
              </a:extLst>
            </p:cNvPr>
            <p:cNvSpPr/>
            <p:nvPr/>
          </p:nvSpPr>
          <p:spPr>
            <a:xfrm>
              <a:off x="2749342" y="384530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C5D910D-4227-6EEA-9E0A-057338C4E06A}"/>
                </a:ext>
              </a:extLst>
            </p:cNvPr>
            <p:cNvSpPr/>
            <p:nvPr/>
          </p:nvSpPr>
          <p:spPr>
            <a:xfrm>
              <a:off x="4369342" y="168799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93A04414-3BF2-2149-3747-52AD44B2EF74}"/>
                </a:ext>
              </a:extLst>
            </p:cNvPr>
            <p:cNvSpPr/>
            <p:nvPr/>
          </p:nvSpPr>
          <p:spPr>
            <a:xfrm>
              <a:off x="3289342" y="222530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7A12A29-84FF-5F8F-DEE2-67796E37EBA7}"/>
                </a:ext>
              </a:extLst>
            </p:cNvPr>
            <p:cNvSpPr/>
            <p:nvPr/>
          </p:nvSpPr>
          <p:spPr>
            <a:xfrm>
              <a:off x="3829342" y="168799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4AB05DDB-6556-82C6-484A-EF125C9D7AC4}"/>
                </a:ext>
              </a:extLst>
            </p:cNvPr>
            <p:cNvSpPr/>
            <p:nvPr/>
          </p:nvSpPr>
          <p:spPr>
            <a:xfrm>
              <a:off x="5449342" y="329992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BA3EB307-B2D6-FDD3-A883-0EF79F41C958}"/>
                </a:ext>
              </a:extLst>
            </p:cNvPr>
            <p:cNvSpPr/>
            <p:nvPr/>
          </p:nvSpPr>
          <p:spPr>
            <a:xfrm>
              <a:off x="5449342" y="275992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F9EF54C-FCA9-0C1F-18CF-D00B26E51076}"/>
                </a:ext>
              </a:extLst>
            </p:cNvPr>
            <p:cNvSpPr/>
            <p:nvPr/>
          </p:nvSpPr>
          <p:spPr>
            <a:xfrm>
              <a:off x="382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8E6D69A-1513-0AE2-D736-5E2BCAF2ED12}"/>
                </a:ext>
              </a:extLst>
            </p:cNvPr>
            <p:cNvSpPr/>
            <p:nvPr/>
          </p:nvSpPr>
          <p:spPr>
            <a:xfrm>
              <a:off x="328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77BB1A4-2F24-A681-6666-261CF5819490}"/>
                </a:ext>
              </a:extLst>
            </p:cNvPr>
            <p:cNvSpPr/>
            <p:nvPr/>
          </p:nvSpPr>
          <p:spPr>
            <a:xfrm>
              <a:off x="544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4A3689B-2BE5-EA8D-4784-684B3493CFA1}"/>
                </a:ext>
              </a:extLst>
            </p:cNvPr>
            <p:cNvSpPr/>
            <p:nvPr/>
          </p:nvSpPr>
          <p:spPr>
            <a:xfrm>
              <a:off x="490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3C4A302-BF47-8BFA-D676-6C127E7BF33A}"/>
                </a:ext>
              </a:extLst>
            </p:cNvPr>
            <p:cNvSpPr/>
            <p:nvPr/>
          </p:nvSpPr>
          <p:spPr>
            <a:xfrm>
              <a:off x="436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75E70C2B-F8F5-A243-6444-70B4B644666C}"/>
                </a:ext>
              </a:extLst>
            </p:cNvPr>
            <p:cNvSpPr/>
            <p:nvPr/>
          </p:nvSpPr>
          <p:spPr>
            <a:xfrm>
              <a:off x="4909342" y="168799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58CEC6AC-040D-9E1B-3E5D-DD0436B4FCB9}"/>
                </a:ext>
              </a:extLst>
            </p:cNvPr>
            <p:cNvSpPr/>
            <p:nvPr/>
          </p:nvSpPr>
          <p:spPr>
            <a:xfrm>
              <a:off x="5449342" y="2230688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5F1CC79-128E-2756-26EC-028EEA015CFE}"/>
                </a:ext>
              </a:extLst>
            </p:cNvPr>
            <p:cNvSpPr/>
            <p:nvPr/>
          </p:nvSpPr>
          <p:spPr>
            <a:xfrm>
              <a:off x="5449342" y="1689343"/>
              <a:ext cx="540000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9856AD31-A52A-01F4-64DF-FEF5E784A555}"/>
              </a:ext>
            </a:extLst>
          </p:cNvPr>
          <p:cNvSpPr txBox="1"/>
          <p:nvPr/>
        </p:nvSpPr>
        <p:spPr>
          <a:xfrm>
            <a:off x="6885033" y="1522246"/>
            <a:ext cx="361028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</a:t>
            </a:r>
            <a:r>
              <a:rPr lang="ko-KR" altLang="en-US" sz="2400" dirty="0">
                <a:solidFill>
                  <a:srgbClr val="C00000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핵심 구간</a:t>
            </a:r>
            <a:r>
              <a:rPr lang="en-US" altLang="ko-KR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</a:t>
            </a:r>
          </a:p>
          <a:p>
            <a:pPr algn="ctr"/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교전이 장기화되기 쉬운 공간 단위로</a:t>
            </a:r>
            <a:r>
              <a:rPr lang="en-US" altLang="ko-KR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</a:t>
            </a:r>
          </a:p>
          <a:p>
            <a:pPr algn="ctr"/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6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칸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*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이상 </a:t>
            </a:r>
            <a:r>
              <a:rPr lang="ko-KR" altLang="en-US" u="sng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연속된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</a:t>
            </a:r>
            <a:r>
              <a:rPr lang="ko-KR" altLang="en-US" b="1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직선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또는 </a:t>
            </a:r>
            <a:r>
              <a:rPr lang="ko-KR" altLang="en-US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코너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</a:t>
            </a:r>
            <a:r>
              <a:rPr lang="ko-KR" altLang="en-US" dirty="0">
                <a:solidFill>
                  <a:srgbClr val="0070C0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구간</a:t>
            </a:r>
            <a:endParaRPr lang="en-US" altLang="ko-KR" dirty="0">
              <a:solidFill>
                <a:srgbClr val="0070C0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  <a:p>
            <a:pPr algn="ctr"/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42AE64B-23B4-73DB-9CED-99C1A8389D20}"/>
              </a:ext>
            </a:extLst>
          </p:cNvPr>
          <p:cNvSpPr txBox="1"/>
          <p:nvPr/>
        </p:nvSpPr>
        <p:spPr>
          <a:xfrm>
            <a:off x="6279900" y="2983304"/>
            <a:ext cx="48205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</a:t>
            </a:r>
            <a:r>
              <a:rPr lang="ko-KR" altLang="en-US" sz="2400" dirty="0">
                <a:solidFill>
                  <a:srgbClr val="C00000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완충 지대</a:t>
            </a:r>
            <a:r>
              <a:rPr lang="en-US" altLang="ko-KR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</a:t>
            </a:r>
          </a:p>
          <a:p>
            <a:pPr algn="ctr"/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전투 리듬이 완화되기 쉬운 구조적 연결 영역으로</a:t>
            </a:r>
            <a:r>
              <a:rPr lang="en-US" altLang="ko-KR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</a:t>
            </a:r>
          </a:p>
          <a:p>
            <a:pPr algn="ctr"/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두 개 이상의 </a:t>
            </a:r>
            <a:r>
              <a:rPr lang="ko-KR" altLang="en-US" b="1" u="sng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핵심 구간 사이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에 위치한 타일들의 </a:t>
            </a:r>
            <a:r>
              <a:rPr lang="ko-KR" altLang="en-US" dirty="0">
                <a:solidFill>
                  <a:srgbClr val="0070C0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집합</a:t>
            </a:r>
            <a:endParaRPr lang="en-US" altLang="ko-KR" dirty="0">
              <a:solidFill>
                <a:srgbClr val="0070C0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80" name="자유형: 도형 79">
            <a:extLst>
              <a:ext uri="{FF2B5EF4-FFF2-40B4-BE49-F238E27FC236}">
                <a16:creationId xmlns:a16="http://schemas.microsoft.com/office/drawing/2014/main" id="{4196D7A1-9651-BA0A-DD81-4B8308F6AD95}"/>
              </a:ext>
            </a:extLst>
          </p:cNvPr>
          <p:cNvSpPr/>
          <p:nvPr/>
        </p:nvSpPr>
        <p:spPr>
          <a:xfrm flipH="1" flipV="1">
            <a:off x="5919956" y="1920583"/>
            <a:ext cx="685800" cy="685304"/>
          </a:xfrm>
          <a:custGeom>
            <a:avLst/>
            <a:gdLst>
              <a:gd name="csX0" fmla="*/ 914400 w 2743200"/>
              <a:gd name="csY0" fmla="*/ 0 h 2741214"/>
              <a:gd name="csX1" fmla="*/ 1828800 w 2743200"/>
              <a:gd name="csY1" fmla="*/ 0 h 2741214"/>
              <a:gd name="csX2" fmla="*/ 1828800 w 2743200"/>
              <a:gd name="csY2" fmla="*/ 14988 h 2741214"/>
              <a:gd name="csX3" fmla="*/ 2743200 w 2743200"/>
              <a:gd name="csY3" fmla="*/ 14988 h 2741214"/>
              <a:gd name="csX4" fmla="*/ 2743200 w 2743200"/>
              <a:gd name="csY4" fmla="*/ 929388 h 2741214"/>
              <a:gd name="csX5" fmla="*/ 1828800 w 2743200"/>
              <a:gd name="csY5" fmla="*/ 929388 h 2741214"/>
              <a:gd name="csX6" fmla="*/ 1828800 w 2743200"/>
              <a:gd name="csY6" fmla="*/ 1826814 h 2741214"/>
              <a:gd name="csX7" fmla="*/ 914400 w 2743200"/>
              <a:gd name="csY7" fmla="*/ 1826814 h 2741214"/>
              <a:gd name="csX8" fmla="*/ 914400 w 2743200"/>
              <a:gd name="csY8" fmla="*/ 2741214 h 2741214"/>
              <a:gd name="csX9" fmla="*/ 0 w 2743200"/>
              <a:gd name="csY9" fmla="*/ 2741214 h 2741214"/>
              <a:gd name="csX10" fmla="*/ 0 w 2743200"/>
              <a:gd name="csY10" fmla="*/ 1826814 h 2741214"/>
              <a:gd name="csX11" fmla="*/ 0 w 2743200"/>
              <a:gd name="csY11" fmla="*/ 912414 h 2741214"/>
              <a:gd name="csX12" fmla="*/ 914400 w 2743200"/>
              <a:gd name="csY12" fmla="*/ 912414 h 2741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743200" h="2741214">
                <a:moveTo>
                  <a:pt x="914400" y="0"/>
                </a:moveTo>
                <a:lnTo>
                  <a:pt x="1828800" y="0"/>
                </a:lnTo>
                <a:lnTo>
                  <a:pt x="1828800" y="14988"/>
                </a:lnTo>
                <a:lnTo>
                  <a:pt x="2743200" y="14988"/>
                </a:lnTo>
                <a:lnTo>
                  <a:pt x="2743200" y="929388"/>
                </a:lnTo>
                <a:lnTo>
                  <a:pt x="1828800" y="929388"/>
                </a:lnTo>
                <a:lnTo>
                  <a:pt x="1828800" y="1826814"/>
                </a:lnTo>
                <a:lnTo>
                  <a:pt x="914400" y="1826814"/>
                </a:lnTo>
                <a:lnTo>
                  <a:pt x="914400" y="2741214"/>
                </a:lnTo>
                <a:lnTo>
                  <a:pt x="0" y="2741214"/>
                </a:lnTo>
                <a:lnTo>
                  <a:pt x="0" y="1826814"/>
                </a:lnTo>
                <a:lnTo>
                  <a:pt x="0" y="912414"/>
                </a:lnTo>
                <a:lnTo>
                  <a:pt x="914400" y="912414"/>
                </a:lnTo>
                <a:close/>
              </a:path>
            </a:pathLst>
          </a:custGeom>
          <a:solidFill>
            <a:schemeClr val="accent4">
              <a:lumMod val="50000"/>
              <a:alpha val="7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D5BE7489-75AE-BF1B-BF2A-166EE2E2411D}"/>
              </a:ext>
            </a:extLst>
          </p:cNvPr>
          <p:cNvSpPr/>
          <p:nvPr/>
        </p:nvSpPr>
        <p:spPr>
          <a:xfrm>
            <a:off x="5587461" y="3418743"/>
            <a:ext cx="206533" cy="2065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52DEAA73-58DE-824F-7E2A-B32494D243EF}"/>
              </a:ext>
            </a:extLst>
          </p:cNvPr>
          <p:cNvSpPr/>
          <p:nvPr/>
        </p:nvSpPr>
        <p:spPr>
          <a:xfrm>
            <a:off x="5355792" y="3768070"/>
            <a:ext cx="206533" cy="2065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1B7F24A-4C18-99C5-DB91-3510852F89A1}"/>
              </a:ext>
            </a:extLst>
          </p:cNvPr>
          <p:cNvSpPr/>
          <p:nvPr/>
        </p:nvSpPr>
        <p:spPr>
          <a:xfrm>
            <a:off x="5799185" y="3768070"/>
            <a:ext cx="206533" cy="2065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D681D15-9565-465D-4FA6-377DEAFDF3B8}"/>
              </a:ext>
            </a:extLst>
          </p:cNvPr>
          <p:cNvSpPr txBox="1"/>
          <p:nvPr/>
        </p:nvSpPr>
        <p:spPr>
          <a:xfrm>
            <a:off x="3672938" y="2639467"/>
            <a:ext cx="2819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100" dirty="0">
                <a:solidFill>
                  <a:srgbClr val="0070C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구간 단위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251657F-9D57-AE94-67E1-2C53A0E20041}"/>
              </a:ext>
            </a:extLst>
          </p:cNvPr>
          <p:cNvSpPr txBox="1"/>
          <p:nvPr/>
        </p:nvSpPr>
        <p:spPr>
          <a:xfrm>
            <a:off x="3235994" y="4071963"/>
            <a:ext cx="2819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100" dirty="0">
                <a:solidFill>
                  <a:srgbClr val="0070C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타일 단위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0CB3214-CF0F-FF1A-17A3-F2D856727D54}"/>
              </a:ext>
            </a:extLst>
          </p:cNvPr>
          <p:cNvSpPr/>
          <p:nvPr/>
        </p:nvSpPr>
        <p:spPr>
          <a:xfrm>
            <a:off x="7110712" y="5601100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406699C-A36E-9108-8778-BF7422CF7ABA}"/>
              </a:ext>
            </a:extLst>
          </p:cNvPr>
          <p:cNvSpPr/>
          <p:nvPr/>
        </p:nvSpPr>
        <p:spPr>
          <a:xfrm>
            <a:off x="6876270" y="5835542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913B589-D3FF-8D40-20F7-2BC6B63B3597}"/>
              </a:ext>
            </a:extLst>
          </p:cNvPr>
          <p:cNvSpPr/>
          <p:nvPr/>
        </p:nvSpPr>
        <p:spPr>
          <a:xfrm>
            <a:off x="6641828" y="5835542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E1FD15A5-7E22-2A33-26DF-159436D0CA85}"/>
              </a:ext>
            </a:extLst>
          </p:cNvPr>
          <p:cNvSpPr/>
          <p:nvPr/>
        </p:nvSpPr>
        <p:spPr>
          <a:xfrm>
            <a:off x="6641828" y="6069984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33069D8-53AD-3304-8568-D01E9E72CE94}"/>
              </a:ext>
            </a:extLst>
          </p:cNvPr>
          <p:cNvSpPr/>
          <p:nvPr/>
        </p:nvSpPr>
        <p:spPr>
          <a:xfrm>
            <a:off x="6641828" y="6304426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B65A61EE-25E2-EBEF-C641-9C923E91C014}"/>
              </a:ext>
            </a:extLst>
          </p:cNvPr>
          <p:cNvSpPr/>
          <p:nvPr/>
        </p:nvSpPr>
        <p:spPr>
          <a:xfrm>
            <a:off x="7345154" y="5367826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5F70695A-B5DC-2AD3-02B7-A3204CA75288}"/>
              </a:ext>
            </a:extLst>
          </p:cNvPr>
          <p:cNvSpPr/>
          <p:nvPr/>
        </p:nvSpPr>
        <p:spPr>
          <a:xfrm>
            <a:off x="6876270" y="5601100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5818C4C-5DCA-2CBA-8962-9ACDBDB15923}"/>
              </a:ext>
            </a:extLst>
          </p:cNvPr>
          <p:cNvSpPr/>
          <p:nvPr/>
        </p:nvSpPr>
        <p:spPr>
          <a:xfrm>
            <a:off x="7110712" y="5367826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6E22B8CB-4675-E997-0948-8063243AA2D1}"/>
              </a:ext>
            </a:extLst>
          </p:cNvPr>
          <p:cNvSpPr/>
          <p:nvPr/>
        </p:nvSpPr>
        <p:spPr>
          <a:xfrm>
            <a:off x="7814038" y="6067648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07A6C604-1DD3-A5E4-5109-3B72193841FC}"/>
              </a:ext>
            </a:extLst>
          </p:cNvPr>
          <p:cNvSpPr/>
          <p:nvPr/>
        </p:nvSpPr>
        <p:spPr>
          <a:xfrm>
            <a:off x="7814038" y="5833206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539C243-EA1F-A70A-928E-A6C9141BAA3D}"/>
              </a:ext>
            </a:extLst>
          </p:cNvPr>
          <p:cNvSpPr/>
          <p:nvPr/>
        </p:nvSpPr>
        <p:spPr>
          <a:xfrm>
            <a:off x="7110712" y="6302090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BBAFC96-CD16-575D-D7F4-5A9929A3C4A1}"/>
              </a:ext>
            </a:extLst>
          </p:cNvPr>
          <p:cNvSpPr/>
          <p:nvPr/>
        </p:nvSpPr>
        <p:spPr>
          <a:xfrm>
            <a:off x="6876270" y="6302090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F1025529-2735-47A5-BDC8-B18FD60D9816}"/>
              </a:ext>
            </a:extLst>
          </p:cNvPr>
          <p:cNvSpPr/>
          <p:nvPr/>
        </p:nvSpPr>
        <p:spPr>
          <a:xfrm>
            <a:off x="7814038" y="6302090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52ADE0C3-FE54-65E2-1FA8-E81D4091FC65}"/>
              </a:ext>
            </a:extLst>
          </p:cNvPr>
          <p:cNvSpPr/>
          <p:nvPr/>
        </p:nvSpPr>
        <p:spPr>
          <a:xfrm>
            <a:off x="7579596" y="6302090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7682F10-B16A-2086-CFE0-2D740CA79AD6}"/>
              </a:ext>
            </a:extLst>
          </p:cNvPr>
          <p:cNvSpPr/>
          <p:nvPr/>
        </p:nvSpPr>
        <p:spPr>
          <a:xfrm>
            <a:off x="7345154" y="6302090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919497C-37BF-CB08-BB73-C1F6A65EC280}"/>
              </a:ext>
            </a:extLst>
          </p:cNvPr>
          <p:cNvSpPr/>
          <p:nvPr/>
        </p:nvSpPr>
        <p:spPr>
          <a:xfrm>
            <a:off x="7579596" y="5367826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29164BA-3D6A-91FB-7BDB-E164A7F0E1C3}"/>
              </a:ext>
            </a:extLst>
          </p:cNvPr>
          <p:cNvSpPr/>
          <p:nvPr/>
        </p:nvSpPr>
        <p:spPr>
          <a:xfrm>
            <a:off x="7814038" y="5603436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B82022DA-C31E-7EDE-2DA4-E21F3FAB97AE}"/>
              </a:ext>
            </a:extLst>
          </p:cNvPr>
          <p:cNvSpPr/>
          <p:nvPr/>
        </p:nvSpPr>
        <p:spPr>
          <a:xfrm>
            <a:off x="7814038" y="5368410"/>
            <a:ext cx="234442" cy="23444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자유형: 도형 111">
            <a:extLst>
              <a:ext uri="{FF2B5EF4-FFF2-40B4-BE49-F238E27FC236}">
                <a16:creationId xmlns:a16="http://schemas.microsoft.com/office/drawing/2014/main" id="{EE12A002-687F-C12A-841B-4FC45092E155}"/>
              </a:ext>
            </a:extLst>
          </p:cNvPr>
          <p:cNvSpPr/>
          <p:nvPr/>
        </p:nvSpPr>
        <p:spPr>
          <a:xfrm>
            <a:off x="6641828" y="5367826"/>
            <a:ext cx="937768" cy="936600"/>
          </a:xfrm>
          <a:custGeom>
            <a:avLst/>
            <a:gdLst>
              <a:gd name="csX0" fmla="*/ 468884 w 937768"/>
              <a:gd name="csY0" fmla="*/ 0 h 936600"/>
              <a:gd name="csX1" fmla="*/ 703326 w 937768"/>
              <a:gd name="csY1" fmla="*/ 0 h 936600"/>
              <a:gd name="csX2" fmla="*/ 937768 w 937768"/>
              <a:gd name="csY2" fmla="*/ 0 h 936600"/>
              <a:gd name="csX3" fmla="*/ 937768 w 937768"/>
              <a:gd name="csY3" fmla="*/ 234442 h 936600"/>
              <a:gd name="csX4" fmla="*/ 703326 w 937768"/>
              <a:gd name="csY4" fmla="*/ 234442 h 936600"/>
              <a:gd name="csX5" fmla="*/ 703326 w 937768"/>
              <a:gd name="csY5" fmla="*/ 467716 h 936600"/>
              <a:gd name="csX6" fmla="*/ 468884 w 937768"/>
              <a:gd name="csY6" fmla="*/ 467716 h 936600"/>
              <a:gd name="csX7" fmla="*/ 468884 w 937768"/>
              <a:gd name="csY7" fmla="*/ 702158 h 936600"/>
              <a:gd name="csX8" fmla="*/ 234442 w 937768"/>
              <a:gd name="csY8" fmla="*/ 702158 h 936600"/>
              <a:gd name="csX9" fmla="*/ 234442 w 937768"/>
              <a:gd name="csY9" fmla="*/ 936600 h 936600"/>
              <a:gd name="csX10" fmla="*/ 0 w 937768"/>
              <a:gd name="csY10" fmla="*/ 936600 h 936600"/>
              <a:gd name="csX11" fmla="*/ 0 w 937768"/>
              <a:gd name="csY11" fmla="*/ 702158 h 936600"/>
              <a:gd name="csX12" fmla="*/ 0 w 937768"/>
              <a:gd name="csY12" fmla="*/ 467716 h 936600"/>
              <a:gd name="csX13" fmla="*/ 234442 w 937768"/>
              <a:gd name="csY13" fmla="*/ 467716 h 936600"/>
              <a:gd name="csX14" fmla="*/ 234442 w 937768"/>
              <a:gd name="csY14" fmla="*/ 233274 h 936600"/>
              <a:gd name="csX15" fmla="*/ 468884 w 937768"/>
              <a:gd name="csY15" fmla="*/ 233274 h 936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937768" h="936600">
                <a:moveTo>
                  <a:pt x="468884" y="0"/>
                </a:moveTo>
                <a:lnTo>
                  <a:pt x="703326" y="0"/>
                </a:lnTo>
                <a:lnTo>
                  <a:pt x="937768" y="0"/>
                </a:lnTo>
                <a:lnTo>
                  <a:pt x="937768" y="234442"/>
                </a:lnTo>
                <a:lnTo>
                  <a:pt x="703326" y="234442"/>
                </a:lnTo>
                <a:lnTo>
                  <a:pt x="703326" y="467716"/>
                </a:lnTo>
                <a:lnTo>
                  <a:pt x="468884" y="467716"/>
                </a:lnTo>
                <a:lnTo>
                  <a:pt x="468884" y="702158"/>
                </a:lnTo>
                <a:lnTo>
                  <a:pt x="234442" y="702158"/>
                </a:lnTo>
                <a:lnTo>
                  <a:pt x="234442" y="936600"/>
                </a:lnTo>
                <a:lnTo>
                  <a:pt x="0" y="936600"/>
                </a:lnTo>
                <a:lnTo>
                  <a:pt x="0" y="702158"/>
                </a:lnTo>
                <a:lnTo>
                  <a:pt x="0" y="467716"/>
                </a:lnTo>
                <a:lnTo>
                  <a:pt x="234442" y="467716"/>
                </a:lnTo>
                <a:lnTo>
                  <a:pt x="234442" y="233274"/>
                </a:lnTo>
                <a:lnTo>
                  <a:pt x="468884" y="233274"/>
                </a:lnTo>
                <a:close/>
              </a:path>
            </a:pathLst>
          </a:custGeom>
          <a:solidFill>
            <a:srgbClr val="FF0000">
              <a:alpha val="17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C072AF46-9BA9-80EB-3D1F-0A1A8E8A9B78}"/>
              </a:ext>
            </a:extLst>
          </p:cNvPr>
          <p:cNvSpPr/>
          <p:nvPr/>
        </p:nvSpPr>
        <p:spPr>
          <a:xfrm>
            <a:off x="6641828" y="6297418"/>
            <a:ext cx="1389126" cy="239114"/>
          </a:xfrm>
          <a:prstGeom prst="rect">
            <a:avLst/>
          </a:prstGeom>
          <a:solidFill>
            <a:schemeClr val="accent4">
              <a:alpha val="32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B90ED03B-9B6E-FCB2-030E-514C41533200}"/>
              </a:ext>
            </a:extLst>
          </p:cNvPr>
          <p:cNvGrpSpPr/>
          <p:nvPr/>
        </p:nvGrpSpPr>
        <p:grpSpPr>
          <a:xfrm>
            <a:off x="8149180" y="4895647"/>
            <a:ext cx="701316" cy="1397391"/>
            <a:chOff x="6306798" y="5255393"/>
            <a:chExt cx="468884" cy="934264"/>
          </a:xfrm>
        </p:grpSpPr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5DB19070-5326-E487-213A-B958FB4BC6B3}"/>
                </a:ext>
              </a:extLst>
            </p:cNvPr>
            <p:cNvSpPr/>
            <p:nvPr/>
          </p:nvSpPr>
          <p:spPr>
            <a:xfrm>
              <a:off x="6541240" y="5955215"/>
              <a:ext cx="234442" cy="2344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28E70C38-F02E-0468-BCE1-6502BB336EEE}"/>
                </a:ext>
              </a:extLst>
            </p:cNvPr>
            <p:cNvSpPr/>
            <p:nvPr/>
          </p:nvSpPr>
          <p:spPr>
            <a:xfrm>
              <a:off x="6541240" y="5720773"/>
              <a:ext cx="234442" cy="2344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7BEE0674-041A-1CE5-453B-6917B9DE02C5}"/>
                </a:ext>
              </a:extLst>
            </p:cNvPr>
            <p:cNvSpPr/>
            <p:nvPr/>
          </p:nvSpPr>
          <p:spPr>
            <a:xfrm>
              <a:off x="6306798" y="5255393"/>
              <a:ext cx="234442" cy="2344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73A24AB8-4549-EDD9-0E06-458D5F4244F8}"/>
                </a:ext>
              </a:extLst>
            </p:cNvPr>
            <p:cNvSpPr/>
            <p:nvPr/>
          </p:nvSpPr>
          <p:spPr>
            <a:xfrm>
              <a:off x="6541240" y="5491003"/>
              <a:ext cx="234442" cy="2344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C6996723-330A-039D-4928-72B4F507D3BD}"/>
                </a:ext>
              </a:extLst>
            </p:cNvPr>
            <p:cNvSpPr/>
            <p:nvPr/>
          </p:nvSpPr>
          <p:spPr>
            <a:xfrm>
              <a:off x="6541240" y="5255977"/>
              <a:ext cx="234442" cy="2344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8ABC8E44-AF1B-B131-DEFC-8E6983A7A551}"/>
              </a:ext>
            </a:extLst>
          </p:cNvPr>
          <p:cNvCxnSpPr>
            <a:endCxn id="112" idx="2"/>
          </p:cNvCxnSpPr>
          <p:nvPr/>
        </p:nvCxnSpPr>
        <p:spPr>
          <a:xfrm flipH="1">
            <a:off x="7579596" y="4895647"/>
            <a:ext cx="569584" cy="47217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74A97BA1-59BD-EE58-E866-1DBAAA65120E}"/>
              </a:ext>
            </a:extLst>
          </p:cNvPr>
          <p:cNvCxnSpPr>
            <a:cxnSpLocks/>
          </p:cNvCxnSpPr>
          <p:nvPr/>
        </p:nvCxnSpPr>
        <p:spPr>
          <a:xfrm flipH="1">
            <a:off x="8048480" y="6293038"/>
            <a:ext cx="45135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55B47E81-353D-82DD-BBEF-850140E4AC9A}"/>
              </a:ext>
            </a:extLst>
          </p:cNvPr>
          <p:cNvSpPr txBox="1"/>
          <p:nvPr/>
        </p:nvSpPr>
        <p:spPr>
          <a:xfrm>
            <a:off x="4067005" y="6596390"/>
            <a:ext cx="2819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100" dirty="0">
                <a:solidFill>
                  <a:srgbClr val="0070C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핵심 구간 </a:t>
            </a:r>
            <a:r>
              <a:rPr lang="en-US" altLang="ko-KR" sz="1100" dirty="0">
                <a:solidFill>
                  <a:srgbClr val="0070C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B</a:t>
            </a:r>
            <a:endParaRPr lang="ko-KR" altLang="en-US" sz="1100" dirty="0">
              <a:solidFill>
                <a:srgbClr val="0070C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5569D79-D817-C511-72C9-80DA5B928833}"/>
              </a:ext>
            </a:extLst>
          </p:cNvPr>
          <p:cNvSpPr txBox="1"/>
          <p:nvPr/>
        </p:nvSpPr>
        <p:spPr>
          <a:xfrm>
            <a:off x="4065756" y="5386961"/>
            <a:ext cx="2819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핵심 구간 </a:t>
            </a:r>
            <a:r>
              <a:rPr lang="en-US" altLang="ko-KR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A</a:t>
            </a:r>
            <a:endParaRPr lang="ko-KR" altLang="en-US" sz="1100" dirty="0">
              <a:solidFill>
                <a:srgbClr val="C0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CEF39E9-B4E0-6A13-F23C-5E2B7C9B6FE0}"/>
              </a:ext>
            </a:extLst>
          </p:cNvPr>
          <p:cNvSpPr txBox="1"/>
          <p:nvPr/>
        </p:nvSpPr>
        <p:spPr>
          <a:xfrm>
            <a:off x="9049232" y="5367826"/>
            <a:ext cx="28192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완충 지대 </a:t>
            </a:r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(5</a:t>
            </a:r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칸</a:t>
            </a:r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)</a:t>
            </a:r>
            <a:endParaRPr lang="ko-KR" altLang="en-US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70DC299-A714-D722-C36C-5C7F790E3566}"/>
              </a:ext>
            </a:extLst>
          </p:cNvPr>
          <p:cNvSpPr txBox="1"/>
          <p:nvPr/>
        </p:nvSpPr>
        <p:spPr>
          <a:xfrm>
            <a:off x="426599" y="6429891"/>
            <a:ext cx="6458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*6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칸인 이유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</a:t>
            </a:r>
            <a:r>
              <a:rPr lang="ko-KR" altLang="en-US" sz="1400" i="1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루덴스</a:t>
            </a:r>
            <a:r>
              <a:rPr lang="ko-KR" altLang="en-US" sz="1400" i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무기의 최대 이동 거리 및 공격 사거리가 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이므로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775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6EA6B-F6BD-3B82-6AE6-EA3DF8800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85D468-1296-39C4-718E-CD331A94F48E}"/>
              </a:ext>
            </a:extLst>
          </p:cNvPr>
          <p:cNvSpPr txBox="1"/>
          <p:nvPr/>
        </p:nvSpPr>
        <p:spPr>
          <a:xfrm>
            <a:off x="5320104" y="196334"/>
            <a:ext cx="1919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추가 설계 원칙</a:t>
            </a:r>
            <a:endParaRPr lang="ko-KR" altLang="en-US" sz="24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DAD85-9DF8-B37C-3215-AD7B9D07B347}"/>
              </a:ext>
            </a:extLst>
          </p:cNvPr>
          <p:cNvSpPr txBox="1"/>
          <p:nvPr/>
        </p:nvSpPr>
        <p:spPr>
          <a:xfrm>
            <a:off x="5636934" y="657999"/>
            <a:ext cx="1285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그런데 과연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...</a:t>
            </a:r>
            <a:endParaRPr lang="ko-KR" altLang="en-US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8586245D-574D-3CA1-E810-40268EEB98DB}"/>
              </a:ext>
            </a:extLst>
          </p:cNvPr>
          <p:cNvSpPr/>
          <p:nvPr/>
        </p:nvSpPr>
        <p:spPr>
          <a:xfrm>
            <a:off x="397670" y="804879"/>
            <a:ext cx="2092490" cy="448958"/>
          </a:xfrm>
          <a:prstGeom prst="roundRect">
            <a:avLst>
              <a:gd name="adj" fmla="val 93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설계 가정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9F399B7A-170E-33EB-2444-01B3FF25DD58}"/>
              </a:ext>
            </a:extLst>
          </p:cNvPr>
          <p:cNvSpPr/>
          <p:nvPr/>
        </p:nvSpPr>
        <p:spPr>
          <a:xfrm>
            <a:off x="124996" y="1253836"/>
            <a:ext cx="11942008" cy="3159429"/>
          </a:xfrm>
          <a:prstGeom prst="roundRect">
            <a:avLst>
              <a:gd name="adj" fmla="val 258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852D10-5C5B-048F-AA73-06E31722C25C}"/>
              </a:ext>
            </a:extLst>
          </p:cNvPr>
          <p:cNvSpPr txBox="1"/>
          <p:nvPr/>
        </p:nvSpPr>
        <p:spPr>
          <a:xfrm>
            <a:off x="1063555" y="1311313"/>
            <a:ext cx="1890262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</a:t>
            </a:r>
            <a:r>
              <a:rPr lang="ko-KR" altLang="en-US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진입</a:t>
            </a: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</a:t>
            </a:r>
          </a:p>
          <a:p>
            <a:pPr algn="ctr">
              <a:lnSpc>
                <a:spcPct val="150000"/>
              </a:lnSpc>
            </a:pPr>
            <a:r>
              <a:rPr lang="ko-KR" altLang="en-US" u="sng" dirty="0">
                <a:solidFill>
                  <a:srgbClr val="C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직선 구간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 길수록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B90134-4D38-DBF6-4CCB-54AF21E03134}"/>
              </a:ext>
            </a:extLst>
          </p:cNvPr>
          <p:cNvSpPr txBox="1"/>
          <p:nvPr/>
        </p:nvSpPr>
        <p:spPr>
          <a:xfrm>
            <a:off x="5045875" y="1311312"/>
            <a:ext cx="2100255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</a:t>
            </a:r>
            <a:r>
              <a:rPr lang="ko-KR" altLang="en-US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유지</a:t>
            </a: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</a:t>
            </a:r>
          </a:p>
          <a:p>
            <a:pPr algn="ctr">
              <a:lnSpc>
                <a:spcPct val="150000"/>
              </a:lnSpc>
            </a:pPr>
            <a:r>
              <a:rPr lang="ko-KR" altLang="en-US" u="sng" dirty="0">
                <a:solidFill>
                  <a:srgbClr val="C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코너 구간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 넓을수록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26CE6C9-08F6-52A2-3A77-058B20ABC951}"/>
              </a:ext>
            </a:extLst>
          </p:cNvPr>
          <p:cNvSpPr txBox="1"/>
          <p:nvPr/>
        </p:nvSpPr>
        <p:spPr>
          <a:xfrm>
            <a:off x="9210901" y="1311312"/>
            <a:ext cx="2100255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</a:t>
            </a:r>
            <a:r>
              <a:rPr lang="ko-KR" altLang="en-US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이탈</a:t>
            </a:r>
            <a:r>
              <a:rPr lang="en-US" altLang="ko-KR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</a:t>
            </a:r>
          </a:p>
          <a:p>
            <a:pPr algn="ctr">
              <a:lnSpc>
                <a:spcPct val="150000"/>
              </a:lnSpc>
            </a:pPr>
            <a:r>
              <a:rPr lang="ko-KR" altLang="en-US" u="sng" dirty="0">
                <a:solidFill>
                  <a:srgbClr val="C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완충 지대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가 넓을수록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2CAF7CC-426A-0F41-74E9-4AC31816027C}"/>
              </a:ext>
            </a:extLst>
          </p:cNvPr>
          <p:cNvSpPr txBox="1"/>
          <p:nvPr/>
        </p:nvSpPr>
        <p:spPr>
          <a:xfrm>
            <a:off x="462429" y="2252171"/>
            <a:ext cx="3092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전투 리듬 </a:t>
            </a:r>
            <a:r>
              <a:rPr lang="ko-KR" altLang="en-US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진입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 </a:t>
            </a:r>
            <a:r>
              <a:rPr lang="ko-KR" altLang="en-US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빨라질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가능성이 높다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0F9C903-8ADD-4130-F519-BF1442C14E8A}"/>
              </a:ext>
            </a:extLst>
          </p:cNvPr>
          <p:cNvSpPr txBox="1"/>
          <p:nvPr/>
        </p:nvSpPr>
        <p:spPr>
          <a:xfrm>
            <a:off x="4363795" y="2253722"/>
            <a:ext cx="3464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전투 리듬 </a:t>
            </a:r>
            <a:r>
              <a:rPr lang="ko-KR" altLang="en-US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유지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구간이 </a:t>
            </a:r>
            <a:r>
              <a:rPr lang="ko-KR" altLang="en-US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길어질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가능성이 높다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C042E05-D321-1948-259A-7D94E0582F96}"/>
              </a:ext>
            </a:extLst>
          </p:cNvPr>
          <p:cNvSpPr txBox="1"/>
          <p:nvPr/>
        </p:nvSpPr>
        <p:spPr>
          <a:xfrm>
            <a:off x="8531225" y="2252170"/>
            <a:ext cx="3459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전투 리듬 </a:t>
            </a:r>
            <a:r>
              <a:rPr lang="ko-KR" altLang="en-US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이탈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빈도가 </a:t>
            </a:r>
            <a:r>
              <a:rPr lang="ko-KR" altLang="en-US" sz="14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증가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할 가능성이 높다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140D38E5-93E8-3B22-BF8A-2EED6EA6C682}"/>
              </a:ext>
            </a:extLst>
          </p:cNvPr>
          <p:cNvCxnSpPr/>
          <p:nvPr/>
        </p:nvCxnSpPr>
        <p:spPr>
          <a:xfrm>
            <a:off x="276227" y="2422295"/>
            <a:ext cx="2428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C7FF61E0-B9F3-1425-0EBA-4573C80F4C36}"/>
              </a:ext>
            </a:extLst>
          </p:cNvPr>
          <p:cNvCxnSpPr/>
          <p:nvPr/>
        </p:nvCxnSpPr>
        <p:spPr>
          <a:xfrm>
            <a:off x="4168777" y="2411977"/>
            <a:ext cx="2428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71F082B4-869E-5AA2-A516-CEFF6072B7E3}"/>
              </a:ext>
            </a:extLst>
          </p:cNvPr>
          <p:cNvCxnSpPr/>
          <p:nvPr/>
        </p:nvCxnSpPr>
        <p:spPr>
          <a:xfrm>
            <a:off x="8334377" y="2411977"/>
            <a:ext cx="2428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그림 75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838FC4-E4AA-F160-BF33-C7D5F39853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00" t="23191" r="26273" b="19028"/>
          <a:stretch>
            <a:fillRect/>
          </a:stretch>
        </p:blipFill>
        <p:spPr>
          <a:xfrm>
            <a:off x="5382824" y="2833550"/>
            <a:ext cx="1259740" cy="1213956"/>
          </a:xfrm>
          <a:prstGeom prst="rect">
            <a:avLst/>
          </a:prstGeom>
        </p:spPr>
      </p:pic>
      <p:pic>
        <p:nvPicPr>
          <p:cNvPr id="77" name="그림 76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ADEF20-49F7-6D0F-B944-A5B7DAE572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994" t="39719" r="34405" b="30135"/>
          <a:stretch>
            <a:fillRect/>
          </a:stretch>
        </p:blipFill>
        <p:spPr>
          <a:xfrm>
            <a:off x="873665" y="2922934"/>
            <a:ext cx="1973747" cy="940086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B3BFF0D8-F8A0-91E4-10C7-C49B76C4C5F1}"/>
              </a:ext>
            </a:extLst>
          </p:cNvPr>
          <p:cNvSpPr txBox="1"/>
          <p:nvPr/>
        </p:nvSpPr>
        <p:spPr>
          <a:xfrm>
            <a:off x="4957069" y="1650232"/>
            <a:ext cx="851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설계 변수 </a:t>
            </a:r>
            <a:r>
              <a:rPr lang="en-US" altLang="ko-KR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</a:t>
            </a:r>
            <a:endParaRPr lang="ko-KR" altLang="en-US" sz="1100" dirty="0">
              <a:solidFill>
                <a:srgbClr val="C0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084DA6D-7816-D2CE-466F-05E858C25C2D}"/>
              </a:ext>
            </a:extLst>
          </p:cNvPr>
          <p:cNvSpPr txBox="1"/>
          <p:nvPr/>
        </p:nvSpPr>
        <p:spPr>
          <a:xfrm>
            <a:off x="773074" y="1655180"/>
            <a:ext cx="851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설계 변수 </a:t>
            </a:r>
            <a:r>
              <a:rPr lang="en-US" altLang="ko-KR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</a:t>
            </a:r>
            <a:endParaRPr lang="ko-KR" altLang="en-US" sz="1100" dirty="0">
              <a:solidFill>
                <a:srgbClr val="C0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ACD9AC4-6AFE-3B8B-6849-4AE2A3812C51}"/>
              </a:ext>
            </a:extLst>
          </p:cNvPr>
          <p:cNvSpPr txBox="1"/>
          <p:nvPr/>
        </p:nvSpPr>
        <p:spPr>
          <a:xfrm>
            <a:off x="8995031" y="1650232"/>
            <a:ext cx="8515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설계 변수 </a:t>
            </a:r>
            <a:r>
              <a:rPr lang="en-US" altLang="ko-KR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3</a:t>
            </a:r>
            <a:endParaRPr lang="ko-KR" altLang="en-US" sz="1100" dirty="0">
              <a:solidFill>
                <a:srgbClr val="C0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ADDD20D8-CAA5-FC1F-AF6E-918E1849983A}"/>
              </a:ext>
            </a:extLst>
          </p:cNvPr>
          <p:cNvGrpSpPr/>
          <p:nvPr/>
        </p:nvGrpSpPr>
        <p:grpSpPr>
          <a:xfrm>
            <a:off x="9420788" y="2839380"/>
            <a:ext cx="1260364" cy="1049257"/>
            <a:chOff x="2749342" y="1687998"/>
            <a:chExt cx="3240000" cy="2697310"/>
          </a:xfrm>
        </p:grpSpPr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EA8C913E-6938-D605-8351-DD74DF1974CA}"/>
                </a:ext>
              </a:extLst>
            </p:cNvPr>
            <p:cNvSpPr/>
            <p:nvPr/>
          </p:nvSpPr>
          <p:spPr>
            <a:xfrm>
              <a:off x="3829342" y="222530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4676DDE9-BD9F-6E94-78DE-DFF302E372B0}"/>
                </a:ext>
              </a:extLst>
            </p:cNvPr>
            <p:cNvSpPr/>
            <p:nvPr/>
          </p:nvSpPr>
          <p:spPr>
            <a:xfrm>
              <a:off x="3289342" y="276530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53C5CAB8-C5D2-07FB-92A7-B89977BF43E7}"/>
                </a:ext>
              </a:extLst>
            </p:cNvPr>
            <p:cNvSpPr/>
            <p:nvPr/>
          </p:nvSpPr>
          <p:spPr>
            <a:xfrm>
              <a:off x="2749342" y="276530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009AF25C-A90E-AA2D-ED08-1A116F556737}"/>
                </a:ext>
              </a:extLst>
            </p:cNvPr>
            <p:cNvSpPr/>
            <p:nvPr/>
          </p:nvSpPr>
          <p:spPr>
            <a:xfrm>
              <a:off x="2749342" y="330530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F16C5913-E53C-2232-B226-0204CEF3405B}"/>
                </a:ext>
              </a:extLst>
            </p:cNvPr>
            <p:cNvSpPr/>
            <p:nvPr/>
          </p:nvSpPr>
          <p:spPr>
            <a:xfrm>
              <a:off x="2749342" y="384530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F2C69B57-537D-F3E2-AC1C-2DFFA253D0E8}"/>
                </a:ext>
              </a:extLst>
            </p:cNvPr>
            <p:cNvSpPr/>
            <p:nvPr/>
          </p:nvSpPr>
          <p:spPr>
            <a:xfrm>
              <a:off x="4369342" y="168799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E0CF8973-B240-CBC2-1DDC-9D1825C3A003}"/>
                </a:ext>
              </a:extLst>
            </p:cNvPr>
            <p:cNvSpPr/>
            <p:nvPr/>
          </p:nvSpPr>
          <p:spPr>
            <a:xfrm>
              <a:off x="3289342" y="222530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9EF8A74D-57C7-C16F-605A-40712A50308B}"/>
                </a:ext>
              </a:extLst>
            </p:cNvPr>
            <p:cNvSpPr/>
            <p:nvPr/>
          </p:nvSpPr>
          <p:spPr>
            <a:xfrm>
              <a:off x="3829342" y="168799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4848A230-D51A-8337-6351-6A9261987874}"/>
                </a:ext>
              </a:extLst>
            </p:cNvPr>
            <p:cNvSpPr/>
            <p:nvPr/>
          </p:nvSpPr>
          <p:spPr>
            <a:xfrm>
              <a:off x="5449342" y="329992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027C2055-E871-7A2D-E251-AE65CEA3A754}"/>
                </a:ext>
              </a:extLst>
            </p:cNvPr>
            <p:cNvSpPr/>
            <p:nvPr/>
          </p:nvSpPr>
          <p:spPr>
            <a:xfrm>
              <a:off x="5449342" y="275992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934679B9-E5AF-091C-C1C6-D6A1C9797279}"/>
                </a:ext>
              </a:extLst>
            </p:cNvPr>
            <p:cNvSpPr/>
            <p:nvPr/>
          </p:nvSpPr>
          <p:spPr>
            <a:xfrm>
              <a:off x="382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148A6C80-7ACB-560F-57A9-5629FF7019F6}"/>
                </a:ext>
              </a:extLst>
            </p:cNvPr>
            <p:cNvSpPr/>
            <p:nvPr/>
          </p:nvSpPr>
          <p:spPr>
            <a:xfrm>
              <a:off x="328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9D3EA8B4-EB06-AD15-4D86-B4C19F6D339B}"/>
                </a:ext>
              </a:extLst>
            </p:cNvPr>
            <p:cNvSpPr/>
            <p:nvPr/>
          </p:nvSpPr>
          <p:spPr>
            <a:xfrm>
              <a:off x="544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AB2C534E-E7EE-E152-EC5A-AD77DCCC07E0}"/>
                </a:ext>
              </a:extLst>
            </p:cNvPr>
            <p:cNvSpPr/>
            <p:nvPr/>
          </p:nvSpPr>
          <p:spPr>
            <a:xfrm>
              <a:off x="490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0A32ED10-6C01-4C97-7FD3-F07FB1A924E7}"/>
                </a:ext>
              </a:extLst>
            </p:cNvPr>
            <p:cNvSpPr/>
            <p:nvPr/>
          </p:nvSpPr>
          <p:spPr>
            <a:xfrm>
              <a:off x="4369342" y="383992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5DEB5A51-2889-E6BC-1508-F79CB67BFBF0}"/>
                </a:ext>
              </a:extLst>
            </p:cNvPr>
            <p:cNvSpPr/>
            <p:nvPr/>
          </p:nvSpPr>
          <p:spPr>
            <a:xfrm>
              <a:off x="4909342" y="168799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718316AE-815A-5EB8-5157-B4C8584845F1}"/>
                </a:ext>
              </a:extLst>
            </p:cNvPr>
            <p:cNvSpPr/>
            <p:nvPr/>
          </p:nvSpPr>
          <p:spPr>
            <a:xfrm>
              <a:off x="5449342" y="2230688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0C666F27-2881-BDAC-4A0D-98CE702ACC4F}"/>
                </a:ext>
              </a:extLst>
            </p:cNvPr>
            <p:cNvSpPr/>
            <p:nvPr/>
          </p:nvSpPr>
          <p:spPr>
            <a:xfrm>
              <a:off x="5449342" y="1689343"/>
              <a:ext cx="540000" cy="54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8C33BDA8-74B2-7591-CA2C-CD20F2681505}"/>
              </a:ext>
            </a:extLst>
          </p:cNvPr>
          <p:cNvSpPr/>
          <p:nvPr/>
        </p:nvSpPr>
        <p:spPr>
          <a:xfrm>
            <a:off x="8105240" y="1253835"/>
            <a:ext cx="3958361" cy="3159429"/>
          </a:xfrm>
          <a:prstGeom prst="roundRect">
            <a:avLst>
              <a:gd name="adj" fmla="val 258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369C1375-3DF9-259D-2ECD-5785CF60C7B4}"/>
              </a:ext>
            </a:extLst>
          </p:cNvPr>
          <p:cNvGrpSpPr/>
          <p:nvPr/>
        </p:nvGrpSpPr>
        <p:grpSpPr>
          <a:xfrm>
            <a:off x="520255" y="4813939"/>
            <a:ext cx="2208668" cy="1643890"/>
            <a:chOff x="6641828" y="4894978"/>
            <a:chExt cx="2208668" cy="1643890"/>
          </a:xfrm>
        </p:grpSpPr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09315EB3-5B4B-B806-3F6B-E94AEAFE9D5D}"/>
                </a:ext>
              </a:extLst>
            </p:cNvPr>
            <p:cNvSpPr/>
            <p:nvPr/>
          </p:nvSpPr>
          <p:spPr>
            <a:xfrm>
              <a:off x="7110712" y="5601100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438281DE-5E62-2961-C7F0-9889DFBF9FA1}"/>
                </a:ext>
              </a:extLst>
            </p:cNvPr>
            <p:cNvSpPr/>
            <p:nvPr/>
          </p:nvSpPr>
          <p:spPr>
            <a:xfrm>
              <a:off x="6876270" y="5835542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08B0241E-EC03-DE92-54F8-6D5E9D2E571E}"/>
                </a:ext>
              </a:extLst>
            </p:cNvPr>
            <p:cNvSpPr/>
            <p:nvPr/>
          </p:nvSpPr>
          <p:spPr>
            <a:xfrm>
              <a:off x="6641828" y="5835542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ED8B3402-A9B3-CD43-D1E4-F8D4EB583A09}"/>
                </a:ext>
              </a:extLst>
            </p:cNvPr>
            <p:cNvSpPr/>
            <p:nvPr/>
          </p:nvSpPr>
          <p:spPr>
            <a:xfrm>
              <a:off x="6641828" y="6069984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0B81E433-4B71-3474-0439-77BF2E341272}"/>
                </a:ext>
              </a:extLst>
            </p:cNvPr>
            <p:cNvSpPr/>
            <p:nvPr/>
          </p:nvSpPr>
          <p:spPr>
            <a:xfrm>
              <a:off x="6641828" y="6304426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C5970B18-F513-A355-DD74-FB923CC455EC}"/>
                </a:ext>
              </a:extLst>
            </p:cNvPr>
            <p:cNvSpPr/>
            <p:nvPr/>
          </p:nvSpPr>
          <p:spPr>
            <a:xfrm>
              <a:off x="7345154" y="5367826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78F4C5A-B705-21B0-2C84-082DD8FAFE01}"/>
                </a:ext>
              </a:extLst>
            </p:cNvPr>
            <p:cNvSpPr/>
            <p:nvPr/>
          </p:nvSpPr>
          <p:spPr>
            <a:xfrm>
              <a:off x="6876270" y="5601100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677EBD90-9D76-FF3A-FB8A-48C194DDAFD3}"/>
                </a:ext>
              </a:extLst>
            </p:cNvPr>
            <p:cNvSpPr/>
            <p:nvPr/>
          </p:nvSpPr>
          <p:spPr>
            <a:xfrm>
              <a:off x="7110712" y="5367826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441B62EF-9B81-684A-0C20-E97AD517447C}"/>
                </a:ext>
              </a:extLst>
            </p:cNvPr>
            <p:cNvSpPr/>
            <p:nvPr/>
          </p:nvSpPr>
          <p:spPr>
            <a:xfrm>
              <a:off x="7814038" y="6067648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159C80D8-5A63-348C-C8F8-735FC68DD18B}"/>
                </a:ext>
              </a:extLst>
            </p:cNvPr>
            <p:cNvSpPr/>
            <p:nvPr/>
          </p:nvSpPr>
          <p:spPr>
            <a:xfrm>
              <a:off x="7814038" y="5833206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536C8008-278C-2A96-4649-E869D7A7B215}"/>
                </a:ext>
              </a:extLst>
            </p:cNvPr>
            <p:cNvSpPr/>
            <p:nvPr/>
          </p:nvSpPr>
          <p:spPr>
            <a:xfrm>
              <a:off x="7110712" y="6302090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E614DD2E-41A3-E6B1-968C-FF44EBECA6EA}"/>
                </a:ext>
              </a:extLst>
            </p:cNvPr>
            <p:cNvSpPr/>
            <p:nvPr/>
          </p:nvSpPr>
          <p:spPr>
            <a:xfrm>
              <a:off x="6876270" y="6302090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827A242D-E7D9-3F14-9FC8-82F38A6479C6}"/>
                </a:ext>
              </a:extLst>
            </p:cNvPr>
            <p:cNvSpPr/>
            <p:nvPr/>
          </p:nvSpPr>
          <p:spPr>
            <a:xfrm>
              <a:off x="7814038" y="6302090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8735E787-959F-A033-DD66-4DCB5CC554DA}"/>
                </a:ext>
              </a:extLst>
            </p:cNvPr>
            <p:cNvSpPr/>
            <p:nvPr/>
          </p:nvSpPr>
          <p:spPr>
            <a:xfrm>
              <a:off x="7579596" y="6302090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61F8455E-3C81-C68F-472C-193DA3718CD7}"/>
                </a:ext>
              </a:extLst>
            </p:cNvPr>
            <p:cNvSpPr/>
            <p:nvPr/>
          </p:nvSpPr>
          <p:spPr>
            <a:xfrm>
              <a:off x="7345154" y="6302090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BE8746B6-6E4A-7BC8-A62C-8C1EA08640E6}"/>
                </a:ext>
              </a:extLst>
            </p:cNvPr>
            <p:cNvSpPr/>
            <p:nvPr/>
          </p:nvSpPr>
          <p:spPr>
            <a:xfrm>
              <a:off x="7579596" y="5367826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0B86DADB-9E20-84E4-3749-6C7153E5924C}"/>
                </a:ext>
              </a:extLst>
            </p:cNvPr>
            <p:cNvSpPr/>
            <p:nvPr/>
          </p:nvSpPr>
          <p:spPr>
            <a:xfrm>
              <a:off x="7814038" y="5603436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96B5F8CA-15FD-F94D-FE5C-B36518A04F4B}"/>
                </a:ext>
              </a:extLst>
            </p:cNvPr>
            <p:cNvSpPr/>
            <p:nvPr/>
          </p:nvSpPr>
          <p:spPr>
            <a:xfrm>
              <a:off x="7814038" y="5368410"/>
              <a:ext cx="234442" cy="23444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자유형: 도형 159">
              <a:extLst>
                <a:ext uri="{FF2B5EF4-FFF2-40B4-BE49-F238E27FC236}">
                  <a16:creationId xmlns:a16="http://schemas.microsoft.com/office/drawing/2014/main" id="{EA155197-573F-5587-AA3D-080B48BFFA5C}"/>
                </a:ext>
              </a:extLst>
            </p:cNvPr>
            <p:cNvSpPr/>
            <p:nvPr/>
          </p:nvSpPr>
          <p:spPr>
            <a:xfrm>
              <a:off x="6641828" y="5367826"/>
              <a:ext cx="937768" cy="936600"/>
            </a:xfrm>
            <a:custGeom>
              <a:avLst/>
              <a:gdLst>
                <a:gd name="csX0" fmla="*/ 468884 w 937768"/>
                <a:gd name="csY0" fmla="*/ 0 h 936600"/>
                <a:gd name="csX1" fmla="*/ 703326 w 937768"/>
                <a:gd name="csY1" fmla="*/ 0 h 936600"/>
                <a:gd name="csX2" fmla="*/ 937768 w 937768"/>
                <a:gd name="csY2" fmla="*/ 0 h 936600"/>
                <a:gd name="csX3" fmla="*/ 937768 w 937768"/>
                <a:gd name="csY3" fmla="*/ 234442 h 936600"/>
                <a:gd name="csX4" fmla="*/ 703326 w 937768"/>
                <a:gd name="csY4" fmla="*/ 234442 h 936600"/>
                <a:gd name="csX5" fmla="*/ 703326 w 937768"/>
                <a:gd name="csY5" fmla="*/ 467716 h 936600"/>
                <a:gd name="csX6" fmla="*/ 468884 w 937768"/>
                <a:gd name="csY6" fmla="*/ 467716 h 936600"/>
                <a:gd name="csX7" fmla="*/ 468884 w 937768"/>
                <a:gd name="csY7" fmla="*/ 702158 h 936600"/>
                <a:gd name="csX8" fmla="*/ 234442 w 937768"/>
                <a:gd name="csY8" fmla="*/ 702158 h 936600"/>
                <a:gd name="csX9" fmla="*/ 234442 w 937768"/>
                <a:gd name="csY9" fmla="*/ 936600 h 936600"/>
                <a:gd name="csX10" fmla="*/ 0 w 937768"/>
                <a:gd name="csY10" fmla="*/ 936600 h 936600"/>
                <a:gd name="csX11" fmla="*/ 0 w 937768"/>
                <a:gd name="csY11" fmla="*/ 702158 h 936600"/>
                <a:gd name="csX12" fmla="*/ 0 w 937768"/>
                <a:gd name="csY12" fmla="*/ 467716 h 936600"/>
                <a:gd name="csX13" fmla="*/ 234442 w 937768"/>
                <a:gd name="csY13" fmla="*/ 467716 h 936600"/>
                <a:gd name="csX14" fmla="*/ 234442 w 937768"/>
                <a:gd name="csY14" fmla="*/ 233274 h 936600"/>
                <a:gd name="csX15" fmla="*/ 468884 w 937768"/>
                <a:gd name="csY15" fmla="*/ 233274 h 936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937768" h="936600">
                  <a:moveTo>
                    <a:pt x="468884" y="0"/>
                  </a:moveTo>
                  <a:lnTo>
                    <a:pt x="703326" y="0"/>
                  </a:lnTo>
                  <a:lnTo>
                    <a:pt x="937768" y="0"/>
                  </a:lnTo>
                  <a:lnTo>
                    <a:pt x="937768" y="234442"/>
                  </a:lnTo>
                  <a:lnTo>
                    <a:pt x="703326" y="234442"/>
                  </a:lnTo>
                  <a:lnTo>
                    <a:pt x="703326" y="467716"/>
                  </a:lnTo>
                  <a:lnTo>
                    <a:pt x="468884" y="467716"/>
                  </a:lnTo>
                  <a:lnTo>
                    <a:pt x="468884" y="702158"/>
                  </a:lnTo>
                  <a:lnTo>
                    <a:pt x="234442" y="702158"/>
                  </a:lnTo>
                  <a:lnTo>
                    <a:pt x="234442" y="936600"/>
                  </a:lnTo>
                  <a:lnTo>
                    <a:pt x="0" y="936600"/>
                  </a:lnTo>
                  <a:lnTo>
                    <a:pt x="0" y="702158"/>
                  </a:lnTo>
                  <a:lnTo>
                    <a:pt x="0" y="467716"/>
                  </a:lnTo>
                  <a:lnTo>
                    <a:pt x="234442" y="467716"/>
                  </a:lnTo>
                  <a:lnTo>
                    <a:pt x="234442" y="233274"/>
                  </a:lnTo>
                  <a:lnTo>
                    <a:pt x="468884" y="233274"/>
                  </a:lnTo>
                  <a:close/>
                </a:path>
              </a:pathLst>
            </a:custGeom>
            <a:solidFill>
              <a:srgbClr val="FF0000">
                <a:alpha val="17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7984B723-18D2-BD40-412F-5FAA94CEF9BC}"/>
                </a:ext>
              </a:extLst>
            </p:cNvPr>
            <p:cNvSpPr/>
            <p:nvPr/>
          </p:nvSpPr>
          <p:spPr>
            <a:xfrm>
              <a:off x="6641828" y="6297418"/>
              <a:ext cx="1389126" cy="239114"/>
            </a:xfrm>
            <a:prstGeom prst="rect">
              <a:avLst/>
            </a:prstGeom>
            <a:solidFill>
              <a:schemeClr val="accent4">
                <a:alpha val="32000"/>
              </a:schemeClr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2" name="그룹 161">
              <a:extLst>
                <a:ext uri="{FF2B5EF4-FFF2-40B4-BE49-F238E27FC236}">
                  <a16:creationId xmlns:a16="http://schemas.microsoft.com/office/drawing/2014/main" id="{B4FB8CB9-8BBA-2EC9-795D-C18999819256}"/>
                </a:ext>
              </a:extLst>
            </p:cNvPr>
            <p:cNvGrpSpPr/>
            <p:nvPr/>
          </p:nvGrpSpPr>
          <p:grpSpPr>
            <a:xfrm>
              <a:off x="8149180" y="4894978"/>
              <a:ext cx="701316" cy="1398063"/>
              <a:chOff x="6306798" y="5254944"/>
              <a:chExt cx="468884" cy="934713"/>
            </a:xfrm>
          </p:grpSpPr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750DD8B5-98AF-421B-F05F-111A4D4157AF}"/>
                  </a:ext>
                </a:extLst>
              </p:cNvPr>
              <p:cNvSpPr/>
              <p:nvPr/>
            </p:nvSpPr>
            <p:spPr>
              <a:xfrm>
                <a:off x="6541240" y="5955215"/>
                <a:ext cx="234442" cy="23444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E5227A9D-E0D8-E044-FE66-F8058DA2070E}"/>
                  </a:ext>
                </a:extLst>
              </p:cNvPr>
              <p:cNvSpPr/>
              <p:nvPr/>
            </p:nvSpPr>
            <p:spPr>
              <a:xfrm>
                <a:off x="6541240" y="5720773"/>
                <a:ext cx="234442" cy="23444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07943A91-916F-125C-47AF-A4504EDBB809}"/>
                  </a:ext>
                </a:extLst>
              </p:cNvPr>
              <p:cNvSpPr/>
              <p:nvPr/>
            </p:nvSpPr>
            <p:spPr>
              <a:xfrm>
                <a:off x="6306798" y="5254944"/>
                <a:ext cx="234442" cy="23444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" name="직사각형 165">
                <a:extLst>
                  <a:ext uri="{FF2B5EF4-FFF2-40B4-BE49-F238E27FC236}">
                    <a16:creationId xmlns:a16="http://schemas.microsoft.com/office/drawing/2014/main" id="{18CF356B-E1C4-F812-59A8-9F55A4D21B2F}"/>
                  </a:ext>
                </a:extLst>
              </p:cNvPr>
              <p:cNvSpPr/>
              <p:nvPr/>
            </p:nvSpPr>
            <p:spPr>
              <a:xfrm>
                <a:off x="6541240" y="5491003"/>
                <a:ext cx="234442" cy="23444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" name="직사각형 166">
                <a:extLst>
                  <a:ext uri="{FF2B5EF4-FFF2-40B4-BE49-F238E27FC236}">
                    <a16:creationId xmlns:a16="http://schemas.microsoft.com/office/drawing/2014/main" id="{F252B62B-ED98-652A-1BCA-4BD540FF3147}"/>
                  </a:ext>
                </a:extLst>
              </p:cNvPr>
              <p:cNvSpPr/>
              <p:nvPr/>
            </p:nvSpPr>
            <p:spPr>
              <a:xfrm>
                <a:off x="6541240" y="5255977"/>
                <a:ext cx="234442" cy="23444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75E70622-37F8-4773-4B88-A8C55B5D911D}"/>
                </a:ext>
              </a:extLst>
            </p:cNvPr>
            <p:cNvCxnSpPr>
              <a:endCxn id="160" idx="2"/>
            </p:cNvCxnSpPr>
            <p:nvPr/>
          </p:nvCxnSpPr>
          <p:spPr>
            <a:xfrm flipH="1">
              <a:off x="7579596" y="4895647"/>
              <a:ext cx="569584" cy="472179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BDBE02A5-F6EA-E06A-FBD3-0334651495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8480" y="6293038"/>
              <a:ext cx="45135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화살표: 오른쪽 171">
            <a:extLst>
              <a:ext uri="{FF2B5EF4-FFF2-40B4-BE49-F238E27FC236}">
                <a16:creationId xmlns:a16="http://schemas.microsoft.com/office/drawing/2014/main" id="{9DA93147-80C8-D96C-891E-D617473935B6}"/>
              </a:ext>
            </a:extLst>
          </p:cNvPr>
          <p:cNvSpPr/>
          <p:nvPr/>
        </p:nvSpPr>
        <p:spPr>
          <a:xfrm>
            <a:off x="2953817" y="5464855"/>
            <a:ext cx="384827" cy="30777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8F399DE-6DC7-7E03-2E95-35DD2FB9DDC5}"/>
              </a:ext>
            </a:extLst>
          </p:cNvPr>
          <p:cNvSpPr txBox="1"/>
          <p:nvPr/>
        </p:nvSpPr>
        <p:spPr>
          <a:xfrm>
            <a:off x="3330648" y="4653822"/>
            <a:ext cx="6915676" cy="5096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완충지대가 넓어서 </a:t>
            </a:r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전투 리듬 이탈 빈도가 증가하는 것이 맞을까</a:t>
            </a:r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?</a:t>
            </a:r>
            <a:endParaRPr lang="ko-KR" altLang="en-US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154D6E7-FB69-D63D-748C-7B407776116E}"/>
              </a:ext>
            </a:extLst>
          </p:cNvPr>
          <p:cNvSpPr txBox="1"/>
          <p:nvPr/>
        </p:nvSpPr>
        <p:spPr>
          <a:xfrm>
            <a:off x="3397735" y="5230049"/>
            <a:ext cx="6941324" cy="786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완충 지대가 있으려면 핵심 구간이 </a:t>
            </a:r>
            <a:r>
              <a:rPr lang="en-US" altLang="ko-KR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</a:t>
            </a:r>
            <a:r>
              <a:rPr lang="ko-KR" altLang="en-US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 이상 존재해야 하기에</a:t>
            </a:r>
            <a:r>
              <a:rPr lang="en-US" altLang="ko-KR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핵심 구간의 존재 자체로 전투 리듬 이탈 빈도가 증가한 것은 아닐까</a:t>
            </a:r>
            <a:r>
              <a:rPr lang="en-US" altLang="ko-KR" sz="20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?</a:t>
            </a:r>
            <a:endParaRPr lang="ko-KR" altLang="en-US" sz="20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59C4035-8226-9114-E05B-3EA94D88B78F}"/>
              </a:ext>
            </a:extLst>
          </p:cNvPr>
          <p:cNvSpPr txBox="1"/>
          <p:nvPr/>
        </p:nvSpPr>
        <p:spPr>
          <a:xfrm>
            <a:off x="-1944363" y="6465493"/>
            <a:ext cx="2819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100" dirty="0">
                <a:solidFill>
                  <a:srgbClr val="0070C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핵심 구간 </a:t>
            </a:r>
            <a:r>
              <a:rPr lang="en-US" altLang="ko-KR" sz="1100" dirty="0">
                <a:solidFill>
                  <a:srgbClr val="0070C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B</a:t>
            </a:r>
            <a:endParaRPr lang="ko-KR" altLang="en-US" sz="1100" dirty="0">
              <a:solidFill>
                <a:srgbClr val="0070C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0370321A-12DF-E044-35E6-213C80C41862}"/>
              </a:ext>
            </a:extLst>
          </p:cNvPr>
          <p:cNvSpPr txBox="1"/>
          <p:nvPr/>
        </p:nvSpPr>
        <p:spPr>
          <a:xfrm>
            <a:off x="-1945612" y="5256064"/>
            <a:ext cx="28192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핵심 구간 </a:t>
            </a:r>
            <a:r>
              <a:rPr lang="en-US" altLang="ko-KR" sz="11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A</a:t>
            </a:r>
            <a:endParaRPr lang="ko-KR" altLang="en-US" sz="1100" dirty="0">
              <a:solidFill>
                <a:srgbClr val="C0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12F8273-9FDA-6733-A76E-6F73D1566ABD}"/>
              </a:ext>
            </a:extLst>
          </p:cNvPr>
          <p:cNvSpPr txBox="1"/>
          <p:nvPr/>
        </p:nvSpPr>
        <p:spPr>
          <a:xfrm>
            <a:off x="2728923" y="6152039"/>
            <a:ext cx="9475672" cy="5096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</a:t>
            </a:r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진입</a:t>
            </a:r>
            <a:r>
              <a:rPr lang="en-US" altLang="ko-KR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 </a:t>
            </a:r>
            <a:r>
              <a:rPr lang="ko-KR" altLang="en-US" sz="2000" dirty="0" err="1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맵과</a:t>
            </a:r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 </a:t>
            </a:r>
            <a:r>
              <a:rPr lang="en-US" altLang="ko-KR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</a:t>
            </a:r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유지</a:t>
            </a:r>
            <a:r>
              <a:rPr lang="en-US" altLang="ko-KR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 </a:t>
            </a:r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맵 또한 핵심 구간의 개수 </a:t>
            </a:r>
            <a:r>
              <a:rPr lang="en-US" altLang="ko-KR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0~1</a:t>
            </a:r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개</a:t>
            </a:r>
            <a:r>
              <a:rPr lang="en-US" altLang="ko-KR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, 2</a:t>
            </a:r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개로 설계해 비교군이 되어야 한다</a:t>
            </a:r>
            <a:r>
              <a:rPr lang="en-US" altLang="ko-KR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.</a:t>
            </a:r>
            <a:endParaRPr lang="ko-KR" altLang="en-US" sz="20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50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C96A6-B55D-9072-C097-6434F5ED7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03ABB-16F0-A056-F06A-45B3B86509F9}"/>
              </a:ext>
            </a:extLst>
          </p:cNvPr>
          <p:cNvSpPr txBox="1"/>
          <p:nvPr/>
        </p:nvSpPr>
        <p:spPr>
          <a:xfrm>
            <a:off x="4862190" y="196334"/>
            <a:ext cx="2467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&lt;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진입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&gt;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맵 후보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8B1EF-F915-AB6D-F3DD-C245FBACCD0D}"/>
              </a:ext>
            </a:extLst>
          </p:cNvPr>
          <p:cNvSpPr txBox="1"/>
          <p:nvPr/>
        </p:nvSpPr>
        <p:spPr>
          <a:xfrm>
            <a:off x="2965207" y="657999"/>
            <a:ext cx="62616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직선 구간의 길이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를 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무기 사거리 및 이동 거리의 최대 값인 </a:t>
            </a:r>
            <a:r>
              <a:rPr lang="en-US" altLang="ko-KR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이상으로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</a:t>
            </a:r>
          </a:p>
          <a:p>
            <a:pPr algn="ctr"/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직선 구간 외의 형태는 최소화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했다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</a:p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나머지 </a:t>
            </a:r>
            <a:r>
              <a:rPr lang="ko-KR" altLang="en-US" sz="16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맵의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크기가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16, 18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칸임을 고려해 그 중에서도</a:t>
            </a:r>
            <a:endParaRPr lang="en-US" altLang="ko-KR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직선 구간의 길이를 최대한 늘려 총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18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직선 구간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8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칸으로 설계했다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endParaRPr lang="ko-KR" altLang="en-US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6D4CF3-5094-DA76-84A4-C79CFB022AB1}"/>
              </a:ext>
            </a:extLst>
          </p:cNvPr>
          <p:cNvSpPr txBox="1"/>
          <p:nvPr/>
        </p:nvSpPr>
        <p:spPr>
          <a:xfrm>
            <a:off x="5455727" y="2060328"/>
            <a:ext cx="180209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타일 총합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18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핵심 구간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2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각 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8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완충 지대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2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9A0D255B-E9A2-5C3B-5565-D38D0E792F6C}"/>
              </a:ext>
            </a:extLst>
          </p:cNvPr>
          <p:cNvGrpSpPr/>
          <p:nvPr/>
        </p:nvGrpSpPr>
        <p:grpSpPr>
          <a:xfrm>
            <a:off x="4009813" y="2946011"/>
            <a:ext cx="4172374" cy="1569838"/>
            <a:chOff x="4466034" y="3161731"/>
            <a:chExt cx="4172374" cy="1569838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D744496B-6A63-52CD-D344-270227DC026D}"/>
                </a:ext>
              </a:extLst>
            </p:cNvPr>
            <p:cNvSpPr/>
            <p:nvPr/>
          </p:nvSpPr>
          <p:spPr>
            <a:xfrm>
              <a:off x="4987582" y="3166927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EE3D6F0D-9E10-3986-33F5-4C46C6A62E5E}"/>
                </a:ext>
              </a:extLst>
            </p:cNvPr>
            <p:cNvSpPr/>
            <p:nvPr/>
          </p:nvSpPr>
          <p:spPr>
            <a:xfrm>
              <a:off x="4466034" y="3166927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F0BFC127-EA4D-B8B6-8AC0-DB1930863C9E}"/>
                </a:ext>
              </a:extLst>
            </p:cNvPr>
            <p:cNvSpPr/>
            <p:nvPr/>
          </p:nvSpPr>
          <p:spPr>
            <a:xfrm>
              <a:off x="4466034" y="3688474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1713950-BAE3-902C-522D-E9F6F4E0331F}"/>
                </a:ext>
              </a:extLst>
            </p:cNvPr>
            <p:cNvSpPr/>
            <p:nvPr/>
          </p:nvSpPr>
          <p:spPr>
            <a:xfrm>
              <a:off x="4466034" y="4210022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36F109F5-FECF-976E-04C1-F6D0B5055FEE}"/>
                </a:ext>
              </a:extLst>
            </p:cNvPr>
            <p:cNvSpPr/>
            <p:nvPr/>
          </p:nvSpPr>
          <p:spPr>
            <a:xfrm>
              <a:off x="6030674" y="316432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211E74A7-6DD0-ADC5-192E-3C4F97CA830D}"/>
                </a:ext>
              </a:extLst>
            </p:cNvPr>
            <p:cNvSpPr/>
            <p:nvPr/>
          </p:nvSpPr>
          <p:spPr>
            <a:xfrm>
              <a:off x="5509127" y="316432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F57B86C0-CBAA-02E1-7371-4D519B8EBFC9}"/>
                </a:ext>
              </a:extLst>
            </p:cNvPr>
            <p:cNvSpPr/>
            <p:nvPr/>
          </p:nvSpPr>
          <p:spPr>
            <a:xfrm>
              <a:off x="8116860" y="3683278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EBB6A90B-610C-BE2E-9E9B-05A4CA50BC9E}"/>
                </a:ext>
              </a:extLst>
            </p:cNvPr>
            <p:cNvSpPr/>
            <p:nvPr/>
          </p:nvSpPr>
          <p:spPr>
            <a:xfrm>
              <a:off x="8116860" y="3161731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59545FCD-96B0-1274-6F94-47B90C01F849}"/>
                </a:ext>
              </a:extLst>
            </p:cNvPr>
            <p:cNvSpPr/>
            <p:nvPr/>
          </p:nvSpPr>
          <p:spPr>
            <a:xfrm>
              <a:off x="5509129" y="4204825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EE321C58-4401-14DA-AB15-A2A6AB11F6BA}"/>
                </a:ext>
              </a:extLst>
            </p:cNvPr>
            <p:cNvSpPr/>
            <p:nvPr/>
          </p:nvSpPr>
          <p:spPr>
            <a:xfrm>
              <a:off x="4987582" y="4204825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5CDC169A-983F-B2A1-44EE-EC68129B6A98}"/>
                </a:ext>
              </a:extLst>
            </p:cNvPr>
            <p:cNvSpPr/>
            <p:nvPr/>
          </p:nvSpPr>
          <p:spPr>
            <a:xfrm>
              <a:off x="8116860" y="4204825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DB576B6B-88FC-CE4E-3440-AC60D6D56CD8}"/>
                </a:ext>
              </a:extLst>
            </p:cNvPr>
            <p:cNvSpPr/>
            <p:nvPr/>
          </p:nvSpPr>
          <p:spPr>
            <a:xfrm>
              <a:off x="6552224" y="4204825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200B5AF0-9274-6379-CF09-F191A7CFBB9B}"/>
                </a:ext>
              </a:extLst>
            </p:cNvPr>
            <p:cNvSpPr/>
            <p:nvPr/>
          </p:nvSpPr>
          <p:spPr>
            <a:xfrm>
              <a:off x="6030676" y="4204825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C29ACF75-CA08-C3CB-09E4-D24C72EDFE29}"/>
                </a:ext>
              </a:extLst>
            </p:cNvPr>
            <p:cNvSpPr/>
            <p:nvPr/>
          </p:nvSpPr>
          <p:spPr>
            <a:xfrm>
              <a:off x="6552222" y="316432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3CA0D3C8-7D0A-7D68-2FAF-38206ECA5D77}"/>
                </a:ext>
              </a:extLst>
            </p:cNvPr>
            <p:cNvSpPr/>
            <p:nvPr/>
          </p:nvSpPr>
          <p:spPr>
            <a:xfrm>
              <a:off x="7073769" y="4204825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E8504C3C-88EC-79F4-7A81-85289DE5E889}"/>
                </a:ext>
              </a:extLst>
            </p:cNvPr>
            <p:cNvSpPr/>
            <p:nvPr/>
          </p:nvSpPr>
          <p:spPr>
            <a:xfrm>
              <a:off x="7073767" y="316432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0B96D6A-6CCB-6886-0A0F-D417629E9F9C}"/>
                </a:ext>
              </a:extLst>
            </p:cNvPr>
            <p:cNvSpPr/>
            <p:nvPr/>
          </p:nvSpPr>
          <p:spPr>
            <a:xfrm>
              <a:off x="7595312" y="4204825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4B1409EE-8C9A-DEB3-8483-DE10B3CBD596}"/>
                </a:ext>
              </a:extLst>
            </p:cNvPr>
            <p:cNvSpPr/>
            <p:nvPr/>
          </p:nvSpPr>
          <p:spPr>
            <a:xfrm>
              <a:off x="7595310" y="316432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6" name="자유형: 도형 85">
            <a:extLst>
              <a:ext uri="{FF2B5EF4-FFF2-40B4-BE49-F238E27FC236}">
                <a16:creationId xmlns:a16="http://schemas.microsoft.com/office/drawing/2014/main" id="{297F43D7-54FF-568E-F1EC-3497B64BC6A2}"/>
              </a:ext>
            </a:extLst>
          </p:cNvPr>
          <p:cNvSpPr/>
          <p:nvPr/>
        </p:nvSpPr>
        <p:spPr>
          <a:xfrm flipH="1" flipV="1">
            <a:off x="8786145" y="3711009"/>
            <a:ext cx="491672" cy="493729"/>
          </a:xfrm>
          <a:custGeom>
            <a:avLst/>
            <a:gdLst>
              <a:gd name="csX0" fmla="*/ 0 w 1821180"/>
              <a:gd name="csY0" fmla="*/ 0 h 1828800"/>
              <a:gd name="csX1" fmla="*/ 906780 w 1821180"/>
              <a:gd name="csY1" fmla="*/ 0 h 1828800"/>
              <a:gd name="csX2" fmla="*/ 914400 w 1821180"/>
              <a:gd name="csY2" fmla="*/ 0 h 1828800"/>
              <a:gd name="csX3" fmla="*/ 1821180 w 1821180"/>
              <a:gd name="csY3" fmla="*/ 0 h 1828800"/>
              <a:gd name="csX4" fmla="*/ 1821180 w 1821180"/>
              <a:gd name="csY4" fmla="*/ 914400 h 1828800"/>
              <a:gd name="csX5" fmla="*/ 914400 w 1821180"/>
              <a:gd name="csY5" fmla="*/ 914400 h 1828800"/>
              <a:gd name="csX6" fmla="*/ 914400 w 1821180"/>
              <a:gd name="csY6" fmla="*/ 1828800 h 1828800"/>
              <a:gd name="csX7" fmla="*/ 0 w 1821180"/>
              <a:gd name="csY7" fmla="*/ 1828800 h 1828800"/>
              <a:gd name="csX8" fmla="*/ 0 w 1821180"/>
              <a:gd name="csY8" fmla="*/ 914400 h 1828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21180" h="1828800">
                <a:moveTo>
                  <a:pt x="0" y="0"/>
                </a:moveTo>
                <a:lnTo>
                  <a:pt x="906780" y="0"/>
                </a:lnTo>
                <a:lnTo>
                  <a:pt x="914400" y="0"/>
                </a:lnTo>
                <a:lnTo>
                  <a:pt x="1821180" y="0"/>
                </a:lnTo>
                <a:lnTo>
                  <a:pt x="1821180" y="914400"/>
                </a:lnTo>
                <a:lnTo>
                  <a:pt x="914400" y="914400"/>
                </a:lnTo>
                <a:lnTo>
                  <a:pt x="914400" y="1828800"/>
                </a:lnTo>
                <a:lnTo>
                  <a:pt x="0" y="1828800"/>
                </a:lnTo>
                <a:lnTo>
                  <a:pt x="0" y="914400"/>
                </a:lnTo>
                <a:close/>
              </a:path>
            </a:pathLst>
          </a:custGeom>
          <a:solidFill>
            <a:srgbClr val="92D050">
              <a:alpha val="26000"/>
            </a:srgb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6F8F5B1-5D03-0B8A-F50F-39F2660B621B}"/>
              </a:ext>
            </a:extLst>
          </p:cNvPr>
          <p:cNvSpPr/>
          <p:nvPr/>
        </p:nvSpPr>
        <p:spPr>
          <a:xfrm>
            <a:off x="8786145" y="2950794"/>
            <a:ext cx="1728685" cy="255990"/>
          </a:xfrm>
          <a:prstGeom prst="rect">
            <a:avLst/>
          </a:prstGeom>
          <a:solidFill>
            <a:schemeClr val="accent1">
              <a:alpha val="38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AB1F724-22A7-3866-6DE6-D4850DD1757E}"/>
              </a:ext>
            </a:extLst>
          </p:cNvPr>
          <p:cNvSpPr txBox="1"/>
          <p:nvPr/>
        </p:nvSpPr>
        <p:spPr>
          <a:xfrm>
            <a:off x="8712734" y="3281885"/>
            <a:ext cx="18020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직선 구간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2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각 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8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B3D7D45-725E-FCF7-B6BC-2564A44E8690}"/>
              </a:ext>
            </a:extLst>
          </p:cNvPr>
          <p:cNvSpPr txBox="1"/>
          <p:nvPr/>
        </p:nvSpPr>
        <p:spPr>
          <a:xfrm>
            <a:off x="8703730" y="4268472"/>
            <a:ext cx="18020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코너 구간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4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각 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3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4484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847F3-F88F-2D4D-2132-A603A5118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B1D55451-A071-96D2-3600-85FC55F0DE3D}"/>
              </a:ext>
            </a:extLst>
          </p:cNvPr>
          <p:cNvGrpSpPr/>
          <p:nvPr/>
        </p:nvGrpSpPr>
        <p:grpSpPr>
          <a:xfrm>
            <a:off x="4831725" y="2521434"/>
            <a:ext cx="2701294" cy="2701831"/>
            <a:chOff x="4831725" y="2619000"/>
            <a:chExt cx="2701294" cy="270183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3A18338-C56B-8100-067B-4BF6C735BA79}"/>
                </a:ext>
              </a:extLst>
            </p:cNvPr>
            <p:cNvSpPr/>
            <p:nvPr/>
          </p:nvSpPr>
          <p:spPr>
            <a:xfrm>
              <a:off x="6991725" y="3159000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4BAE830-CB6F-0979-B6F5-2F20DA1556E1}"/>
                </a:ext>
              </a:extLst>
            </p:cNvPr>
            <p:cNvSpPr/>
            <p:nvPr/>
          </p:nvSpPr>
          <p:spPr>
            <a:xfrm>
              <a:off x="6451725" y="3159000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E25DC82-C664-A4DA-77A5-E441D8AB0E3F}"/>
                </a:ext>
              </a:extLst>
            </p:cNvPr>
            <p:cNvSpPr/>
            <p:nvPr/>
          </p:nvSpPr>
          <p:spPr>
            <a:xfrm>
              <a:off x="6991725" y="3699000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80E26AE-82A1-8E21-2F64-B5D7FCAFAE9A}"/>
                </a:ext>
              </a:extLst>
            </p:cNvPr>
            <p:cNvSpPr/>
            <p:nvPr/>
          </p:nvSpPr>
          <p:spPr>
            <a:xfrm>
              <a:off x="6451725" y="2619000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B20CDEB-A790-79AF-178A-2207C8F5323D}"/>
                </a:ext>
              </a:extLst>
            </p:cNvPr>
            <p:cNvSpPr/>
            <p:nvPr/>
          </p:nvSpPr>
          <p:spPr>
            <a:xfrm>
              <a:off x="5911725" y="2619000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33FDFF3-DAE1-0EA1-0D5C-CF3256570AAB}"/>
                </a:ext>
              </a:extLst>
            </p:cNvPr>
            <p:cNvSpPr/>
            <p:nvPr/>
          </p:nvSpPr>
          <p:spPr>
            <a:xfrm>
              <a:off x="5371725" y="2619000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94A3D48-A1A9-AC1D-BC39-AE49CDC6544D}"/>
                </a:ext>
              </a:extLst>
            </p:cNvPr>
            <p:cNvSpPr/>
            <p:nvPr/>
          </p:nvSpPr>
          <p:spPr>
            <a:xfrm>
              <a:off x="5371725" y="3157577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1E993A7-D96D-488B-BCCB-548F4137F8E0}"/>
                </a:ext>
              </a:extLst>
            </p:cNvPr>
            <p:cNvSpPr/>
            <p:nvPr/>
          </p:nvSpPr>
          <p:spPr>
            <a:xfrm>
              <a:off x="4831725" y="4239000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D40797B-62A3-DC7D-E8D6-78A16E741DEC}"/>
                </a:ext>
              </a:extLst>
            </p:cNvPr>
            <p:cNvSpPr/>
            <p:nvPr/>
          </p:nvSpPr>
          <p:spPr>
            <a:xfrm>
              <a:off x="6451725" y="4241292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EABD83A-7A3D-0CF3-658D-7EB38A861145}"/>
                </a:ext>
              </a:extLst>
            </p:cNvPr>
            <p:cNvSpPr/>
            <p:nvPr/>
          </p:nvSpPr>
          <p:spPr>
            <a:xfrm>
              <a:off x="5371725" y="4240831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7BAB0AF-0EB4-8BC1-F5A1-F6823B885ADF}"/>
                </a:ext>
              </a:extLst>
            </p:cNvPr>
            <p:cNvSpPr/>
            <p:nvPr/>
          </p:nvSpPr>
          <p:spPr>
            <a:xfrm>
              <a:off x="6993019" y="4241981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0FCF7DE-2FEA-F3C6-F746-AFECA72A5120}"/>
                </a:ext>
              </a:extLst>
            </p:cNvPr>
            <p:cNvSpPr/>
            <p:nvPr/>
          </p:nvSpPr>
          <p:spPr>
            <a:xfrm>
              <a:off x="4831725" y="3699000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3CAEC80-DEC2-6876-EE19-BDEEFB8F52F5}"/>
                </a:ext>
              </a:extLst>
            </p:cNvPr>
            <p:cNvSpPr/>
            <p:nvPr/>
          </p:nvSpPr>
          <p:spPr>
            <a:xfrm>
              <a:off x="4831725" y="3159000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590AA79-9059-0AF3-D2AC-3B55CE912057}"/>
                </a:ext>
              </a:extLst>
            </p:cNvPr>
            <p:cNvSpPr/>
            <p:nvPr/>
          </p:nvSpPr>
          <p:spPr>
            <a:xfrm>
              <a:off x="6451725" y="4779000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94FA7CA-B514-8819-4414-4B5D4694F4EC}"/>
                </a:ext>
              </a:extLst>
            </p:cNvPr>
            <p:cNvSpPr/>
            <p:nvPr/>
          </p:nvSpPr>
          <p:spPr>
            <a:xfrm>
              <a:off x="5911725" y="4780831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49FA679-40EC-B23D-1B01-D760B24AF444}"/>
                </a:ext>
              </a:extLst>
            </p:cNvPr>
            <p:cNvSpPr/>
            <p:nvPr/>
          </p:nvSpPr>
          <p:spPr>
            <a:xfrm>
              <a:off x="5371725" y="4780831"/>
              <a:ext cx="540000" cy="5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C7D989-ACA8-CB5A-3F09-C99764ADEB14}"/>
              </a:ext>
            </a:extLst>
          </p:cNvPr>
          <p:cNvSpPr txBox="1"/>
          <p:nvPr/>
        </p:nvSpPr>
        <p:spPr>
          <a:xfrm>
            <a:off x="5506700" y="1680388"/>
            <a:ext cx="135005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타일 총합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16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핵심 구간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X</a:t>
            </a:r>
          </a:p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완충 지대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56CF0-66E5-72C5-6CAD-CBD5A2B77AA2}"/>
              </a:ext>
            </a:extLst>
          </p:cNvPr>
          <p:cNvSpPr txBox="1"/>
          <p:nvPr/>
        </p:nvSpPr>
        <p:spPr>
          <a:xfrm>
            <a:off x="4862190" y="196334"/>
            <a:ext cx="2467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&lt;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유지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&gt;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맵 후보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C2ACD5-48CB-65C6-D099-E1772F71D225}"/>
              </a:ext>
            </a:extLst>
          </p:cNvPr>
          <p:cNvSpPr txBox="1"/>
          <p:nvPr/>
        </p:nvSpPr>
        <p:spPr>
          <a:xfrm>
            <a:off x="1594646" y="657999"/>
            <a:ext cx="90027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연속 및 중첩된 코너 구간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으로 구성해 면적을 넓히고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동시에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핵심 구간 조건을 만족하지 않도록 조정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했다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</a:p>
          <a:p>
            <a:pPr algn="ctr"/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코너 구간 외의 형태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는 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최소화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해 설계했다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endParaRPr lang="ko-KR" altLang="en-US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0439AA7E-D0E9-F9E1-C164-62E7B5B2E30C}"/>
              </a:ext>
            </a:extLst>
          </p:cNvPr>
          <p:cNvSpPr/>
          <p:nvPr/>
        </p:nvSpPr>
        <p:spPr>
          <a:xfrm flipH="1" flipV="1">
            <a:off x="8154140" y="3820226"/>
            <a:ext cx="491672" cy="493729"/>
          </a:xfrm>
          <a:custGeom>
            <a:avLst/>
            <a:gdLst>
              <a:gd name="csX0" fmla="*/ 0 w 1821180"/>
              <a:gd name="csY0" fmla="*/ 0 h 1828800"/>
              <a:gd name="csX1" fmla="*/ 906780 w 1821180"/>
              <a:gd name="csY1" fmla="*/ 0 h 1828800"/>
              <a:gd name="csX2" fmla="*/ 914400 w 1821180"/>
              <a:gd name="csY2" fmla="*/ 0 h 1828800"/>
              <a:gd name="csX3" fmla="*/ 1821180 w 1821180"/>
              <a:gd name="csY3" fmla="*/ 0 h 1828800"/>
              <a:gd name="csX4" fmla="*/ 1821180 w 1821180"/>
              <a:gd name="csY4" fmla="*/ 914400 h 1828800"/>
              <a:gd name="csX5" fmla="*/ 914400 w 1821180"/>
              <a:gd name="csY5" fmla="*/ 914400 h 1828800"/>
              <a:gd name="csX6" fmla="*/ 914400 w 1821180"/>
              <a:gd name="csY6" fmla="*/ 1828800 h 1828800"/>
              <a:gd name="csX7" fmla="*/ 0 w 1821180"/>
              <a:gd name="csY7" fmla="*/ 1828800 h 1828800"/>
              <a:gd name="csX8" fmla="*/ 0 w 1821180"/>
              <a:gd name="csY8" fmla="*/ 914400 h 1828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21180" h="1828800">
                <a:moveTo>
                  <a:pt x="0" y="0"/>
                </a:moveTo>
                <a:lnTo>
                  <a:pt x="906780" y="0"/>
                </a:lnTo>
                <a:lnTo>
                  <a:pt x="914400" y="0"/>
                </a:lnTo>
                <a:lnTo>
                  <a:pt x="1821180" y="0"/>
                </a:lnTo>
                <a:lnTo>
                  <a:pt x="1821180" y="914400"/>
                </a:lnTo>
                <a:lnTo>
                  <a:pt x="914400" y="914400"/>
                </a:lnTo>
                <a:lnTo>
                  <a:pt x="914400" y="1828800"/>
                </a:lnTo>
                <a:lnTo>
                  <a:pt x="0" y="1828800"/>
                </a:lnTo>
                <a:lnTo>
                  <a:pt x="0" y="914400"/>
                </a:lnTo>
                <a:close/>
              </a:path>
            </a:pathLst>
          </a:custGeom>
          <a:solidFill>
            <a:srgbClr val="92D050">
              <a:alpha val="26000"/>
            </a:srgb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BB6B299-6212-C882-D0EC-4994B0D26596}"/>
              </a:ext>
            </a:extLst>
          </p:cNvPr>
          <p:cNvSpPr/>
          <p:nvPr/>
        </p:nvSpPr>
        <p:spPr>
          <a:xfrm>
            <a:off x="8154140" y="3060011"/>
            <a:ext cx="1728685" cy="255990"/>
          </a:xfrm>
          <a:prstGeom prst="rect">
            <a:avLst/>
          </a:prstGeom>
          <a:solidFill>
            <a:schemeClr val="accent1">
              <a:alpha val="38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B1AD75-9833-0EA0-DD4F-14ACF04BACF8}"/>
              </a:ext>
            </a:extLst>
          </p:cNvPr>
          <p:cNvSpPr txBox="1"/>
          <p:nvPr/>
        </p:nvSpPr>
        <p:spPr>
          <a:xfrm>
            <a:off x="8080729" y="3391102"/>
            <a:ext cx="10839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직선 구간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256C92-FE3A-2B3C-5A6B-6CAAC146CF30}"/>
              </a:ext>
            </a:extLst>
          </p:cNvPr>
          <p:cNvSpPr txBox="1"/>
          <p:nvPr/>
        </p:nvSpPr>
        <p:spPr>
          <a:xfrm>
            <a:off x="8071725" y="4377689"/>
            <a:ext cx="18020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코너 구간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4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각 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5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1516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D9153-8438-CB80-48C0-A66FC7B8A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그룹 89">
            <a:extLst>
              <a:ext uri="{FF2B5EF4-FFF2-40B4-BE49-F238E27FC236}">
                <a16:creationId xmlns:a16="http://schemas.microsoft.com/office/drawing/2014/main" id="{2F886391-2175-2248-B833-57CD9291F7CA}"/>
              </a:ext>
            </a:extLst>
          </p:cNvPr>
          <p:cNvGrpSpPr/>
          <p:nvPr/>
        </p:nvGrpSpPr>
        <p:grpSpPr>
          <a:xfrm>
            <a:off x="4227909" y="2504460"/>
            <a:ext cx="3129285" cy="2605139"/>
            <a:chOff x="4466034" y="2126430"/>
            <a:chExt cx="3129285" cy="2605139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45E50BF4-5CAD-BBA9-A0D4-CA74B736B3D3}"/>
                </a:ext>
              </a:extLst>
            </p:cNvPr>
            <p:cNvSpPr/>
            <p:nvPr/>
          </p:nvSpPr>
          <p:spPr>
            <a:xfrm>
              <a:off x="5509129" y="264537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6F55B02F-C452-06DD-A22D-CBB15C92BB4E}"/>
                </a:ext>
              </a:extLst>
            </p:cNvPr>
            <p:cNvSpPr/>
            <p:nvPr/>
          </p:nvSpPr>
          <p:spPr>
            <a:xfrm>
              <a:off x="4987582" y="3166927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A14F1513-78A8-E584-F0E1-70A3A00EA00D}"/>
                </a:ext>
              </a:extLst>
            </p:cNvPr>
            <p:cNvSpPr/>
            <p:nvPr/>
          </p:nvSpPr>
          <p:spPr>
            <a:xfrm>
              <a:off x="4466034" y="3166927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BF986131-B97A-A8EB-8A22-17E4C124C8D8}"/>
                </a:ext>
              </a:extLst>
            </p:cNvPr>
            <p:cNvSpPr/>
            <p:nvPr/>
          </p:nvSpPr>
          <p:spPr>
            <a:xfrm>
              <a:off x="4466034" y="3688474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F9F68B0F-1029-DEC2-F168-C80A0615CE97}"/>
                </a:ext>
              </a:extLst>
            </p:cNvPr>
            <p:cNvSpPr/>
            <p:nvPr/>
          </p:nvSpPr>
          <p:spPr>
            <a:xfrm>
              <a:off x="4466034" y="4210022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1344BDB-4631-9A3C-415A-A009427C4A74}"/>
                </a:ext>
              </a:extLst>
            </p:cNvPr>
            <p:cNvSpPr/>
            <p:nvPr/>
          </p:nvSpPr>
          <p:spPr>
            <a:xfrm>
              <a:off x="6030676" y="2126430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1C94342C-6B89-CA8A-76D6-0481FAC8CAC1}"/>
                </a:ext>
              </a:extLst>
            </p:cNvPr>
            <p:cNvSpPr/>
            <p:nvPr/>
          </p:nvSpPr>
          <p:spPr>
            <a:xfrm>
              <a:off x="4987582" y="264537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89FC8DC-4D72-0374-48AE-BF0F187CDB97}"/>
                </a:ext>
              </a:extLst>
            </p:cNvPr>
            <p:cNvSpPr/>
            <p:nvPr/>
          </p:nvSpPr>
          <p:spPr>
            <a:xfrm>
              <a:off x="5509129" y="2126430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CA4457F0-5040-D625-910E-333270DD8086}"/>
                </a:ext>
              </a:extLst>
            </p:cNvPr>
            <p:cNvSpPr/>
            <p:nvPr/>
          </p:nvSpPr>
          <p:spPr>
            <a:xfrm>
              <a:off x="7073771" y="3683278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BE393648-F38D-5ED0-9DBA-242AB62BDA49}"/>
                </a:ext>
              </a:extLst>
            </p:cNvPr>
            <p:cNvSpPr/>
            <p:nvPr/>
          </p:nvSpPr>
          <p:spPr>
            <a:xfrm>
              <a:off x="7073771" y="3161731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930134C7-66EB-FEBF-A6E9-A2B9B0894C47}"/>
                </a:ext>
              </a:extLst>
            </p:cNvPr>
            <p:cNvSpPr/>
            <p:nvPr/>
          </p:nvSpPr>
          <p:spPr>
            <a:xfrm>
              <a:off x="5509129" y="4204825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8A00AA42-1999-6D69-3EFD-E24AFB2322AA}"/>
                </a:ext>
              </a:extLst>
            </p:cNvPr>
            <p:cNvSpPr/>
            <p:nvPr/>
          </p:nvSpPr>
          <p:spPr>
            <a:xfrm>
              <a:off x="4987582" y="4204825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78416AD6-A9CD-8871-5FF1-B5DFAA2A6DCF}"/>
                </a:ext>
              </a:extLst>
            </p:cNvPr>
            <p:cNvSpPr/>
            <p:nvPr/>
          </p:nvSpPr>
          <p:spPr>
            <a:xfrm>
              <a:off x="7073771" y="4204825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14316D05-871B-C280-3214-2F814C125792}"/>
                </a:ext>
              </a:extLst>
            </p:cNvPr>
            <p:cNvSpPr/>
            <p:nvPr/>
          </p:nvSpPr>
          <p:spPr>
            <a:xfrm>
              <a:off x="6552224" y="4204825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86493161-DB63-B9FA-78D4-BEED6FF81802}"/>
                </a:ext>
              </a:extLst>
            </p:cNvPr>
            <p:cNvSpPr/>
            <p:nvPr/>
          </p:nvSpPr>
          <p:spPr>
            <a:xfrm>
              <a:off x="6030676" y="4204825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D7B71EE0-887D-4D8F-D2F7-03F0E2CB2183}"/>
                </a:ext>
              </a:extLst>
            </p:cNvPr>
            <p:cNvSpPr/>
            <p:nvPr/>
          </p:nvSpPr>
          <p:spPr>
            <a:xfrm>
              <a:off x="6552224" y="2126430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C29E0BFC-1C7D-803E-A6E8-C7DFAD40C07D}"/>
                </a:ext>
              </a:extLst>
            </p:cNvPr>
            <p:cNvSpPr/>
            <p:nvPr/>
          </p:nvSpPr>
          <p:spPr>
            <a:xfrm>
              <a:off x="7073771" y="2650575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145E039F-1998-1532-CAF1-AFCD97E7CAC2}"/>
                </a:ext>
              </a:extLst>
            </p:cNvPr>
            <p:cNvSpPr/>
            <p:nvPr/>
          </p:nvSpPr>
          <p:spPr>
            <a:xfrm>
              <a:off x="7073771" y="2126430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84357771-A277-F7F0-BF24-B958CFA6B7A6}"/>
              </a:ext>
            </a:extLst>
          </p:cNvPr>
          <p:cNvSpPr txBox="1"/>
          <p:nvPr/>
        </p:nvSpPr>
        <p:spPr>
          <a:xfrm>
            <a:off x="5324850" y="1693300"/>
            <a:ext cx="215155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타일 총합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18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핵심 구간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2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각 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7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완충 지대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5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A70D9B8-CEF1-4036-AE42-ACDCD645CA20}"/>
              </a:ext>
            </a:extLst>
          </p:cNvPr>
          <p:cNvSpPr txBox="1"/>
          <p:nvPr/>
        </p:nvSpPr>
        <p:spPr>
          <a:xfrm>
            <a:off x="5076637" y="207473"/>
            <a:ext cx="203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&lt;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이탈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&gt;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맵 후보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9DC48D0-C3C4-36C7-DD9E-83A6C20C0CD2}"/>
              </a:ext>
            </a:extLst>
          </p:cNvPr>
          <p:cNvSpPr txBox="1"/>
          <p:nvPr/>
        </p:nvSpPr>
        <p:spPr>
          <a:xfrm>
            <a:off x="1730881" y="657999"/>
            <a:ext cx="87302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직선 구간</a:t>
            </a:r>
            <a:r>
              <a:rPr lang="en-US" altLang="ko-KR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코너 구간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각각 하나를 배정해 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핵심 구간 총 </a:t>
            </a:r>
            <a:r>
              <a:rPr lang="en-US" altLang="ko-KR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개로 설계하고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</a:t>
            </a:r>
          </a:p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위 조건을 만족하면서도 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맵 크기를 최소화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할 수 있도록 핵심 구간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 사이에 완충 지대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5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칸을 배정했다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endParaRPr lang="ko-KR" altLang="en-US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8669608D-0B2E-D67E-2FD2-08EFDAB92D4B}"/>
              </a:ext>
            </a:extLst>
          </p:cNvPr>
          <p:cNvSpPr/>
          <p:nvPr/>
        </p:nvSpPr>
        <p:spPr>
          <a:xfrm flipH="1" flipV="1">
            <a:off x="7961155" y="3711009"/>
            <a:ext cx="491672" cy="493729"/>
          </a:xfrm>
          <a:custGeom>
            <a:avLst/>
            <a:gdLst>
              <a:gd name="csX0" fmla="*/ 0 w 1821180"/>
              <a:gd name="csY0" fmla="*/ 0 h 1828800"/>
              <a:gd name="csX1" fmla="*/ 906780 w 1821180"/>
              <a:gd name="csY1" fmla="*/ 0 h 1828800"/>
              <a:gd name="csX2" fmla="*/ 914400 w 1821180"/>
              <a:gd name="csY2" fmla="*/ 0 h 1828800"/>
              <a:gd name="csX3" fmla="*/ 1821180 w 1821180"/>
              <a:gd name="csY3" fmla="*/ 0 h 1828800"/>
              <a:gd name="csX4" fmla="*/ 1821180 w 1821180"/>
              <a:gd name="csY4" fmla="*/ 914400 h 1828800"/>
              <a:gd name="csX5" fmla="*/ 914400 w 1821180"/>
              <a:gd name="csY5" fmla="*/ 914400 h 1828800"/>
              <a:gd name="csX6" fmla="*/ 914400 w 1821180"/>
              <a:gd name="csY6" fmla="*/ 1828800 h 1828800"/>
              <a:gd name="csX7" fmla="*/ 0 w 1821180"/>
              <a:gd name="csY7" fmla="*/ 1828800 h 1828800"/>
              <a:gd name="csX8" fmla="*/ 0 w 1821180"/>
              <a:gd name="csY8" fmla="*/ 914400 h 1828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21180" h="1828800">
                <a:moveTo>
                  <a:pt x="0" y="0"/>
                </a:moveTo>
                <a:lnTo>
                  <a:pt x="906780" y="0"/>
                </a:lnTo>
                <a:lnTo>
                  <a:pt x="914400" y="0"/>
                </a:lnTo>
                <a:lnTo>
                  <a:pt x="1821180" y="0"/>
                </a:lnTo>
                <a:lnTo>
                  <a:pt x="1821180" y="914400"/>
                </a:lnTo>
                <a:lnTo>
                  <a:pt x="914400" y="914400"/>
                </a:lnTo>
                <a:lnTo>
                  <a:pt x="914400" y="1828800"/>
                </a:lnTo>
                <a:lnTo>
                  <a:pt x="0" y="1828800"/>
                </a:lnTo>
                <a:lnTo>
                  <a:pt x="0" y="914400"/>
                </a:lnTo>
                <a:close/>
              </a:path>
            </a:pathLst>
          </a:custGeom>
          <a:solidFill>
            <a:srgbClr val="92D050">
              <a:alpha val="26000"/>
            </a:srgb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E364030B-8609-E1ED-ABD6-3E53C040C29C}"/>
              </a:ext>
            </a:extLst>
          </p:cNvPr>
          <p:cNvSpPr/>
          <p:nvPr/>
        </p:nvSpPr>
        <p:spPr>
          <a:xfrm>
            <a:off x="7961155" y="2950794"/>
            <a:ext cx="1728685" cy="255990"/>
          </a:xfrm>
          <a:prstGeom prst="rect">
            <a:avLst/>
          </a:prstGeom>
          <a:solidFill>
            <a:schemeClr val="accent1">
              <a:alpha val="38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EB90C24-08D4-D814-C89C-CB4F9A342FD0}"/>
              </a:ext>
            </a:extLst>
          </p:cNvPr>
          <p:cNvSpPr txBox="1"/>
          <p:nvPr/>
        </p:nvSpPr>
        <p:spPr>
          <a:xfrm>
            <a:off x="7887744" y="3281885"/>
            <a:ext cx="21739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직선 구간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3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각 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4, 5, 6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034D37B-5389-EC15-50EA-F876D13F447A}"/>
              </a:ext>
            </a:extLst>
          </p:cNvPr>
          <p:cNvSpPr txBox="1"/>
          <p:nvPr/>
        </p:nvSpPr>
        <p:spPr>
          <a:xfrm>
            <a:off x="7878740" y="4268472"/>
            <a:ext cx="1988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코너 구간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: 4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각 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3, 7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9783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769FA-701B-5F1E-AC1D-457D99881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1">
            <a:extLst>
              <a:ext uri="{FF2B5EF4-FFF2-40B4-BE49-F238E27FC236}">
                <a16:creationId xmlns:a16="http://schemas.microsoft.com/office/drawing/2014/main" id="{4C738CF3-E062-6742-78C2-7F92A6F566F8}"/>
              </a:ext>
            </a:extLst>
          </p:cNvPr>
          <p:cNvSpPr txBox="1"/>
          <p:nvPr/>
        </p:nvSpPr>
        <p:spPr>
          <a:xfrm>
            <a:off x="5076637" y="207473"/>
            <a:ext cx="203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&lt;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이탈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&gt;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맵 후보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579E3F4-9B8D-3FF1-F9D8-F7F5AFE9C644}"/>
              </a:ext>
            </a:extLst>
          </p:cNvPr>
          <p:cNvGrpSpPr/>
          <p:nvPr/>
        </p:nvGrpSpPr>
        <p:grpSpPr>
          <a:xfrm>
            <a:off x="4768390" y="2251884"/>
            <a:ext cx="2607748" cy="2605355"/>
            <a:chOff x="4768390" y="2251884"/>
            <a:chExt cx="2607748" cy="2605355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643B170-356E-27A5-5DCB-4F803296471E}"/>
                </a:ext>
              </a:extLst>
            </p:cNvPr>
            <p:cNvSpPr/>
            <p:nvPr/>
          </p:nvSpPr>
          <p:spPr>
            <a:xfrm>
              <a:off x="5811499" y="2251884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4DE9C42E-1294-F725-CC51-4153C71EF018}"/>
                </a:ext>
              </a:extLst>
            </p:cNvPr>
            <p:cNvSpPr/>
            <p:nvPr/>
          </p:nvSpPr>
          <p:spPr>
            <a:xfrm>
              <a:off x="5289952" y="2773432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D2F3A4B3-EEBB-8573-E02B-118D9FABFBC8}"/>
                </a:ext>
              </a:extLst>
            </p:cNvPr>
            <p:cNvSpPr/>
            <p:nvPr/>
          </p:nvSpPr>
          <p:spPr>
            <a:xfrm>
              <a:off x="4768404" y="2773432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81A5CEB6-4B29-C1A5-1B2E-CD88EE549449}"/>
                </a:ext>
              </a:extLst>
            </p:cNvPr>
            <p:cNvSpPr/>
            <p:nvPr/>
          </p:nvSpPr>
          <p:spPr>
            <a:xfrm>
              <a:off x="4768404" y="329497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8D5A183D-B0B5-FFC4-C0DA-22272420AAEE}"/>
                </a:ext>
              </a:extLst>
            </p:cNvPr>
            <p:cNvSpPr/>
            <p:nvPr/>
          </p:nvSpPr>
          <p:spPr>
            <a:xfrm>
              <a:off x="4768390" y="4335692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3557DE95-91CE-925E-E786-CC1219DBB872}"/>
                </a:ext>
              </a:extLst>
            </p:cNvPr>
            <p:cNvSpPr/>
            <p:nvPr/>
          </p:nvSpPr>
          <p:spPr>
            <a:xfrm>
              <a:off x="6333045" y="2252101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97AC49A2-D9EE-C413-8EBB-B877D6B950EE}"/>
                </a:ext>
              </a:extLst>
            </p:cNvPr>
            <p:cNvSpPr/>
            <p:nvPr/>
          </p:nvSpPr>
          <p:spPr>
            <a:xfrm>
              <a:off x="5289952" y="2251884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639D89A0-5E55-DC37-3A21-C54A5AAC9653}"/>
                </a:ext>
              </a:extLst>
            </p:cNvPr>
            <p:cNvSpPr/>
            <p:nvPr/>
          </p:nvSpPr>
          <p:spPr>
            <a:xfrm>
              <a:off x="6854590" y="2251884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6B2D9DBF-C02B-5924-EC74-907C5DDF1C50}"/>
                </a:ext>
              </a:extLst>
            </p:cNvPr>
            <p:cNvSpPr/>
            <p:nvPr/>
          </p:nvSpPr>
          <p:spPr>
            <a:xfrm>
              <a:off x="6854588" y="380591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668C95A6-9C1B-292E-867E-6942263A0D9C}"/>
                </a:ext>
              </a:extLst>
            </p:cNvPr>
            <p:cNvSpPr/>
            <p:nvPr/>
          </p:nvSpPr>
          <p:spPr>
            <a:xfrm>
              <a:off x="6854588" y="2770834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307A43E9-596B-1EF7-473D-EB7E56FAB35C}"/>
                </a:ext>
              </a:extLst>
            </p:cNvPr>
            <p:cNvSpPr/>
            <p:nvPr/>
          </p:nvSpPr>
          <p:spPr>
            <a:xfrm>
              <a:off x="5811485" y="4335692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9C4E3E30-D7CA-0974-E535-4F0329D1BEC2}"/>
                </a:ext>
              </a:extLst>
            </p:cNvPr>
            <p:cNvSpPr/>
            <p:nvPr/>
          </p:nvSpPr>
          <p:spPr>
            <a:xfrm>
              <a:off x="5289938" y="4335692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98773513-EE5C-C354-CE7D-3DE2B5ADC91F}"/>
                </a:ext>
              </a:extLst>
            </p:cNvPr>
            <p:cNvSpPr/>
            <p:nvPr/>
          </p:nvSpPr>
          <p:spPr>
            <a:xfrm>
              <a:off x="4768404" y="3811330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2791AD14-CC42-801B-A9A5-329750087927}"/>
                </a:ext>
              </a:extLst>
            </p:cNvPr>
            <p:cNvSpPr/>
            <p:nvPr/>
          </p:nvSpPr>
          <p:spPr>
            <a:xfrm>
              <a:off x="6333032" y="3814144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673728FB-B63C-F39E-A671-BF1378ACD99F}"/>
                </a:ext>
              </a:extLst>
            </p:cNvPr>
            <p:cNvSpPr/>
            <p:nvPr/>
          </p:nvSpPr>
          <p:spPr>
            <a:xfrm>
              <a:off x="6333032" y="4335692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1DEA16F6-92BA-EDBB-18A2-335E477512FF}"/>
                </a:ext>
              </a:extLst>
            </p:cNvPr>
            <p:cNvSpPr/>
            <p:nvPr/>
          </p:nvSpPr>
          <p:spPr>
            <a:xfrm>
              <a:off x="6854588" y="3287186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6DB0C89-F46D-46D0-1827-0BAA8F47DC5F}"/>
                </a:ext>
              </a:extLst>
            </p:cNvPr>
            <p:cNvSpPr/>
            <p:nvPr/>
          </p:nvSpPr>
          <p:spPr>
            <a:xfrm>
              <a:off x="5289932" y="2769535"/>
              <a:ext cx="1564642" cy="1559230"/>
            </a:xfrm>
            <a:prstGeom prst="rect">
              <a:avLst/>
            </a:prstGeom>
            <a:solidFill>
              <a:srgbClr val="FF0000">
                <a:alpha val="19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4443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51C02-9804-95A1-59A4-8DA318430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직사각형 71">
            <a:extLst>
              <a:ext uri="{FF2B5EF4-FFF2-40B4-BE49-F238E27FC236}">
                <a16:creationId xmlns:a16="http://schemas.microsoft.com/office/drawing/2014/main" id="{A07DD7C1-D5D5-97B5-38F4-3192C4954E83}"/>
              </a:ext>
            </a:extLst>
          </p:cNvPr>
          <p:cNvSpPr/>
          <p:nvPr/>
        </p:nvSpPr>
        <p:spPr>
          <a:xfrm>
            <a:off x="5811499" y="22518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C14A861-1FC7-D834-B44E-E91D6E3D0BA9}"/>
              </a:ext>
            </a:extLst>
          </p:cNvPr>
          <p:cNvSpPr/>
          <p:nvPr/>
        </p:nvSpPr>
        <p:spPr>
          <a:xfrm>
            <a:off x="4768400" y="225177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E39BC17-EA95-CD42-312D-9733ABBD51DC}"/>
              </a:ext>
            </a:extLst>
          </p:cNvPr>
          <p:cNvSpPr/>
          <p:nvPr/>
        </p:nvSpPr>
        <p:spPr>
          <a:xfrm>
            <a:off x="4768404" y="277343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DA8C1ED-1B14-9D45-6C19-A8EFC23B7F58}"/>
              </a:ext>
            </a:extLst>
          </p:cNvPr>
          <p:cNvSpPr/>
          <p:nvPr/>
        </p:nvSpPr>
        <p:spPr>
          <a:xfrm>
            <a:off x="6333045" y="2252101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61CFD5F-D69A-ED63-A4CE-8ED9CD885BBF}"/>
              </a:ext>
            </a:extLst>
          </p:cNvPr>
          <p:cNvSpPr/>
          <p:nvPr/>
        </p:nvSpPr>
        <p:spPr>
          <a:xfrm>
            <a:off x="5289952" y="22518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2646A42-CD4D-5AC7-9E5E-7E564907CF13}"/>
              </a:ext>
            </a:extLst>
          </p:cNvPr>
          <p:cNvSpPr/>
          <p:nvPr/>
        </p:nvSpPr>
        <p:spPr>
          <a:xfrm>
            <a:off x="6333034" y="3294543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BCBA380-52BC-B22D-F708-9FAB492698B4}"/>
              </a:ext>
            </a:extLst>
          </p:cNvPr>
          <p:cNvSpPr/>
          <p:nvPr/>
        </p:nvSpPr>
        <p:spPr>
          <a:xfrm>
            <a:off x="6333045" y="277343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555CCAA-FBAA-A01B-178B-71F871E34BDB}"/>
              </a:ext>
            </a:extLst>
          </p:cNvPr>
          <p:cNvSpPr txBox="1"/>
          <p:nvPr/>
        </p:nvSpPr>
        <p:spPr>
          <a:xfrm>
            <a:off x="5076637" y="207473"/>
            <a:ext cx="203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&lt;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이탈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&gt;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맵 후보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7CA047-C92D-FA8A-E0C6-F9F4BBF9BC3F}"/>
              </a:ext>
            </a:extLst>
          </p:cNvPr>
          <p:cNvSpPr/>
          <p:nvPr/>
        </p:nvSpPr>
        <p:spPr>
          <a:xfrm>
            <a:off x="5811498" y="4337856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CA0C19-1DA1-1C33-95D7-B279C1DB9E16}"/>
              </a:ext>
            </a:extLst>
          </p:cNvPr>
          <p:cNvSpPr/>
          <p:nvPr/>
        </p:nvSpPr>
        <p:spPr>
          <a:xfrm>
            <a:off x="4768399" y="43369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FEA983-5687-5373-09DB-40A00E0C231C}"/>
              </a:ext>
            </a:extLst>
          </p:cNvPr>
          <p:cNvSpPr/>
          <p:nvPr/>
        </p:nvSpPr>
        <p:spPr>
          <a:xfrm>
            <a:off x="4768403" y="3816308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DFE930-BCC8-B502-6233-8922ADE33720}"/>
              </a:ext>
            </a:extLst>
          </p:cNvPr>
          <p:cNvSpPr/>
          <p:nvPr/>
        </p:nvSpPr>
        <p:spPr>
          <a:xfrm>
            <a:off x="6333044" y="4337639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3A304E-640A-7282-92DC-2BDD731477CE}"/>
              </a:ext>
            </a:extLst>
          </p:cNvPr>
          <p:cNvSpPr/>
          <p:nvPr/>
        </p:nvSpPr>
        <p:spPr>
          <a:xfrm>
            <a:off x="5289951" y="4337856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19BCF1-5834-6C0A-6A80-5F56911E1939}"/>
              </a:ext>
            </a:extLst>
          </p:cNvPr>
          <p:cNvSpPr/>
          <p:nvPr/>
        </p:nvSpPr>
        <p:spPr>
          <a:xfrm>
            <a:off x="6854587" y="3816309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242D543-4537-92C9-47BB-B5D4EE5B2ACF}"/>
              </a:ext>
            </a:extLst>
          </p:cNvPr>
          <p:cNvSpPr/>
          <p:nvPr/>
        </p:nvSpPr>
        <p:spPr>
          <a:xfrm>
            <a:off x="4768401" y="3294760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6D4D1A-3627-6274-B652-9F9EB380D51C}"/>
              </a:ext>
            </a:extLst>
          </p:cNvPr>
          <p:cNvSpPr/>
          <p:nvPr/>
        </p:nvSpPr>
        <p:spPr>
          <a:xfrm>
            <a:off x="6854585" y="329454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690699-BBEF-8C76-4803-77B72E5E1595}"/>
              </a:ext>
            </a:extLst>
          </p:cNvPr>
          <p:cNvSpPr/>
          <p:nvPr/>
        </p:nvSpPr>
        <p:spPr>
          <a:xfrm>
            <a:off x="6854585" y="4336985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FF5743B-2A02-1093-3465-82B0A73B3564}"/>
              </a:ext>
            </a:extLst>
          </p:cNvPr>
          <p:cNvSpPr/>
          <p:nvPr/>
        </p:nvSpPr>
        <p:spPr>
          <a:xfrm>
            <a:off x="5289938" y="2773321"/>
            <a:ext cx="1564642" cy="1559230"/>
          </a:xfrm>
          <a:prstGeom prst="rect">
            <a:avLst/>
          </a:prstGeom>
          <a:solidFill>
            <a:srgbClr val="FF0000">
              <a:alpha val="19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772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DFA5D-E8A4-B623-1BDD-D54AF72E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직사각형 71">
            <a:extLst>
              <a:ext uri="{FF2B5EF4-FFF2-40B4-BE49-F238E27FC236}">
                <a16:creationId xmlns:a16="http://schemas.microsoft.com/office/drawing/2014/main" id="{399C2519-4092-E18D-14F6-614765AAC7C2}"/>
              </a:ext>
            </a:extLst>
          </p:cNvPr>
          <p:cNvSpPr/>
          <p:nvPr/>
        </p:nvSpPr>
        <p:spPr>
          <a:xfrm>
            <a:off x="5811499" y="22518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DD4EA53-173B-6165-B4E8-B3A4D2CB0E5B}"/>
              </a:ext>
            </a:extLst>
          </p:cNvPr>
          <p:cNvSpPr/>
          <p:nvPr/>
        </p:nvSpPr>
        <p:spPr>
          <a:xfrm>
            <a:off x="4768400" y="225177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24FCACB-2283-FEA2-319E-21BB4335C252}"/>
              </a:ext>
            </a:extLst>
          </p:cNvPr>
          <p:cNvSpPr/>
          <p:nvPr/>
        </p:nvSpPr>
        <p:spPr>
          <a:xfrm>
            <a:off x="4768404" y="277343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B235204-7E44-E0AC-9E31-D0282CD89ED2}"/>
              </a:ext>
            </a:extLst>
          </p:cNvPr>
          <p:cNvSpPr/>
          <p:nvPr/>
        </p:nvSpPr>
        <p:spPr>
          <a:xfrm>
            <a:off x="6333045" y="2252101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3F59846-86CB-597F-D682-A88D0D4731CD}"/>
              </a:ext>
            </a:extLst>
          </p:cNvPr>
          <p:cNvSpPr/>
          <p:nvPr/>
        </p:nvSpPr>
        <p:spPr>
          <a:xfrm>
            <a:off x="5289952" y="22518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CC11564-616E-7AE1-433E-E45F77AEF6E4}"/>
              </a:ext>
            </a:extLst>
          </p:cNvPr>
          <p:cNvSpPr/>
          <p:nvPr/>
        </p:nvSpPr>
        <p:spPr>
          <a:xfrm>
            <a:off x="6854585" y="2772343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13153D5-132A-0734-E8DF-E4B0666FE9E6}"/>
              </a:ext>
            </a:extLst>
          </p:cNvPr>
          <p:cNvSpPr/>
          <p:nvPr/>
        </p:nvSpPr>
        <p:spPr>
          <a:xfrm>
            <a:off x="6333045" y="277343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5F6B73E-611E-F06E-58B6-21718E04F68F}"/>
              </a:ext>
            </a:extLst>
          </p:cNvPr>
          <p:cNvSpPr txBox="1"/>
          <p:nvPr/>
        </p:nvSpPr>
        <p:spPr>
          <a:xfrm>
            <a:off x="5076637" y="207473"/>
            <a:ext cx="203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&lt;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이탈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&gt;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맵 후보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C3AD7D-523E-5494-566A-8FDD3FB9610E}"/>
              </a:ext>
            </a:extLst>
          </p:cNvPr>
          <p:cNvSpPr/>
          <p:nvPr/>
        </p:nvSpPr>
        <p:spPr>
          <a:xfrm>
            <a:off x="5811498" y="4337856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B4AEBB-A0E7-297D-EBAC-43FA322411C6}"/>
              </a:ext>
            </a:extLst>
          </p:cNvPr>
          <p:cNvSpPr/>
          <p:nvPr/>
        </p:nvSpPr>
        <p:spPr>
          <a:xfrm>
            <a:off x="4768399" y="43369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268571-662F-A80C-41A5-B83A285A6E7D}"/>
              </a:ext>
            </a:extLst>
          </p:cNvPr>
          <p:cNvSpPr/>
          <p:nvPr/>
        </p:nvSpPr>
        <p:spPr>
          <a:xfrm>
            <a:off x="4768403" y="3816308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75119B1-B537-6FA3-E321-0558EB1677F3}"/>
              </a:ext>
            </a:extLst>
          </p:cNvPr>
          <p:cNvSpPr/>
          <p:nvPr/>
        </p:nvSpPr>
        <p:spPr>
          <a:xfrm>
            <a:off x="6333044" y="4337639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BA1379-DCA4-8FFE-EF15-0A4AB11A8080}"/>
              </a:ext>
            </a:extLst>
          </p:cNvPr>
          <p:cNvSpPr/>
          <p:nvPr/>
        </p:nvSpPr>
        <p:spPr>
          <a:xfrm>
            <a:off x="5289951" y="4337856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317309-6447-13B0-E29E-4BC7A9708340}"/>
              </a:ext>
            </a:extLst>
          </p:cNvPr>
          <p:cNvSpPr/>
          <p:nvPr/>
        </p:nvSpPr>
        <p:spPr>
          <a:xfrm>
            <a:off x="6854587" y="3816309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55E8DA-DEA2-D640-0533-7D1179A57E7E}"/>
              </a:ext>
            </a:extLst>
          </p:cNvPr>
          <p:cNvSpPr/>
          <p:nvPr/>
        </p:nvSpPr>
        <p:spPr>
          <a:xfrm>
            <a:off x="4768401" y="3294760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F7A3DE-6DD9-30E5-A38F-DDF89C15F65A}"/>
              </a:ext>
            </a:extLst>
          </p:cNvPr>
          <p:cNvSpPr/>
          <p:nvPr/>
        </p:nvSpPr>
        <p:spPr>
          <a:xfrm>
            <a:off x="6854585" y="329454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4632C8-4E56-D1C9-6691-88070E596DBA}"/>
              </a:ext>
            </a:extLst>
          </p:cNvPr>
          <p:cNvSpPr/>
          <p:nvPr/>
        </p:nvSpPr>
        <p:spPr>
          <a:xfrm>
            <a:off x="6854585" y="4336985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503DB4-3B97-3DCA-63D0-98DFB201463F}"/>
              </a:ext>
            </a:extLst>
          </p:cNvPr>
          <p:cNvSpPr/>
          <p:nvPr/>
        </p:nvSpPr>
        <p:spPr>
          <a:xfrm>
            <a:off x="5289938" y="2772343"/>
            <a:ext cx="1564642" cy="1559230"/>
          </a:xfrm>
          <a:prstGeom prst="rect">
            <a:avLst/>
          </a:prstGeom>
          <a:solidFill>
            <a:srgbClr val="FF0000">
              <a:alpha val="19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788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E83B3-E99D-30FF-403F-33A5DBEA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1">
            <a:extLst>
              <a:ext uri="{FF2B5EF4-FFF2-40B4-BE49-F238E27FC236}">
                <a16:creationId xmlns:a16="http://schemas.microsoft.com/office/drawing/2014/main" id="{79171386-82BB-38F4-6153-917AB7EB3784}"/>
              </a:ext>
            </a:extLst>
          </p:cNvPr>
          <p:cNvSpPr txBox="1"/>
          <p:nvPr/>
        </p:nvSpPr>
        <p:spPr>
          <a:xfrm>
            <a:off x="5076637" y="207473"/>
            <a:ext cx="203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&lt;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이탈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&gt;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맵 후보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FD93386-5FC5-4EBB-E44C-454621DCC77E}"/>
              </a:ext>
            </a:extLst>
          </p:cNvPr>
          <p:cNvGrpSpPr/>
          <p:nvPr/>
        </p:nvGrpSpPr>
        <p:grpSpPr>
          <a:xfrm>
            <a:off x="4768399" y="2251774"/>
            <a:ext cx="2607736" cy="2607629"/>
            <a:chOff x="4768399" y="2251774"/>
            <a:chExt cx="2607736" cy="2607629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4EAACA7-C2B0-05B4-0DC7-2E2DBBA7FD28}"/>
                </a:ext>
              </a:extLst>
            </p:cNvPr>
            <p:cNvSpPr/>
            <p:nvPr/>
          </p:nvSpPr>
          <p:spPr>
            <a:xfrm>
              <a:off x="5811499" y="2251884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00FB7073-2EB4-3C6A-E6C6-EDE770867390}"/>
                </a:ext>
              </a:extLst>
            </p:cNvPr>
            <p:cNvSpPr/>
            <p:nvPr/>
          </p:nvSpPr>
          <p:spPr>
            <a:xfrm>
              <a:off x="4768400" y="2251774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FF335B3C-1647-16CE-8180-C4BD01D18342}"/>
                </a:ext>
              </a:extLst>
            </p:cNvPr>
            <p:cNvSpPr/>
            <p:nvPr/>
          </p:nvSpPr>
          <p:spPr>
            <a:xfrm>
              <a:off x="4768404" y="2773432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7B95C3BF-0004-3108-68ED-106948EDEAEE}"/>
                </a:ext>
              </a:extLst>
            </p:cNvPr>
            <p:cNvSpPr/>
            <p:nvPr/>
          </p:nvSpPr>
          <p:spPr>
            <a:xfrm>
              <a:off x="6333045" y="2252101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1382CF44-3FD6-3385-0276-FCF30C20ACF2}"/>
                </a:ext>
              </a:extLst>
            </p:cNvPr>
            <p:cNvSpPr/>
            <p:nvPr/>
          </p:nvSpPr>
          <p:spPr>
            <a:xfrm>
              <a:off x="5289952" y="2251884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B1A95F09-51D0-E68A-01A0-C9ED5F23F0B9}"/>
                </a:ext>
              </a:extLst>
            </p:cNvPr>
            <p:cNvSpPr/>
            <p:nvPr/>
          </p:nvSpPr>
          <p:spPr>
            <a:xfrm>
              <a:off x="6854585" y="2772343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21B8735D-0A53-C451-CB0D-15D3DB3817C1}"/>
                </a:ext>
              </a:extLst>
            </p:cNvPr>
            <p:cNvSpPr/>
            <p:nvPr/>
          </p:nvSpPr>
          <p:spPr>
            <a:xfrm>
              <a:off x="6333045" y="2773432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1A9A797-EEB4-51FA-4EA5-D730EE1B5743}"/>
                </a:ext>
              </a:extLst>
            </p:cNvPr>
            <p:cNvSpPr/>
            <p:nvPr/>
          </p:nvSpPr>
          <p:spPr>
            <a:xfrm>
              <a:off x="5811498" y="4337856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DB1AA33-17C8-F4B1-BD74-1AAD3B22735C}"/>
                </a:ext>
              </a:extLst>
            </p:cNvPr>
            <p:cNvSpPr/>
            <p:nvPr/>
          </p:nvSpPr>
          <p:spPr>
            <a:xfrm>
              <a:off x="4768399" y="4336984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520FD00-CB8F-F648-138A-F5DE5CA9A62E}"/>
                </a:ext>
              </a:extLst>
            </p:cNvPr>
            <p:cNvSpPr/>
            <p:nvPr/>
          </p:nvSpPr>
          <p:spPr>
            <a:xfrm>
              <a:off x="4768403" y="3816308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FA61EC4-71E9-B400-EE9A-35BC45D3E066}"/>
                </a:ext>
              </a:extLst>
            </p:cNvPr>
            <p:cNvSpPr/>
            <p:nvPr/>
          </p:nvSpPr>
          <p:spPr>
            <a:xfrm>
              <a:off x="6333044" y="433763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02B3C32-EC1E-A467-51C8-A75DA5139B9C}"/>
                </a:ext>
              </a:extLst>
            </p:cNvPr>
            <p:cNvSpPr/>
            <p:nvPr/>
          </p:nvSpPr>
          <p:spPr>
            <a:xfrm>
              <a:off x="5289951" y="4337856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3DC49B8-41B7-B6DE-2B92-6D0DC6D494E3}"/>
                </a:ext>
              </a:extLst>
            </p:cNvPr>
            <p:cNvSpPr/>
            <p:nvPr/>
          </p:nvSpPr>
          <p:spPr>
            <a:xfrm>
              <a:off x="6854587" y="381630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7392CC9-EB7E-2207-888F-244D6A70C684}"/>
                </a:ext>
              </a:extLst>
            </p:cNvPr>
            <p:cNvSpPr/>
            <p:nvPr/>
          </p:nvSpPr>
          <p:spPr>
            <a:xfrm>
              <a:off x="4768401" y="3294760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BBE79BC-7C1D-9B75-712A-1198880BE3C1}"/>
                </a:ext>
              </a:extLst>
            </p:cNvPr>
            <p:cNvSpPr/>
            <p:nvPr/>
          </p:nvSpPr>
          <p:spPr>
            <a:xfrm>
              <a:off x="6854585" y="3294544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6152ABA-B958-E2B1-1674-A25B410F23EF}"/>
                </a:ext>
              </a:extLst>
            </p:cNvPr>
            <p:cNvSpPr/>
            <p:nvPr/>
          </p:nvSpPr>
          <p:spPr>
            <a:xfrm>
              <a:off x="6333032" y="3806994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6D5F1D4-D104-F12E-724C-D0559980B2E1}"/>
                </a:ext>
              </a:extLst>
            </p:cNvPr>
            <p:cNvSpPr/>
            <p:nvPr/>
          </p:nvSpPr>
          <p:spPr>
            <a:xfrm>
              <a:off x="5289938" y="2772343"/>
              <a:ext cx="1564642" cy="1559230"/>
            </a:xfrm>
            <a:prstGeom prst="rect">
              <a:avLst/>
            </a:prstGeom>
            <a:solidFill>
              <a:srgbClr val="FF0000">
                <a:alpha val="19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066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F467C-36B3-61C4-0F08-65092021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직사각형 71">
            <a:extLst>
              <a:ext uri="{FF2B5EF4-FFF2-40B4-BE49-F238E27FC236}">
                <a16:creationId xmlns:a16="http://schemas.microsoft.com/office/drawing/2014/main" id="{B3D993D4-5C6F-3EB8-97C3-22F8689EA2AB}"/>
              </a:ext>
            </a:extLst>
          </p:cNvPr>
          <p:cNvSpPr/>
          <p:nvPr/>
        </p:nvSpPr>
        <p:spPr>
          <a:xfrm>
            <a:off x="5811499" y="22518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56E9940-DAD6-A784-2EFB-33AA51C2B5A9}"/>
              </a:ext>
            </a:extLst>
          </p:cNvPr>
          <p:cNvSpPr/>
          <p:nvPr/>
        </p:nvSpPr>
        <p:spPr>
          <a:xfrm>
            <a:off x="4768400" y="225177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A92A703-5279-A074-4232-3191D8C84E4F}"/>
              </a:ext>
            </a:extLst>
          </p:cNvPr>
          <p:cNvSpPr/>
          <p:nvPr/>
        </p:nvSpPr>
        <p:spPr>
          <a:xfrm>
            <a:off x="4768404" y="277343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DEF73CA-7487-CAE3-AFE4-CF3C95FEB165}"/>
              </a:ext>
            </a:extLst>
          </p:cNvPr>
          <p:cNvSpPr/>
          <p:nvPr/>
        </p:nvSpPr>
        <p:spPr>
          <a:xfrm>
            <a:off x="6333045" y="2252101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F336F6C-F330-F589-3B65-88337D9703DD}"/>
              </a:ext>
            </a:extLst>
          </p:cNvPr>
          <p:cNvSpPr/>
          <p:nvPr/>
        </p:nvSpPr>
        <p:spPr>
          <a:xfrm>
            <a:off x="5289952" y="22518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DAE4720-985D-38B5-26EE-6FFB55E089A1}"/>
              </a:ext>
            </a:extLst>
          </p:cNvPr>
          <p:cNvSpPr/>
          <p:nvPr/>
        </p:nvSpPr>
        <p:spPr>
          <a:xfrm>
            <a:off x="6854585" y="2772343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188C1D1-03DC-5FDD-765B-752E9EB53A71}"/>
              </a:ext>
            </a:extLst>
          </p:cNvPr>
          <p:cNvSpPr/>
          <p:nvPr/>
        </p:nvSpPr>
        <p:spPr>
          <a:xfrm>
            <a:off x="6333045" y="277343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0858B3D-E57F-572B-960D-437FA7456C7D}"/>
              </a:ext>
            </a:extLst>
          </p:cNvPr>
          <p:cNvSpPr txBox="1"/>
          <p:nvPr/>
        </p:nvSpPr>
        <p:spPr>
          <a:xfrm>
            <a:off x="5076637" y="207473"/>
            <a:ext cx="203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&lt;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이탈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&gt;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맵 후보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83CA2A-79ED-E11E-877D-D15C3C06FFD9}"/>
              </a:ext>
            </a:extLst>
          </p:cNvPr>
          <p:cNvSpPr/>
          <p:nvPr/>
        </p:nvSpPr>
        <p:spPr>
          <a:xfrm>
            <a:off x="5811498" y="4337856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201781-6394-BD77-86F1-38CB38A2192E}"/>
              </a:ext>
            </a:extLst>
          </p:cNvPr>
          <p:cNvSpPr/>
          <p:nvPr/>
        </p:nvSpPr>
        <p:spPr>
          <a:xfrm>
            <a:off x="4768399" y="43369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189CEE-583D-9A80-6303-B9FC7804749C}"/>
              </a:ext>
            </a:extLst>
          </p:cNvPr>
          <p:cNvSpPr/>
          <p:nvPr/>
        </p:nvSpPr>
        <p:spPr>
          <a:xfrm>
            <a:off x="4246848" y="3292910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DFD3E0-0963-B845-3F65-6C35402DA9CD}"/>
              </a:ext>
            </a:extLst>
          </p:cNvPr>
          <p:cNvSpPr/>
          <p:nvPr/>
        </p:nvSpPr>
        <p:spPr>
          <a:xfrm>
            <a:off x="6333044" y="4337639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D31C5B-08CB-3976-A1DE-39D68E9AD5A7}"/>
              </a:ext>
            </a:extLst>
          </p:cNvPr>
          <p:cNvSpPr/>
          <p:nvPr/>
        </p:nvSpPr>
        <p:spPr>
          <a:xfrm>
            <a:off x="5289951" y="4337856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117657-70C1-DA3B-0355-41AB87AB8AA5}"/>
              </a:ext>
            </a:extLst>
          </p:cNvPr>
          <p:cNvSpPr/>
          <p:nvPr/>
        </p:nvSpPr>
        <p:spPr>
          <a:xfrm>
            <a:off x="6854587" y="3816309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5789E27-D9C6-7D84-9BCE-7DA3116687E0}"/>
              </a:ext>
            </a:extLst>
          </p:cNvPr>
          <p:cNvSpPr/>
          <p:nvPr/>
        </p:nvSpPr>
        <p:spPr>
          <a:xfrm>
            <a:off x="4246848" y="277234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80B4BB-7E32-6BCE-A15F-D14BCABB71C5}"/>
              </a:ext>
            </a:extLst>
          </p:cNvPr>
          <p:cNvSpPr/>
          <p:nvPr/>
        </p:nvSpPr>
        <p:spPr>
          <a:xfrm>
            <a:off x="6854585" y="329454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7E68D5-FEE8-9C41-33C8-7DFF482AE6B3}"/>
              </a:ext>
            </a:extLst>
          </p:cNvPr>
          <p:cNvSpPr/>
          <p:nvPr/>
        </p:nvSpPr>
        <p:spPr>
          <a:xfrm>
            <a:off x="6333032" y="380699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639BE1-D843-F824-D936-8F645C738BB5}"/>
              </a:ext>
            </a:extLst>
          </p:cNvPr>
          <p:cNvSpPr/>
          <p:nvPr/>
        </p:nvSpPr>
        <p:spPr>
          <a:xfrm>
            <a:off x="4768388" y="3292909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37F961C-6F0C-53AC-3952-184BFAABD9AD}"/>
              </a:ext>
            </a:extLst>
          </p:cNvPr>
          <p:cNvSpPr/>
          <p:nvPr/>
        </p:nvSpPr>
        <p:spPr>
          <a:xfrm>
            <a:off x="4768388" y="380699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328EA6-C5AD-FF9F-CD7C-0E3C2E3C8A0A}"/>
              </a:ext>
            </a:extLst>
          </p:cNvPr>
          <p:cNvSpPr/>
          <p:nvPr/>
        </p:nvSpPr>
        <p:spPr>
          <a:xfrm>
            <a:off x="5289939" y="2769311"/>
            <a:ext cx="1564642" cy="1559230"/>
          </a:xfrm>
          <a:prstGeom prst="rect">
            <a:avLst/>
          </a:prstGeom>
          <a:solidFill>
            <a:srgbClr val="FF0000">
              <a:alpha val="19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275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13CE7-47F3-81C4-6081-504E06998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직사각형 71">
            <a:extLst>
              <a:ext uri="{FF2B5EF4-FFF2-40B4-BE49-F238E27FC236}">
                <a16:creationId xmlns:a16="http://schemas.microsoft.com/office/drawing/2014/main" id="{7614D58C-FB76-6522-453A-75B6A22AF443}"/>
              </a:ext>
            </a:extLst>
          </p:cNvPr>
          <p:cNvSpPr/>
          <p:nvPr/>
        </p:nvSpPr>
        <p:spPr>
          <a:xfrm>
            <a:off x="5811499" y="22518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E4B5629-E8BB-B299-33E0-A6F5FCF65C74}"/>
              </a:ext>
            </a:extLst>
          </p:cNvPr>
          <p:cNvSpPr/>
          <p:nvPr/>
        </p:nvSpPr>
        <p:spPr>
          <a:xfrm>
            <a:off x="4768400" y="225177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7DCD47F-F947-87F6-4DE7-20D3FA920E91}"/>
              </a:ext>
            </a:extLst>
          </p:cNvPr>
          <p:cNvSpPr/>
          <p:nvPr/>
        </p:nvSpPr>
        <p:spPr>
          <a:xfrm>
            <a:off x="4768404" y="277343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D9C8497-26ED-BA68-37E8-3A789BD175A5}"/>
              </a:ext>
            </a:extLst>
          </p:cNvPr>
          <p:cNvSpPr/>
          <p:nvPr/>
        </p:nvSpPr>
        <p:spPr>
          <a:xfrm>
            <a:off x="6333045" y="2252101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D20E1F1-656E-2838-75D9-94F061C85305}"/>
              </a:ext>
            </a:extLst>
          </p:cNvPr>
          <p:cNvSpPr/>
          <p:nvPr/>
        </p:nvSpPr>
        <p:spPr>
          <a:xfrm>
            <a:off x="5289952" y="22518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0E8B0F2-CC2B-67F9-CB22-9FE69CE347A2}"/>
              </a:ext>
            </a:extLst>
          </p:cNvPr>
          <p:cNvSpPr/>
          <p:nvPr/>
        </p:nvSpPr>
        <p:spPr>
          <a:xfrm>
            <a:off x="6854585" y="2772343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9989D86-5BEF-E021-8B72-EB644B286D26}"/>
              </a:ext>
            </a:extLst>
          </p:cNvPr>
          <p:cNvSpPr/>
          <p:nvPr/>
        </p:nvSpPr>
        <p:spPr>
          <a:xfrm>
            <a:off x="6333045" y="277343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BE991E7-121E-48EB-8A53-F91DB2AFB7DC}"/>
              </a:ext>
            </a:extLst>
          </p:cNvPr>
          <p:cNvSpPr txBox="1"/>
          <p:nvPr/>
        </p:nvSpPr>
        <p:spPr>
          <a:xfrm>
            <a:off x="5076637" y="207473"/>
            <a:ext cx="203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&lt;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이탈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&gt;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맵 후보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BB0E8-EB68-A256-292B-471F86B59F4A}"/>
              </a:ext>
            </a:extLst>
          </p:cNvPr>
          <p:cNvSpPr/>
          <p:nvPr/>
        </p:nvSpPr>
        <p:spPr>
          <a:xfrm>
            <a:off x="5811498" y="4337856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242CFF-B1B6-CD2A-7328-B1FBA220120A}"/>
              </a:ext>
            </a:extLst>
          </p:cNvPr>
          <p:cNvSpPr/>
          <p:nvPr/>
        </p:nvSpPr>
        <p:spPr>
          <a:xfrm>
            <a:off x="4768399" y="43369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F5EEDF-B9F7-CD98-00DD-5A65BE440967}"/>
              </a:ext>
            </a:extLst>
          </p:cNvPr>
          <p:cNvSpPr/>
          <p:nvPr/>
        </p:nvSpPr>
        <p:spPr>
          <a:xfrm>
            <a:off x="5289936" y="173028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EC22F1-3DDB-32FA-BD10-05BC3EF5CFAE}"/>
              </a:ext>
            </a:extLst>
          </p:cNvPr>
          <p:cNvSpPr/>
          <p:nvPr/>
        </p:nvSpPr>
        <p:spPr>
          <a:xfrm>
            <a:off x="6333044" y="4337639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BB96AF-7A42-CBCC-1E4E-E2C6E94667DB}"/>
              </a:ext>
            </a:extLst>
          </p:cNvPr>
          <p:cNvSpPr/>
          <p:nvPr/>
        </p:nvSpPr>
        <p:spPr>
          <a:xfrm>
            <a:off x="5289951" y="4337856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3E98173-0360-5C4D-8A17-418B6E392EB0}"/>
              </a:ext>
            </a:extLst>
          </p:cNvPr>
          <p:cNvSpPr/>
          <p:nvPr/>
        </p:nvSpPr>
        <p:spPr>
          <a:xfrm>
            <a:off x="6854587" y="3816309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9C80B5-E230-2AB9-AB6C-E74D17F54465}"/>
              </a:ext>
            </a:extLst>
          </p:cNvPr>
          <p:cNvSpPr/>
          <p:nvPr/>
        </p:nvSpPr>
        <p:spPr>
          <a:xfrm>
            <a:off x="5811472" y="172752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6E509B-CB6B-6482-5F75-E462296AC5FD}"/>
              </a:ext>
            </a:extLst>
          </p:cNvPr>
          <p:cNvSpPr/>
          <p:nvPr/>
        </p:nvSpPr>
        <p:spPr>
          <a:xfrm>
            <a:off x="6854585" y="329454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3E86D1-DEA7-4CAF-5C66-0D52E8048C25}"/>
              </a:ext>
            </a:extLst>
          </p:cNvPr>
          <p:cNvSpPr/>
          <p:nvPr/>
        </p:nvSpPr>
        <p:spPr>
          <a:xfrm>
            <a:off x="6333032" y="380699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D20919-B2A4-6ECC-179C-865071BCEE95}"/>
              </a:ext>
            </a:extLst>
          </p:cNvPr>
          <p:cNvSpPr/>
          <p:nvPr/>
        </p:nvSpPr>
        <p:spPr>
          <a:xfrm>
            <a:off x="4768388" y="3292909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FA9747-41A8-31C3-65C0-099AC6BEC438}"/>
              </a:ext>
            </a:extLst>
          </p:cNvPr>
          <p:cNvSpPr/>
          <p:nvPr/>
        </p:nvSpPr>
        <p:spPr>
          <a:xfrm>
            <a:off x="4768388" y="380699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F8B229-3E10-03DA-D9EA-F26C915EF24D}"/>
              </a:ext>
            </a:extLst>
          </p:cNvPr>
          <p:cNvSpPr/>
          <p:nvPr/>
        </p:nvSpPr>
        <p:spPr>
          <a:xfrm>
            <a:off x="5289939" y="2769311"/>
            <a:ext cx="1564642" cy="1559230"/>
          </a:xfrm>
          <a:prstGeom prst="rect">
            <a:avLst/>
          </a:prstGeom>
          <a:solidFill>
            <a:srgbClr val="FF0000">
              <a:alpha val="19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788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0A7DC-5008-C045-6620-CF02C2F55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직사각형 71">
            <a:extLst>
              <a:ext uri="{FF2B5EF4-FFF2-40B4-BE49-F238E27FC236}">
                <a16:creationId xmlns:a16="http://schemas.microsoft.com/office/drawing/2014/main" id="{4BB2EA80-BA3D-53F4-00D6-3DBBD6735D4E}"/>
              </a:ext>
            </a:extLst>
          </p:cNvPr>
          <p:cNvSpPr/>
          <p:nvPr/>
        </p:nvSpPr>
        <p:spPr>
          <a:xfrm>
            <a:off x="5811499" y="22518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60F7710-3790-06EB-F041-EF7292836C9F}"/>
              </a:ext>
            </a:extLst>
          </p:cNvPr>
          <p:cNvSpPr/>
          <p:nvPr/>
        </p:nvSpPr>
        <p:spPr>
          <a:xfrm>
            <a:off x="4768400" y="225177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1AE9CE1-55B2-0253-F652-0DE4DF6619B7}"/>
              </a:ext>
            </a:extLst>
          </p:cNvPr>
          <p:cNvSpPr/>
          <p:nvPr/>
        </p:nvSpPr>
        <p:spPr>
          <a:xfrm>
            <a:off x="4768404" y="277343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3C7767B-7939-5BF6-692F-2A7425A4344C}"/>
              </a:ext>
            </a:extLst>
          </p:cNvPr>
          <p:cNvSpPr/>
          <p:nvPr/>
        </p:nvSpPr>
        <p:spPr>
          <a:xfrm>
            <a:off x="6333045" y="2252101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1D41033-DEDB-38C4-6F80-B2337EF34266}"/>
              </a:ext>
            </a:extLst>
          </p:cNvPr>
          <p:cNvSpPr/>
          <p:nvPr/>
        </p:nvSpPr>
        <p:spPr>
          <a:xfrm>
            <a:off x="5289952" y="22518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5CABECF-EECE-498D-8CE4-5435BAE1EAF2}"/>
              </a:ext>
            </a:extLst>
          </p:cNvPr>
          <p:cNvSpPr/>
          <p:nvPr/>
        </p:nvSpPr>
        <p:spPr>
          <a:xfrm>
            <a:off x="6854585" y="2772343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F43F4C1-5C71-08B4-FAC7-74933D2FBEC1}"/>
              </a:ext>
            </a:extLst>
          </p:cNvPr>
          <p:cNvSpPr/>
          <p:nvPr/>
        </p:nvSpPr>
        <p:spPr>
          <a:xfrm>
            <a:off x="6333045" y="277343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C39A6CE-AAD6-3039-75DD-665DF5A23FAD}"/>
              </a:ext>
            </a:extLst>
          </p:cNvPr>
          <p:cNvSpPr txBox="1"/>
          <p:nvPr/>
        </p:nvSpPr>
        <p:spPr>
          <a:xfrm>
            <a:off x="5076637" y="207473"/>
            <a:ext cx="203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&lt;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이탈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&gt;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맵 후보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E8EF11-E644-A3C6-677F-99D75D7FFC4E}"/>
              </a:ext>
            </a:extLst>
          </p:cNvPr>
          <p:cNvSpPr/>
          <p:nvPr/>
        </p:nvSpPr>
        <p:spPr>
          <a:xfrm>
            <a:off x="5811498" y="4337856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7BECE7-D773-B051-28F4-3E25A281C52F}"/>
              </a:ext>
            </a:extLst>
          </p:cNvPr>
          <p:cNvSpPr/>
          <p:nvPr/>
        </p:nvSpPr>
        <p:spPr>
          <a:xfrm>
            <a:off x="4768399" y="433698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1D77B3-A36E-8FD9-7C39-A6615E7BE588}"/>
              </a:ext>
            </a:extLst>
          </p:cNvPr>
          <p:cNvSpPr/>
          <p:nvPr/>
        </p:nvSpPr>
        <p:spPr>
          <a:xfrm>
            <a:off x="5289936" y="173028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DF389E-7C71-CF87-A505-BE5E17DD9B2B}"/>
              </a:ext>
            </a:extLst>
          </p:cNvPr>
          <p:cNvSpPr/>
          <p:nvPr/>
        </p:nvSpPr>
        <p:spPr>
          <a:xfrm>
            <a:off x="6333044" y="4337639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2BBEDA-1F58-5FED-EF88-E27AFFAFF0AD}"/>
              </a:ext>
            </a:extLst>
          </p:cNvPr>
          <p:cNvSpPr/>
          <p:nvPr/>
        </p:nvSpPr>
        <p:spPr>
          <a:xfrm>
            <a:off x="5289951" y="4337856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CD742B-BCD2-D4C7-E583-BF045A8BBB21}"/>
              </a:ext>
            </a:extLst>
          </p:cNvPr>
          <p:cNvSpPr/>
          <p:nvPr/>
        </p:nvSpPr>
        <p:spPr>
          <a:xfrm>
            <a:off x="6854587" y="3816309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714E75-97B9-1407-E881-26267170E8A3}"/>
              </a:ext>
            </a:extLst>
          </p:cNvPr>
          <p:cNvSpPr/>
          <p:nvPr/>
        </p:nvSpPr>
        <p:spPr>
          <a:xfrm>
            <a:off x="5811472" y="1727522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930ED9-4694-5F54-2568-936E81256292}"/>
              </a:ext>
            </a:extLst>
          </p:cNvPr>
          <p:cNvSpPr/>
          <p:nvPr/>
        </p:nvSpPr>
        <p:spPr>
          <a:xfrm>
            <a:off x="6854585" y="329454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7794B3-41F5-5A9E-17E8-2CC8AB56F65B}"/>
              </a:ext>
            </a:extLst>
          </p:cNvPr>
          <p:cNvSpPr/>
          <p:nvPr/>
        </p:nvSpPr>
        <p:spPr>
          <a:xfrm>
            <a:off x="6333032" y="380699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B02307-246F-39FA-2D6F-3CBCF61553AA}"/>
              </a:ext>
            </a:extLst>
          </p:cNvPr>
          <p:cNvSpPr/>
          <p:nvPr/>
        </p:nvSpPr>
        <p:spPr>
          <a:xfrm>
            <a:off x="4768388" y="3292909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A1D9A2-F158-EDFF-8299-06B8EEADC59D}"/>
              </a:ext>
            </a:extLst>
          </p:cNvPr>
          <p:cNvSpPr/>
          <p:nvPr/>
        </p:nvSpPr>
        <p:spPr>
          <a:xfrm>
            <a:off x="4768388" y="3806994"/>
            <a:ext cx="521548" cy="521547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7BC7A4-974E-245C-4EB0-A0A4553815AB}"/>
              </a:ext>
            </a:extLst>
          </p:cNvPr>
          <p:cNvSpPr/>
          <p:nvPr/>
        </p:nvSpPr>
        <p:spPr>
          <a:xfrm>
            <a:off x="5289939" y="2769311"/>
            <a:ext cx="1564642" cy="1559230"/>
          </a:xfrm>
          <a:prstGeom prst="rect">
            <a:avLst/>
          </a:prstGeom>
          <a:solidFill>
            <a:srgbClr val="FF0000">
              <a:alpha val="19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344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11BDDD-0791-F0F9-0448-AA0BB185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E44129-F534-D8C4-1228-F35C2396651C}"/>
              </a:ext>
            </a:extLst>
          </p:cNvPr>
          <p:cNvSpPr txBox="1"/>
          <p:nvPr/>
        </p:nvSpPr>
        <p:spPr>
          <a:xfrm>
            <a:off x="5436204" y="196334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핵심 개념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2AA1ED-B141-3C99-20F4-3FA3E9E8C8D6}"/>
              </a:ext>
            </a:extLst>
          </p:cNvPr>
          <p:cNvSpPr txBox="1"/>
          <p:nvPr/>
        </p:nvSpPr>
        <p:spPr>
          <a:xfrm>
            <a:off x="4480818" y="657999"/>
            <a:ext cx="32303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단방향 순환형 </a:t>
            </a:r>
            <a:r>
              <a:rPr lang="ko-KR" altLang="en-US" sz="16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</a:t>
            </a:r>
            <a:r>
              <a:rPr lang="ko-KR" altLang="en-US" sz="16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과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전투 리듬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의 정의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504559-17C6-9D64-2294-A58E764C434B}"/>
              </a:ext>
            </a:extLst>
          </p:cNvPr>
          <p:cNvSpPr txBox="1"/>
          <p:nvPr/>
        </p:nvSpPr>
        <p:spPr>
          <a:xfrm>
            <a:off x="1709197" y="1128443"/>
            <a:ext cx="1874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단방향 순환형 맵</a:t>
            </a:r>
            <a:endParaRPr lang="ko-KR" altLang="en-US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4E80EA-E642-F1C5-3295-CB77119B0C26}"/>
              </a:ext>
            </a:extLst>
          </p:cNvPr>
          <p:cNvSpPr txBox="1"/>
          <p:nvPr/>
        </p:nvSpPr>
        <p:spPr>
          <a:xfrm>
            <a:off x="9141974" y="1128443"/>
            <a:ext cx="1133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전투 리듬</a:t>
            </a:r>
            <a:endParaRPr lang="ko-KR" altLang="en-US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3078" name="Picture 6" descr="추억의 보드게임] 부루마불 게임 세계여행 디럭스판 : 네이버 블로그">
            <a:extLst>
              <a:ext uri="{FF2B5EF4-FFF2-40B4-BE49-F238E27FC236}">
                <a16:creationId xmlns:a16="http://schemas.microsoft.com/office/drawing/2014/main" id="{08886D90-F44E-DF14-AD33-D9F61452A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7" b="98077" l="3000" r="95375">
                        <a14:foregroundMark x1="14250" y1="11951" x2="21375" y2="78571"/>
                        <a14:foregroundMark x1="21375" y1="78571" x2="80375" y2="86264"/>
                        <a14:foregroundMark x1="80375" y1="86264" x2="88750" y2="70742"/>
                        <a14:foregroundMark x1="88750" y1="70742" x2="87625" y2="21291"/>
                        <a14:foregroundMark x1="87625" y1="21291" x2="77625" y2="8929"/>
                        <a14:foregroundMark x1="77625" y1="8929" x2="13750" y2="5082"/>
                        <a14:foregroundMark x1="13750" y1="5082" x2="7750" y2="18681"/>
                        <a14:foregroundMark x1="7750" y1="18681" x2="10000" y2="77060"/>
                        <a14:foregroundMark x1="10000" y1="77060" x2="40250" y2="92857"/>
                        <a14:foregroundMark x1="40250" y1="92857" x2="86750" y2="89560"/>
                        <a14:foregroundMark x1="8500" y1="93132" x2="87875" y2="89286"/>
                        <a14:foregroundMark x1="87875" y1="89286" x2="90125" y2="20467"/>
                        <a14:foregroundMark x1="90125" y1="20467" x2="81125" y2="3022"/>
                        <a14:foregroundMark x1="81125" y1="3022" x2="11250" y2="5082"/>
                        <a14:foregroundMark x1="6625" y1="6593" x2="9375" y2="92582"/>
                        <a14:foregroundMark x1="91625" y1="16758" x2="90000" y2="93132"/>
                        <a14:foregroundMark x1="90250" y1="95879" x2="19000" y2="97115"/>
                        <a14:foregroundMark x1="19000" y1="97115" x2="10125" y2="94643"/>
                        <a14:foregroundMark x1="92750" y1="94093" x2="93250" y2="95879"/>
                        <a14:foregroundMark x1="7500" y1="92857" x2="9625" y2="94918"/>
                        <a14:foregroundMark x1="6625" y1="95192" x2="14750" y2="94093"/>
                        <a14:foregroundMark x1="5000" y1="96154" x2="13625" y2="95604"/>
                        <a14:foregroundMark x1="7250" y1="83929" x2="6125" y2="91758"/>
                        <a14:foregroundMark x1="4500" y1="86401" x2="4000" y2="91758"/>
                        <a14:foregroundMark x1="4750" y1="79396" x2="4625" y2="81868"/>
                        <a14:foregroundMark x1="4625" y1="74176" x2="4750" y2="78984"/>
                        <a14:foregroundMark x1="5000" y1="49725" x2="4750" y2="52335"/>
                        <a14:foregroundMark x1="5375" y1="38324" x2="5250" y2="41071"/>
                        <a14:foregroundMark x1="5875" y1="19093" x2="5875" y2="19505"/>
                        <a14:foregroundMark x1="6250" y1="9615" x2="6000" y2="13049"/>
                        <a14:foregroundMark x1="6125" y1="3709" x2="6000" y2="6868"/>
                        <a14:foregroundMark x1="11625" y1="824" x2="33625" y2="1236"/>
                        <a14:foregroundMark x1="33625" y1="1236" x2="64000" y2="824"/>
                        <a14:foregroundMark x1="64000" y1="824" x2="91250" y2="2060"/>
                        <a14:foregroundMark x1="93000" y1="3571" x2="93125" y2="10577"/>
                        <a14:foregroundMark x1="93000" y1="15247" x2="92125" y2="25687"/>
                        <a14:foregroundMark x1="93125" y1="11401" x2="95375" y2="96291"/>
                        <a14:foregroundMark x1="95000" y1="98214" x2="12000" y2="98077"/>
                        <a14:foregroundMark x1="5500" y1="17720" x2="3000" y2="771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24" y="4946218"/>
            <a:ext cx="1790409" cy="162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CC60A1-3AB3-7F23-0AB1-CFE501B101D8}"/>
              </a:ext>
            </a:extLst>
          </p:cNvPr>
          <p:cNvSpPr txBox="1"/>
          <p:nvPr/>
        </p:nvSpPr>
        <p:spPr>
          <a:xfrm>
            <a:off x="2314734" y="5711046"/>
            <a:ext cx="27558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1vs1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이고 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서로 다른 출발점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과 </a:t>
            </a:r>
            <a:endParaRPr lang="en-US" altLang="ko-KR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정반대의 이동 방향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을 갖는</a:t>
            </a:r>
            <a:endParaRPr lang="en-US" altLang="ko-KR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ko-KR" altLang="en-US" sz="1600" dirty="0" err="1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부루마블</a:t>
            </a:r>
            <a:endParaRPr lang="ko-KR" altLang="en-US" sz="16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02332C2-8606-632D-C101-6DEAE363336A}"/>
              </a:ext>
            </a:extLst>
          </p:cNvPr>
          <p:cNvCxnSpPr>
            <a:cxnSpLocks/>
          </p:cNvCxnSpPr>
          <p:nvPr/>
        </p:nvCxnSpPr>
        <p:spPr>
          <a:xfrm flipH="1">
            <a:off x="2108476" y="1682441"/>
            <a:ext cx="12096" cy="25697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912A74D-64C3-7C45-4505-E36F1EBA488C}"/>
              </a:ext>
            </a:extLst>
          </p:cNvPr>
          <p:cNvCxnSpPr>
            <a:cxnSpLocks/>
          </p:cNvCxnSpPr>
          <p:nvPr/>
        </p:nvCxnSpPr>
        <p:spPr>
          <a:xfrm flipH="1">
            <a:off x="2108476" y="4252167"/>
            <a:ext cx="3968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AA3BBF3-71DC-D309-9EA4-3351A87BAE78}"/>
              </a:ext>
            </a:extLst>
          </p:cNvPr>
          <p:cNvCxnSpPr>
            <a:cxnSpLocks/>
          </p:cNvCxnSpPr>
          <p:nvPr/>
        </p:nvCxnSpPr>
        <p:spPr>
          <a:xfrm flipH="1">
            <a:off x="2108476" y="3071067"/>
            <a:ext cx="3968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1EF87DA-7215-491E-1A28-7EF42CBDBFE6}"/>
              </a:ext>
            </a:extLst>
          </p:cNvPr>
          <p:cNvCxnSpPr>
            <a:cxnSpLocks/>
          </p:cNvCxnSpPr>
          <p:nvPr/>
        </p:nvCxnSpPr>
        <p:spPr>
          <a:xfrm flipH="1">
            <a:off x="2108476" y="1867107"/>
            <a:ext cx="3968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9D11970-0A5B-DFBA-E4DA-6D1F71A4BB7C}"/>
              </a:ext>
            </a:extLst>
          </p:cNvPr>
          <p:cNvSpPr txBox="1"/>
          <p:nvPr/>
        </p:nvSpPr>
        <p:spPr>
          <a:xfrm>
            <a:off x="2592634" y="1682441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방향 고정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363E27-8DFA-E7A4-FD76-C4DE0B3A289B}"/>
              </a:ext>
            </a:extLst>
          </p:cNvPr>
          <p:cNvSpPr txBox="1"/>
          <p:nvPr/>
        </p:nvSpPr>
        <p:spPr>
          <a:xfrm>
            <a:off x="2592635" y="2925877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단일 경로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5038EC-3EB8-2646-497F-03C76E2EE24A}"/>
              </a:ext>
            </a:extLst>
          </p:cNvPr>
          <p:cNvSpPr txBox="1"/>
          <p:nvPr/>
        </p:nvSpPr>
        <p:spPr>
          <a:xfrm>
            <a:off x="2592634" y="4067501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순환 및 폐쇄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68845E-8A09-1B2C-F740-372D960B4058}"/>
              </a:ext>
            </a:extLst>
          </p:cNvPr>
          <p:cNvSpPr txBox="1"/>
          <p:nvPr/>
        </p:nvSpPr>
        <p:spPr>
          <a:xfrm>
            <a:off x="602215" y="1978409"/>
            <a:ext cx="1418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역방향 이동 불가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후진 불가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B73084-AF66-229D-1D64-CD8FCD72FE64}"/>
              </a:ext>
            </a:extLst>
          </p:cNvPr>
          <p:cNvSpPr txBox="1"/>
          <p:nvPr/>
        </p:nvSpPr>
        <p:spPr>
          <a:xfrm>
            <a:off x="558933" y="3233593"/>
            <a:ext cx="14622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분기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지름길 없음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977F59-D271-3038-3D1F-8E8E9FC97898}"/>
              </a:ext>
            </a:extLst>
          </p:cNvPr>
          <p:cNvSpPr txBox="1"/>
          <p:nvPr/>
        </p:nvSpPr>
        <p:spPr>
          <a:xfrm>
            <a:off x="230317" y="4252167"/>
            <a:ext cx="17908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연결된 </a:t>
            </a:r>
            <a:r>
              <a:rPr lang="ko-KR" altLang="en-US" sz="14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맵의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시작과 끝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FAE25C-A549-7759-6672-47A42CB0D3A0}"/>
              </a:ext>
            </a:extLst>
          </p:cNvPr>
          <p:cNvSpPr txBox="1"/>
          <p:nvPr/>
        </p:nvSpPr>
        <p:spPr>
          <a:xfrm>
            <a:off x="848487" y="220502"/>
            <a:ext cx="33137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고정된 </a:t>
            </a:r>
            <a:r>
              <a:rPr lang="ko-KR" altLang="en-US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단일 이동 방향</a:t>
            </a:r>
            <a:r>
              <a:rPr lang="ko-KR" altLang="en-US" sz="16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을 따르며</a:t>
            </a:r>
            <a:r>
              <a:rPr lang="en-US" altLang="ko-KR" sz="16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,</a:t>
            </a:r>
          </a:p>
          <a:p>
            <a:pPr algn="ctr"/>
            <a:r>
              <a:rPr lang="ko-KR" altLang="en-US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서로 반대 방향</a:t>
            </a:r>
            <a:r>
              <a:rPr lang="ko-KR" altLang="en-US" sz="16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으로만 이동할 수 있고</a:t>
            </a:r>
            <a:r>
              <a:rPr lang="en-US" altLang="ko-KR" sz="16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,</a:t>
            </a:r>
          </a:p>
          <a:p>
            <a:pPr algn="ctr"/>
            <a:r>
              <a:rPr lang="ko-KR" altLang="en-US" sz="16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단 하나의 경로가 </a:t>
            </a:r>
            <a:r>
              <a:rPr lang="ko-KR" altLang="en-US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순환 구조</a:t>
            </a:r>
            <a:r>
              <a:rPr lang="ko-KR" altLang="en-US" sz="16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를 이루는 맵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2BCFDE-9F48-6497-F392-341817F96A92}"/>
              </a:ext>
            </a:extLst>
          </p:cNvPr>
          <p:cNvSpPr txBox="1"/>
          <p:nvPr/>
        </p:nvSpPr>
        <p:spPr>
          <a:xfrm>
            <a:off x="8253910" y="242500"/>
            <a:ext cx="29097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플레이어가 </a:t>
            </a:r>
            <a:r>
              <a:rPr lang="ko-KR" altLang="en-US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상대의 공격 사거리</a:t>
            </a:r>
            <a:r>
              <a:rPr lang="ko-KR" altLang="en-US" sz="16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를 </a:t>
            </a:r>
            <a:endParaRPr lang="en-US" altLang="ko-KR" sz="16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  <a:p>
            <a:pPr algn="ctr"/>
            <a:r>
              <a:rPr lang="ko-KR" altLang="en-US" sz="16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기준으로 </a:t>
            </a:r>
            <a:r>
              <a:rPr lang="ko-KR" altLang="en-US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교전</a:t>
            </a:r>
            <a:r>
              <a:rPr lang="ko-KR" altLang="en-US" sz="16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에 </a:t>
            </a:r>
            <a:r>
              <a:rPr lang="ko-KR" altLang="en-US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진입</a:t>
            </a:r>
            <a:r>
              <a:rPr lang="ko-KR" altLang="en-US" sz="16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하고</a:t>
            </a:r>
            <a:r>
              <a:rPr lang="en-US" altLang="ko-KR" sz="16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, </a:t>
            </a:r>
          </a:p>
          <a:p>
            <a:pPr algn="ctr"/>
            <a:r>
              <a:rPr lang="ko-KR" altLang="en-US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이탈</a:t>
            </a:r>
            <a:r>
              <a:rPr lang="ko-KR" altLang="en-US" sz="16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하기까지 한 </a:t>
            </a:r>
            <a:r>
              <a:rPr lang="ko-KR" altLang="en-US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사이클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C8BB5E-9731-13D3-609C-F5F61CE3A3D3}"/>
              </a:ext>
            </a:extLst>
          </p:cNvPr>
          <p:cNvSpPr txBox="1"/>
          <p:nvPr/>
        </p:nvSpPr>
        <p:spPr>
          <a:xfrm>
            <a:off x="8724848" y="1481821"/>
            <a:ext cx="2002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이하의 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3(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또는 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2)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단계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1FEC451-AB9E-78C6-36E0-178E7A17C957}"/>
              </a:ext>
            </a:extLst>
          </p:cNvPr>
          <p:cNvSpPr/>
          <p:nvPr/>
        </p:nvSpPr>
        <p:spPr>
          <a:xfrm>
            <a:off x="8550682" y="2050187"/>
            <a:ext cx="2002471" cy="595046"/>
          </a:xfrm>
          <a:prstGeom prst="roundRect">
            <a:avLst>
              <a:gd name="adj" fmla="val 93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전투 리듬 진입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C9B59CF-96DB-B2FF-0C9D-3C9AAFD8542B}"/>
              </a:ext>
            </a:extLst>
          </p:cNvPr>
          <p:cNvSpPr/>
          <p:nvPr/>
        </p:nvSpPr>
        <p:spPr>
          <a:xfrm>
            <a:off x="8550681" y="3256888"/>
            <a:ext cx="2002471" cy="595046"/>
          </a:xfrm>
          <a:prstGeom prst="roundRect">
            <a:avLst>
              <a:gd name="adj" fmla="val 937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전투 </a:t>
            </a:r>
            <a:r>
              <a:rPr lang="ko-KR" altLang="en-US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리듬 유지</a:t>
            </a:r>
            <a:endParaRPr lang="ko-KR" altLang="en-US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039EDBB-7567-725F-FBA6-A47F3B532B26}"/>
              </a:ext>
            </a:extLst>
          </p:cNvPr>
          <p:cNvSpPr/>
          <p:nvPr/>
        </p:nvSpPr>
        <p:spPr>
          <a:xfrm>
            <a:off x="8550681" y="4437025"/>
            <a:ext cx="2002471" cy="595046"/>
          </a:xfrm>
          <a:prstGeom prst="roundRect">
            <a:avLst>
              <a:gd name="adj" fmla="val 93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전투 리듬 이탈</a:t>
            </a:r>
          </a:p>
        </p:txBody>
      </p:sp>
      <p:sp>
        <p:nvSpPr>
          <p:cNvPr id="50" name="화살표: 아래쪽 49">
            <a:extLst>
              <a:ext uri="{FF2B5EF4-FFF2-40B4-BE49-F238E27FC236}">
                <a16:creationId xmlns:a16="http://schemas.microsoft.com/office/drawing/2014/main" id="{160BE873-1FF1-2124-F0AA-E97F1756145A}"/>
              </a:ext>
            </a:extLst>
          </p:cNvPr>
          <p:cNvSpPr/>
          <p:nvPr/>
        </p:nvSpPr>
        <p:spPr>
          <a:xfrm>
            <a:off x="9374490" y="2804242"/>
            <a:ext cx="354851" cy="29912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화살표: 아래쪽 50">
            <a:extLst>
              <a:ext uri="{FF2B5EF4-FFF2-40B4-BE49-F238E27FC236}">
                <a16:creationId xmlns:a16="http://schemas.microsoft.com/office/drawing/2014/main" id="{75046692-B05D-5A9D-4A53-DEDBB11C30F8}"/>
              </a:ext>
            </a:extLst>
          </p:cNvPr>
          <p:cNvSpPr/>
          <p:nvPr/>
        </p:nvSpPr>
        <p:spPr>
          <a:xfrm>
            <a:off x="9374490" y="4005452"/>
            <a:ext cx="354851" cy="30777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824AA3-8CA4-CEB2-6938-AAE17B7425ED}"/>
              </a:ext>
            </a:extLst>
          </p:cNvPr>
          <p:cNvSpPr txBox="1"/>
          <p:nvPr/>
        </p:nvSpPr>
        <p:spPr>
          <a:xfrm>
            <a:off x="4845829" y="2094286"/>
            <a:ext cx="3605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상대 플레이어의 공격 사거리 안으로 들어가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</a:t>
            </a:r>
          </a:p>
          <a:p>
            <a:pPr algn="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교전이 발생할 수 밖에 없는 상태를 만드는 단계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FE8E9F-CE3A-CCF9-8A48-FEC593D7B3C7}"/>
              </a:ext>
            </a:extLst>
          </p:cNvPr>
          <p:cNvSpPr txBox="1"/>
          <p:nvPr/>
        </p:nvSpPr>
        <p:spPr>
          <a:xfrm>
            <a:off x="5174444" y="3278874"/>
            <a:ext cx="3276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교전이 시작된 이후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양측이 상대의 사거리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안팎을 오가며 상태가 지속되는 단계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9491D5-D512-8228-2D9F-222631DE55FF}"/>
              </a:ext>
            </a:extLst>
          </p:cNvPr>
          <p:cNvSpPr txBox="1"/>
          <p:nvPr/>
        </p:nvSpPr>
        <p:spPr>
          <a:xfrm>
            <a:off x="4935597" y="4508851"/>
            <a:ext cx="3515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플레이어 중 하나가 상대 플레이어의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공격 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r"/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사거리에서 벗어나 교전 상태를 해소하는 단계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55" name="오른쪽 중괄호 54">
            <a:extLst>
              <a:ext uri="{FF2B5EF4-FFF2-40B4-BE49-F238E27FC236}">
                <a16:creationId xmlns:a16="http://schemas.microsoft.com/office/drawing/2014/main" id="{463DC5F3-133A-2B75-2A3C-C05A5A67F6CA}"/>
              </a:ext>
            </a:extLst>
          </p:cNvPr>
          <p:cNvSpPr/>
          <p:nvPr/>
        </p:nvSpPr>
        <p:spPr>
          <a:xfrm>
            <a:off x="10727319" y="2050187"/>
            <a:ext cx="327498" cy="2981884"/>
          </a:xfrm>
          <a:prstGeom prst="rightBrace">
            <a:avLst>
              <a:gd name="adj1" fmla="val 39356"/>
              <a:gd name="adj2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6634D1-7482-3897-A10E-AB52AF4C05FC}"/>
              </a:ext>
            </a:extLst>
          </p:cNvPr>
          <p:cNvSpPr txBox="1"/>
          <p:nvPr/>
        </p:nvSpPr>
        <p:spPr>
          <a:xfrm>
            <a:off x="11054817" y="3369745"/>
            <a:ext cx="1082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한 사이클</a:t>
            </a:r>
          </a:p>
        </p:txBody>
      </p:sp>
    </p:spTree>
    <p:extLst>
      <p:ext uri="{BB962C8B-B14F-4D97-AF65-F5344CB8AC3E}">
        <p14:creationId xmlns:p14="http://schemas.microsoft.com/office/powerpoint/2010/main" val="2072410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D7440E-8139-FC49-F267-DE5CC1FA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096483-1F40-F67D-3328-980ABD8A3923}"/>
              </a:ext>
            </a:extLst>
          </p:cNvPr>
          <p:cNvSpPr txBox="1"/>
          <p:nvPr/>
        </p:nvSpPr>
        <p:spPr>
          <a:xfrm>
            <a:off x="5428189" y="209034"/>
            <a:ext cx="1335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연구 방법</a:t>
            </a:r>
            <a:endParaRPr lang="ko-KR" altLang="en-US" sz="24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E6179D-F54F-C55B-94D2-7F1CE968554A}"/>
              </a:ext>
            </a:extLst>
          </p:cNvPr>
          <p:cNvSpPr txBox="1"/>
          <p:nvPr/>
        </p:nvSpPr>
        <p:spPr>
          <a:xfrm>
            <a:off x="5394533" y="657999"/>
            <a:ext cx="1402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게임 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규칙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통제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30E064A-19E9-7903-FDE9-8FCEAB0B4D4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060700"/>
          <a:ext cx="8128000" cy="238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2602081494"/>
                    </a:ext>
                  </a:extLst>
                </a:gridCol>
                <a:gridCol w="5816600">
                  <a:extLst>
                    <a:ext uri="{9D8B030D-6E8A-4147-A177-3AD203B41FA5}">
                      <a16:colId xmlns:a16="http://schemas.microsoft.com/office/drawing/2014/main" val="3743778166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맵 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단방향 순환형 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83535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승리 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상대의 체력을 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0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으로 만들면 승리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426896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양측  플레이어 모두 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</a:t>
                      </a:r>
                      <a:endParaRPr lang="ko-KR" altLang="en-US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31723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데미지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모든 무기 공격 데미지 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</a:t>
                      </a:r>
                      <a:endParaRPr lang="ko-KR" altLang="en-US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509738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644CABA-B4F2-B07D-69C1-CEA9CE13E9B2}"/>
              </a:ext>
            </a:extLst>
          </p:cNvPr>
          <p:cNvSpPr/>
          <p:nvPr/>
        </p:nvSpPr>
        <p:spPr>
          <a:xfrm>
            <a:off x="3479800" y="1731103"/>
            <a:ext cx="1777981" cy="595046"/>
          </a:xfrm>
          <a:prstGeom prst="roundRect">
            <a:avLst>
              <a:gd name="adj" fmla="val 93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게임 형식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5A36E-1216-1DB7-238C-C5CCF51E3E15}"/>
              </a:ext>
            </a:extLst>
          </p:cNvPr>
          <p:cNvSpPr txBox="1"/>
          <p:nvPr/>
        </p:nvSpPr>
        <p:spPr>
          <a:xfrm>
            <a:off x="5562939" y="1797794"/>
            <a:ext cx="2691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 err="1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1vs1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</a:t>
            </a:r>
            <a:r>
              <a:rPr lang="ko-KR" altLang="en-US" sz="2400" dirty="0" err="1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턴제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전략 게임</a:t>
            </a:r>
          </a:p>
        </p:txBody>
      </p:sp>
    </p:spTree>
    <p:extLst>
      <p:ext uri="{BB962C8B-B14F-4D97-AF65-F5344CB8AC3E}">
        <p14:creationId xmlns:p14="http://schemas.microsoft.com/office/powerpoint/2010/main" val="1833122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549C10-E513-4B8E-4E21-48DC3B353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12004B-5CAA-695A-14DA-CD762540DABC}"/>
              </a:ext>
            </a:extLst>
          </p:cNvPr>
          <p:cNvSpPr txBox="1"/>
          <p:nvPr/>
        </p:nvSpPr>
        <p:spPr>
          <a:xfrm>
            <a:off x="4862190" y="196334"/>
            <a:ext cx="2467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&lt;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진입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&gt;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맵 후보 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1</a:t>
            </a:r>
            <a:endParaRPr lang="ko-KR" altLang="en-US" sz="24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356C8-9FFF-7114-B852-697FE4FE2D64}"/>
              </a:ext>
            </a:extLst>
          </p:cNvPr>
          <p:cNvSpPr txBox="1"/>
          <p:nvPr/>
        </p:nvSpPr>
        <p:spPr>
          <a:xfrm>
            <a:off x="2965207" y="657999"/>
            <a:ext cx="6261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직선 구간의 길이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를 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무기 사거리 및 이동 거리의 최대 값인 </a:t>
            </a:r>
            <a:r>
              <a:rPr lang="en-US" altLang="ko-KR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이상으로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</a:t>
            </a:r>
          </a:p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직선 구간 외의 형태는 </a:t>
            </a:r>
            <a:r>
              <a:rPr lang="ko-KR" altLang="en-US" sz="16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최소화하해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설계했다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endParaRPr lang="ko-KR" altLang="en-US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DD2AEB0-8FB2-4471-8E4D-75BB45298703}"/>
              </a:ext>
            </a:extLst>
          </p:cNvPr>
          <p:cNvSpPr/>
          <p:nvPr/>
        </p:nvSpPr>
        <p:spPr>
          <a:xfrm>
            <a:off x="2707319" y="1802638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A779B9-C1C6-E867-B5C5-81409D2E5CF8}"/>
              </a:ext>
            </a:extLst>
          </p:cNvPr>
          <p:cNvSpPr/>
          <p:nvPr/>
        </p:nvSpPr>
        <p:spPr>
          <a:xfrm>
            <a:off x="2364125" y="1802638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ABEECA-01E1-975F-59C7-400F2AEC9964}"/>
              </a:ext>
            </a:extLst>
          </p:cNvPr>
          <p:cNvSpPr/>
          <p:nvPr/>
        </p:nvSpPr>
        <p:spPr>
          <a:xfrm>
            <a:off x="2707319" y="2145832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933B24C-D996-212E-F8FB-40D0DCA93816}"/>
              </a:ext>
            </a:extLst>
          </p:cNvPr>
          <p:cNvSpPr/>
          <p:nvPr/>
        </p:nvSpPr>
        <p:spPr>
          <a:xfrm>
            <a:off x="2364125" y="145944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5DC0C01-7869-2342-2EEE-061528A755A9}"/>
              </a:ext>
            </a:extLst>
          </p:cNvPr>
          <p:cNvSpPr/>
          <p:nvPr/>
        </p:nvSpPr>
        <p:spPr>
          <a:xfrm>
            <a:off x="993815" y="145944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FC49EF-76F1-B760-9A00-6CF8DA6E575F}"/>
              </a:ext>
            </a:extLst>
          </p:cNvPr>
          <p:cNvSpPr/>
          <p:nvPr/>
        </p:nvSpPr>
        <p:spPr>
          <a:xfrm>
            <a:off x="650621" y="145944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0D3D5F5-D177-2621-1240-7000995F8570}"/>
              </a:ext>
            </a:extLst>
          </p:cNvPr>
          <p:cNvSpPr/>
          <p:nvPr/>
        </p:nvSpPr>
        <p:spPr>
          <a:xfrm>
            <a:off x="650621" y="180173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507164B-D7D0-EC0B-B409-7A90DCD949DB}"/>
              </a:ext>
            </a:extLst>
          </p:cNvPr>
          <p:cNvSpPr/>
          <p:nvPr/>
        </p:nvSpPr>
        <p:spPr>
          <a:xfrm>
            <a:off x="307427" y="248902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61EA72C-5060-C13D-B733-3288CA0569B0}"/>
              </a:ext>
            </a:extLst>
          </p:cNvPr>
          <p:cNvSpPr/>
          <p:nvPr/>
        </p:nvSpPr>
        <p:spPr>
          <a:xfrm>
            <a:off x="2363302" y="2490483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DB4E0E0-4B2C-EB2A-14DF-1316276096C7}"/>
              </a:ext>
            </a:extLst>
          </p:cNvPr>
          <p:cNvSpPr/>
          <p:nvPr/>
        </p:nvSpPr>
        <p:spPr>
          <a:xfrm>
            <a:off x="650621" y="24901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24F828B-0F39-4B90-18B9-0EDA59129168}"/>
              </a:ext>
            </a:extLst>
          </p:cNvPr>
          <p:cNvSpPr/>
          <p:nvPr/>
        </p:nvSpPr>
        <p:spPr>
          <a:xfrm>
            <a:off x="2707319" y="2490921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53EE37-50E6-4758-9B52-99A22645BB54}"/>
              </a:ext>
            </a:extLst>
          </p:cNvPr>
          <p:cNvSpPr/>
          <p:nvPr/>
        </p:nvSpPr>
        <p:spPr>
          <a:xfrm>
            <a:off x="307427" y="2145832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0C179D1-9FCE-5574-4522-71E9453A652D}"/>
              </a:ext>
            </a:extLst>
          </p:cNvPr>
          <p:cNvSpPr/>
          <p:nvPr/>
        </p:nvSpPr>
        <p:spPr>
          <a:xfrm>
            <a:off x="307427" y="1802638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4BEC341-1470-BE8A-411E-35B9777855D9}"/>
              </a:ext>
            </a:extLst>
          </p:cNvPr>
          <p:cNvSpPr/>
          <p:nvPr/>
        </p:nvSpPr>
        <p:spPr>
          <a:xfrm>
            <a:off x="2363302" y="283222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FF4E4B-60D5-ECEA-BA37-6983B161BB8D}"/>
              </a:ext>
            </a:extLst>
          </p:cNvPr>
          <p:cNvSpPr/>
          <p:nvPr/>
        </p:nvSpPr>
        <p:spPr>
          <a:xfrm>
            <a:off x="993815" y="283338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CB8F9C7-0468-64C5-B2FE-B05D42445D1B}"/>
              </a:ext>
            </a:extLst>
          </p:cNvPr>
          <p:cNvSpPr/>
          <p:nvPr/>
        </p:nvSpPr>
        <p:spPr>
          <a:xfrm>
            <a:off x="650621" y="283338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2523D06-C7ED-FAFF-8602-2ACAF1DBF1A8}"/>
              </a:ext>
            </a:extLst>
          </p:cNvPr>
          <p:cNvSpPr/>
          <p:nvPr/>
        </p:nvSpPr>
        <p:spPr>
          <a:xfrm>
            <a:off x="2020931" y="283338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6033121-C02F-DB50-D801-358A2C64608B}"/>
              </a:ext>
            </a:extLst>
          </p:cNvPr>
          <p:cNvSpPr/>
          <p:nvPr/>
        </p:nvSpPr>
        <p:spPr>
          <a:xfrm>
            <a:off x="1336187" y="283338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3B1D7DC-49E6-5687-C9BC-1422444A2228}"/>
              </a:ext>
            </a:extLst>
          </p:cNvPr>
          <p:cNvSpPr/>
          <p:nvPr/>
        </p:nvSpPr>
        <p:spPr>
          <a:xfrm>
            <a:off x="2020108" y="145944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6F6D87D-07F1-3066-B470-ADA69E33F88F}"/>
              </a:ext>
            </a:extLst>
          </p:cNvPr>
          <p:cNvSpPr/>
          <p:nvPr/>
        </p:nvSpPr>
        <p:spPr>
          <a:xfrm>
            <a:off x="1335365" y="145944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ABBE231-7E5C-0820-3126-8B56B3376451}"/>
              </a:ext>
            </a:extLst>
          </p:cNvPr>
          <p:cNvSpPr/>
          <p:nvPr/>
        </p:nvSpPr>
        <p:spPr>
          <a:xfrm>
            <a:off x="1676092" y="283338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5062AA5-7397-6795-2B00-C06D9ABEA64F}"/>
              </a:ext>
            </a:extLst>
          </p:cNvPr>
          <p:cNvSpPr/>
          <p:nvPr/>
        </p:nvSpPr>
        <p:spPr>
          <a:xfrm>
            <a:off x="1675269" y="145944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E5D6830-7481-644D-BE88-6664B4616203}"/>
              </a:ext>
            </a:extLst>
          </p:cNvPr>
          <p:cNvSpPr/>
          <p:nvPr/>
        </p:nvSpPr>
        <p:spPr>
          <a:xfrm>
            <a:off x="8277472" y="4826061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FFE77A0-032C-DC2D-D2AE-F40216DA24D9}"/>
              </a:ext>
            </a:extLst>
          </p:cNvPr>
          <p:cNvSpPr/>
          <p:nvPr/>
        </p:nvSpPr>
        <p:spPr>
          <a:xfrm>
            <a:off x="8276649" y="5169255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7F99ACA-3A18-EE68-C30F-84EA48409C2F}"/>
              </a:ext>
            </a:extLst>
          </p:cNvPr>
          <p:cNvSpPr/>
          <p:nvPr/>
        </p:nvSpPr>
        <p:spPr>
          <a:xfrm>
            <a:off x="8277472" y="448286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093CDCF-5BD8-E61F-130D-E74B54E5F7C2}"/>
              </a:ext>
            </a:extLst>
          </p:cNvPr>
          <p:cNvSpPr/>
          <p:nvPr/>
        </p:nvSpPr>
        <p:spPr>
          <a:xfrm>
            <a:off x="6907162" y="448286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DF09967-CB76-B554-4F52-175ED233CEFB}"/>
              </a:ext>
            </a:extLst>
          </p:cNvPr>
          <p:cNvSpPr/>
          <p:nvPr/>
        </p:nvSpPr>
        <p:spPr>
          <a:xfrm>
            <a:off x="6563968" y="448286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D6890EF-7D0E-04EA-32F4-D6EEA99F6B14}"/>
              </a:ext>
            </a:extLst>
          </p:cNvPr>
          <p:cNvSpPr/>
          <p:nvPr/>
        </p:nvSpPr>
        <p:spPr>
          <a:xfrm>
            <a:off x="6563968" y="482515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C3EFE50-0564-4C13-5161-2FC736B873EC}"/>
              </a:ext>
            </a:extLst>
          </p:cNvPr>
          <p:cNvSpPr/>
          <p:nvPr/>
        </p:nvSpPr>
        <p:spPr>
          <a:xfrm>
            <a:off x="8276649" y="551390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38AA02A-1B08-5585-7892-F444589AD814}"/>
              </a:ext>
            </a:extLst>
          </p:cNvPr>
          <p:cNvSpPr/>
          <p:nvPr/>
        </p:nvSpPr>
        <p:spPr>
          <a:xfrm>
            <a:off x="6563968" y="5513613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32F96FC-785B-3A01-1635-7D23944A9A18}"/>
              </a:ext>
            </a:extLst>
          </p:cNvPr>
          <p:cNvSpPr/>
          <p:nvPr/>
        </p:nvSpPr>
        <p:spPr>
          <a:xfrm>
            <a:off x="6563968" y="5169255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BCD6414-204B-B7B9-F79C-F95AE0689920}"/>
              </a:ext>
            </a:extLst>
          </p:cNvPr>
          <p:cNvSpPr/>
          <p:nvPr/>
        </p:nvSpPr>
        <p:spPr>
          <a:xfrm>
            <a:off x="8276649" y="5855643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B03A0E0-06CC-D945-54D1-18E232733ED3}"/>
              </a:ext>
            </a:extLst>
          </p:cNvPr>
          <p:cNvSpPr/>
          <p:nvPr/>
        </p:nvSpPr>
        <p:spPr>
          <a:xfrm>
            <a:off x="6907162" y="585680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99F8B12-CA62-9F70-3B07-27A3F5AC69DC}"/>
              </a:ext>
            </a:extLst>
          </p:cNvPr>
          <p:cNvSpPr/>
          <p:nvPr/>
        </p:nvSpPr>
        <p:spPr>
          <a:xfrm>
            <a:off x="6563968" y="585680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2D719F4-9D60-D63E-C424-1F055531B05C}"/>
              </a:ext>
            </a:extLst>
          </p:cNvPr>
          <p:cNvSpPr/>
          <p:nvPr/>
        </p:nvSpPr>
        <p:spPr>
          <a:xfrm>
            <a:off x="7934278" y="585680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F26CE10-D526-E8A7-BDDA-44F38B932FB5}"/>
              </a:ext>
            </a:extLst>
          </p:cNvPr>
          <p:cNvSpPr/>
          <p:nvPr/>
        </p:nvSpPr>
        <p:spPr>
          <a:xfrm>
            <a:off x="7249534" y="585680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323A6A9-18C3-E3F7-38C6-9504BA6551F3}"/>
              </a:ext>
            </a:extLst>
          </p:cNvPr>
          <p:cNvSpPr/>
          <p:nvPr/>
        </p:nvSpPr>
        <p:spPr>
          <a:xfrm>
            <a:off x="7933455" y="448286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56B5AE2-C8B3-6CF0-29D5-860F9EE6FBBA}"/>
              </a:ext>
            </a:extLst>
          </p:cNvPr>
          <p:cNvSpPr/>
          <p:nvPr/>
        </p:nvSpPr>
        <p:spPr>
          <a:xfrm>
            <a:off x="7248712" y="448286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24F572B-9299-8592-AA67-4A388168C6FE}"/>
              </a:ext>
            </a:extLst>
          </p:cNvPr>
          <p:cNvSpPr/>
          <p:nvPr/>
        </p:nvSpPr>
        <p:spPr>
          <a:xfrm>
            <a:off x="7589439" y="585680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FAA743A-1FFD-3057-E388-578B5982A1E8}"/>
              </a:ext>
            </a:extLst>
          </p:cNvPr>
          <p:cNvSpPr/>
          <p:nvPr/>
        </p:nvSpPr>
        <p:spPr>
          <a:xfrm>
            <a:off x="7588616" y="448286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47395F3-123C-A25D-324A-B07D9190FB25}"/>
              </a:ext>
            </a:extLst>
          </p:cNvPr>
          <p:cNvSpPr/>
          <p:nvPr/>
        </p:nvSpPr>
        <p:spPr>
          <a:xfrm>
            <a:off x="5364023" y="4655921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19C232F-A7EE-648B-0146-2116CA4C1CA8}"/>
              </a:ext>
            </a:extLst>
          </p:cNvPr>
          <p:cNvSpPr/>
          <p:nvPr/>
        </p:nvSpPr>
        <p:spPr>
          <a:xfrm>
            <a:off x="5363200" y="4999115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5768941-15BC-F6F7-2CD3-DFCD0E07F521}"/>
              </a:ext>
            </a:extLst>
          </p:cNvPr>
          <p:cNvSpPr/>
          <p:nvPr/>
        </p:nvSpPr>
        <p:spPr>
          <a:xfrm>
            <a:off x="3993713" y="465356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17EA77E-B820-A12D-33AB-5853F2DE400D}"/>
              </a:ext>
            </a:extLst>
          </p:cNvPr>
          <p:cNvSpPr/>
          <p:nvPr/>
        </p:nvSpPr>
        <p:spPr>
          <a:xfrm>
            <a:off x="3650519" y="465501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0C4263F-80DE-8A0D-D054-D49B6399D2E1}"/>
              </a:ext>
            </a:extLst>
          </p:cNvPr>
          <p:cNvSpPr/>
          <p:nvPr/>
        </p:nvSpPr>
        <p:spPr>
          <a:xfrm>
            <a:off x="5363200" y="534376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4D3076B-0E6A-3745-9207-FF6CCC915BD6}"/>
              </a:ext>
            </a:extLst>
          </p:cNvPr>
          <p:cNvSpPr/>
          <p:nvPr/>
        </p:nvSpPr>
        <p:spPr>
          <a:xfrm>
            <a:off x="3650519" y="5343473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2F2E0B5-0177-5B4C-D62B-8BBD7AFC0C0D}"/>
              </a:ext>
            </a:extLst>
          </p:cNvPr>
          <p:cNvSpPr/>
          <p:nvPr/>
        </p:nvSpPr>
        <p:spPr>
          <a:xfrm>
            <a:off x="3650519" y="4999115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B7430-1A69-F042-CE20-15EA34B68ED1}"/>
              </a:ext>
            </a:extLst>
          </p:cNvPr>
          <p:cNvSpPr/>
          <p:nvPr/>
        </p:nvSpPr>
        <p:spPr>
          <a:xfrm>
            <a:off x="5363200" y="5685503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41CF8D0-25D4-9A62-87A5-130438C44171}"/>
              </a:ext>
            </a:extLst>
          </p:cNvPr>
          <p:cNvSpPr/>
          <p:nvPr/>
        </p:nvSpPr>
        <p:spPr>
          <a:xfrm>
            <a:off x="3993713" y="568666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7EAC40A-C36B-344F-65DE-945774914293}"/>
              </a:ext>
            </a:extLst>
          </p:cNvPr>
          <p:cNvSpPr/>
          <p:nvPr/>
        </p:nvSpPr>
        <p:spPr>
          <a:xfrm>
            <a:off x="3650519" y="568666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9A7DCA1-7F9F-FF80-CE5C-585CA476A085}"/>
              </a:ext>
            </a:extLst>
          </p:cNvPr>
          <p:cNvSpPr/>
          <p:nvPr/>
        </p:nvSpPr>
        <p:spPr>
          <a:xfrm>
            <a:off x="5020829" y="568666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7E9BC05-F9BB-B535-9D61-D231AF54DE8C}"/>
              </a:ext>
            </a:extLst>
          </p:cNvPr>
          <p:cNvSpPr/>
          <p:nvPr/>
        </p:nvSpPr>
        <p:spPr>
          <a:xfrm>
            <a:off x="4336085" y="568666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C44AE54-99E5-568C-CC48-D7AB8E0A43D8}"/>
              </a:ext>
            </a:extLst>
          </p:cNvPr>
          <p:cNvSpPr/>
          <p:nvPr/>
        </p:nvSpPr>
        <p:spPr>
          <a:xfrm>
            <a:off x="5020006" y="465356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19953D0-EA20-6615-64E8-E226F6D66F81}"/>
              </a:ext>
            </a:extLst>
          </p:cNvPr>
          <p:cNvSpPr/>
          <p:nvPr/>
        </p:nvSpPr>
        <p:spPr>
          <a:xfrm>
            <a:off x="4335263" y="465356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DA4BADB-B44A-D691-B081-0AD47A502BB9}"/>
              </a:ext>
            </a:extLst>
          </p:cNvPr>
          <p:cNvSpPr/>
          <p:nvPr/>
        </p:nvSpPr>
        <p:spPr>
          <a:xfrm>
            <a:off x="4675990" y="568666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1B242B5-0CDD-3970-AEAA-F5AA9B3970BF}"/>
              </a:ext>
            </a:extLst>
          </p:cNvPr>
          <p:cNvSpPr/>
          <p:nvPr/>
        </p:nvSpPr>
        <p:spPr>
          <a:xfrm>
            <a:off x="4675167" y="465356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600BF26-CA3D-5C39-EC1D-2949FBEA68FE}"/>
              </a:ext>
            </a:extLst>
          </p:cNvPr>
          <p:cNvSpPr txBox="1"/>
          <p:nvPr/>
        </p:nvSpPr>
        <p:spPr>
          <a:xfrm>
            <a:off x="1335365" y="1953702"/>
            <a:ext cx="720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22</a:t>
            </a:r>
            <a:r>
              <a:rPr lang="ko-KR" altLang="en-US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ko-KR" altLang="en-US" sz="20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36A418C-E05B-D3D1-EC6F-362721C50B42}"/>
              </a:ext>
            </a:extLst>
          </p:cNvPr>
          <p:cNvSpPr txBox="1"/>
          <p:nvPr/>
        </p:nvSpPr>
        <p:spPr>
          <a:xfrm>
            <a:off x="4318011" y="5040226"/>
            <a:ext cx="720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16</a:t>
            </a:r>
            <a:r>
              <a:rPr lang="ko-KR" altLang="en-US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ko-KR" altLang="en-US" sz="20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D8CB7F3-5CF1-42D7-94F8-656204D8CA91}"/>
              </a:ext>
            </a:extLst>
          </p:cNvPr>
          <p:cNvSpPr txBox="1"/>
          <p:nvPr/>
        </p:nvSpPr>
        <p:spPr>
          <a:xfrm>
            <a:off x="7213797" y="5024900"/>
            <a:ext cx="720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18</a:t>
            </a:r>
            <a:r>
              <a:rPr lang="ko-KR" altLang="en-US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ko-KR" altLang="en-US" sz="20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3576392-C4A5-212A-B146-66222C1857C4}"/>
              </a:ext>
            </a:extLst>
          </p:cNvPr>
          <p:cNvSpPr/>
          <p:nvPr/>
        </p:nvSpPr>
        <p:spPr>
          <a:xfrm>
            <a:off x="2554036" y="485566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31ED0830-A4FE-3921-2A9D-D983D4C9ADD8}"/>
              </a:ext>
            </a:extLst>
          </p:cNvPr>
          <p:cNvSpPr/>
          <p:nvPr/>
        </p:nvSpPr>
        <p:spPr>
          <a:xfrm>
            <a:off x="1183726" y="4853303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7B07158B-896F-E29D-92D5-F34C56A79D24}"/>
              </a:ext>
            </a:extLst>
          </p:cNvPr>
          <p:cNvSpPr/>
          <p:nvPr/>
        </p:nvSpPr>
        <p:spPr>
          <a:xfrm>
            <a:off x="840532" y="485476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4FEFD4C6-3C03-4EE6-655D-946D20DAE7FD}"/>
              </a:ext>
            </a:extLst>
          </p:cNvPr>
          <p:cNvSpPr/>
          <p:nvPr/>
        </p:nvSpPr>
        <p:spPr>
          <a:xfrm>
            <a:off x="2553213" y="519917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410E968-1FEA-72DB-3995-4F78FEAC7685}"/>
              </a:ext>
            </a:extLst>
          </p:cNvPr>
          <p:cNvSpPr/>
          <p:nvPr/>
        </p:nvSpPr>
        <p:spPr>
          <a:xfrm>
            <a:off x="840532" y="519887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AACDED8A-6848-AA49-8454-5AE14B6184B3}"/>
              </a:ext>
            </a:extLst>
          </p:cNvPr>
          <p:cNvSpPr/>
          <p:nvPr/>
        </p:nvSpPr>
        <p:spPr>
          <a:xfrm>
            <a:off x="2553213" y="5540907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D92B163-4053-ED20-B416-85F136C3681F}"/>
              </a:ext>
            </a:extLst>
          </p:cNvPr>
          <p:cNvSpPr/>
          <p:nvPr/>
        </p:nvSpPr>
        <p:spPr>
          <a:xfrm>
            <a:off x="1183726" y="5542071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09FB064-36D1-7D19-9911-D0D300035EB8}"/>
              </a:ext>
            </a:extLst>
          </p:cNvPr>
          <p:cNvSpPr/>
          <p:nvPr/>
        </p:nvSpPr>
        <p:spPr>
          <a:xfrm>
            <a:off x="840532" y="5542071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4243390-7417-C5B1-9123-5A2949A319C6}"/>
              </a:ext>
            </a:extLst>
          </p:cNvPr>
          <p:cNvSpPr/>
          <p:nvPr/>
        </p:nvSpPr>
        <p:spPr>
          <a:xfrm>
            <a:off x="2210842" y="5542071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BC317C75-B88A-715D-5448-C05D768B6AA3}"/>
              </a:ext>
            </a:extLst>
          </p:cNvPr>
          <p:cNvSpPr/>
          <p:nvPr/>
        </p:nvSpPr>
        <p:spPr>
          <a:xfrm>
            <a:off x="1526098" y="5542071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DC03D377-EE39-5A3D-B4C1-EBFB3D9991D2}"/>
              </a:ext>
            </a:extLst>
          </p:cNvPr>
          <p:cNvSpPr/>
          <p:nvPr/>
        </p:nvSpPr>
        <p:spPr>
          <a:xfrm>
            <a:off x="2210019" y="4853303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9B3190D-AE78-C451-F2C3-471FEE183CB5}"/>
              </a:ext>
            </a:extLst>
          </p:cNvPr>
          <p:cNvSpPr/>
          <p:nvPr/>
        </p:nvSpPr>
        <p:spPr>
          <a:xfrm>
            <a:off x="1525276" y="4853303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518F7BF-9F23-8916-AC0A-7B8E3439BF8D}"/>
              </a:ext>
            </a:extLst>
          </p:cNvPr>
          <p:cNvSpPr/>
          <p:nvPr/>
        </p:nvSpPr>
        <p:spPr>
          <a:xfrm>
            <a:off x="1866003" y="5542071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673E261-84F8-88C4-BCE8-041E573C98E0}"/>
              </a:ext>
            </a:extLst>
          </p:cNvPr>
          <p:cNvSpPr/>
          <p:nvPr/>
        </p:nvSpPr>
        <p:spPr>
          <a:xfrm>
            <a:off x="1865180" y="4853303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F782D8F-CAE5-7425-8FAC-071C2ACB0E60}"/>
              </a:ext>
            </a:extLst>
          </p:cNvPr>
          <p:cNvSpPr txBox="1"/>
          <p:nvPr/>
        </p:nvSpPr>
        <p:spPr>
          <a:xfrm>
            <a:off x="1508024" y="5183789"/>
            <a:ext cx="720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14</a:t>
            </a:r>
            <a:r>
              <a:rPr lang="ko-KR" altLang="en-US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ko-KR" altLang="en-US" sz="20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1BAA1252-60FA-83EA-59BF-9457CB21282A}"/>
              </a:ext>
            </a:extLst>
          </p:cNvPr>
          <p:cNvSpPr/>
          <p:nvPr/>
        </p:nvSpPr>
        <p:spPr>
          <a:xfrm>
            <a:off x="11190921" y="451038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3847C54A-C45C-2EED-3349-21BD1292AA51}"/>
              </a:ext>
            </a:extLst>
          </p:cNvPr>
          <p:cNvSpPr/>
          <p:nvPr/>
        </p:nvSpPr>
        <p:spPr>
          <a:xfrm>
            <a:off x="11190098" y="4853578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189DD4B8-B8E6-E70A-BA7F-D3148DE446F5}"/>
              </a:ext>
            </a:extLst>
          </p:cNvPr>
          <p:cNvSpPr/>
          <p:nvPr/>
        </p:nvSpPr>
        <p:spPr>
          <a:xfrm>
            <a:off x="11190921" y="41671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99DB4349-3506-C394-7412-BEC93C43B802}"/>
              </a:ext>
            </a:extLst>
          </p:cNvPr>
          <p:cNvSpPr/>
          <p:nvPr/>
        </p:nvSpPr>
        <p:spPr>
          <a:xfrm>
            <a:off x="9820611" y="41671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45777B1D-A3C0-EAAA-DB24-EEE99FC74268}"/>
              </a:ext>
            </a:extLst>
          </p:cNvPr>
          <p:cNvSpPr/>
          <p:nvPr/>
        </p:nvSpPr>
        <p:spPr>
          <a:xfrm>
            <a:off x="9477417" y="41671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C7CA5F35-F6AA-ADB8-4668-A598A032C95E}"/>
              </a:ext>
            </a:extLst>
          </p:cNvPr>
          <p:cNvSpPr/>
          <p:nvPr/>
        </p:nvSpPr>
        <p:spPr>
          <a:xfrm>
            <a:off x="9477417" y="450948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AFB5BE7F-CBF6-5876-B9C4-44E4AF743CE9}"/>
              </a:ext>
            </a:extLst>
          </p:cNvPr>
          <p:cNvSpPr/>
          <p:nvPr/>
        </p:nvSpPr>
        <p:spPr>
          <a:xfrm>
            <a:off x="11190098" y="5198229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30D71630-E526-AAC7-9733-0BD994187BB2}"/>
              </a:ext>
            </a:extLst>
          </p:cNvPr>
          <p:cNvSpPr/>
          <p:nvPr/>
        </p:nvSpPr>
        <p:spPr>
          <a:xfrm>
            <a:off x="9477417" y="519793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64179DCB-2BD1-EDD7-03B0-4FD956A7060A}"/>
              </a:ext>
            </a:extLst>
          </p:cNvPr>
          <p:cNvSpPr/>
          <p:nvPr/>
        </p:nvSpPr>
        <p:spPr>
          <a:xfrm>
            <a:off x="9477417" y="4853578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C502D48D-5B2D-4AFC-F9EE-6844790AF104}"/>
              </a:ext>
            </a:extLst>
          </p:cNvPr>
          <p:cNvSpPr/>
          <p:nvPr/>
        </p:nvSpPr>
        <p:spPr>
          <a:xfrm>
            <a:off x="11190098" y="588316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E292FF64-B7B1-AF2E-8FF2-A6714CCE16A8}"/>
              </a:ext>
            </a:extLst>
          </p:cNvPr>
          <p:cNvSpPr/>
          <p:nvPr/>
        </p:nvSpPr>
        <p:spPr>
          <a:xfrm>
            <a:off x="9820611" y="588432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68A7ABBE-93D2-B578-1721-09E0BEC5C9C5}"/>
              </a:ext>
            </a:extLst>
          </p:cNvPr>
          <p:cNvSpPr/>
          <p:nvPr/>
        </p:nvSpPr>
        <p:spPr>
          <a:xfrm>
            <a:off x="9477417" y="588432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474EB107-372A-59CD-D668-8577F1D63020}"/>
              </a:ext>
            </a:extLst>
          </p:cNvPr>
          <p:cNvSpPr/>
          <p:nvPr/>
        </p:nvSpPr>
        <p:spPr>
          <a:xfrm>
            <a:off x="10847727" y="588432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2543A395-F6EA-F9A0-7A0F-15DC61FFF112}"/>
              </a:ext>
            </a:extLst>
          </p:cNvPr>
          <p:cNvSpPr/>
          <p:nvPr/>
        </p:nvSpPr>
        <p:spPr>
          <a:xfrm>
            <a:off x="10162983" y="588432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04EC2D5B-7213-3BD7-DAED-FEBBE37EE9B8}"/>
              </a:ext>
            </a:extLst>
          </p:cNvPr>
          <p:cNvSpPr/>
          <p:nvPr/>
        </p:nvSpPr>
        <p:spPr>
          <a:xfrm>
            <a:off x="10846904" y="41671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F7F32CC3-4EFF-9DF5-BDC5-85F4E310CAA5}"/>
              </a:ext>
            </a:extLst>
          </p:cNvPr>
          <p:cNvSpPr/>
          <p:nvPr/>
        </p:nvSpPr>
        <p:spPr>
          <a:xfrm>
            <a:off x="10162161" y="41671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D3F626DA-A65E-ADAC-DEDC-71F5BE038880}"/>
              </a:ext>
            </a:extLst>
          </p:cNvPr>
          <p:cNvSpPr/>
          <p:nvPr/>
        </p:nvSpPr>
        <p:spPr>
          <a:xfrm>
            <a:off x="10502888" y="588432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0BBDE10-A333-4133-991E-9A27235182C4}"/>
              </a:ext>
            </a:extLst>
          </p:cNvPr>
          <p:cNvSpPr/>
          <p:nvPr/>
        </p:nvSpPr>
        <p:spPr>
          <a:xfrm>
            <a:off x="10502065" y="41671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F419407-6BFA-8652-AB03-E2B037F000DE}"/>
              </a:ext>
            </a:extLst>
          </p:cNvPr>
          <p:cNvSpPr txBox="1"/>
          <p:nvPr/>
        </p:nvSpPr>
        <p:spPr>
          <a:xfrm>
            <a:off x="10162984" y="4969423"/>
            <a:ext cx="720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</a:t>
            </a:r>
            <a:r>
              <a:rPr lang="ko-KR" altLang="en-US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ko-KR" altLang="en-US" sz="20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BB1D0CEC-4108-73E9-600B-FC38A8A73C26}"/>
              </a:ext>
            </a:extLst>
          </p:cNvPr>
          <p:cNvSpPr/>
          <p:nvPr/>
        </p:nvSpPr>
        <p:spPr>
          <a:xfrm>
            <a:off x="11190098" y="5538509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E8E6E823-D596-82C4-23BA-3D378949EF54}"/>
              </a:ext>
            </a:extLst>
          </p:cNvPr>
          <p:cNvSpPr/>
          <p:nvPr/>
        </p:nvSpPr>
        <p:spPr>
          <a:xfrm>
            <a:off x="9477417" y="553821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908F6A2-BB46-E1A1-C06B-4F3CFECF0FE0}"/>
              </a:ext>
            </a:extLst>
          </p:cNvPr>
          <p:cNvSpPr/>
          <p:nvPr/>
        </p:nvSpPr>
        <p:spPr>
          <a:xfrm>
            <a:off x="5362377" y="2490483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FE16CF2-558C-BA32-EE5A-7E93C01CA9D5}"/>
              </a:ext>
            </a:extLst>
          </p:cNvPr>
          <p:cNvSpPr/>
          <p:nvPr/>
        </p:nvSpPr>
        <p:spPr>
          <a:xfrm>
            <a:off x="5706394" y="2490921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1A203C13-538D-5D76-6872-13B2C7246B64}"/>
              </a:ext>
            </a:extLst>
          </p:cNvPr>
          <p:cNvSpPr/>
          <p:nvPr/>
        </p:nvSpPr>
        <p:spPr>
          <a:xfrm>
            <a:off x="5362377" y="283222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8EA81F4B-BC37-C496-B62C-57F0E372373E}"/>
              </a:ext>
            </a:extLst>
          </p:cNvPr>
          <p:cNvSpPr/>
          <p:nvPr/>
        </p:nvSpPr>
        <p:spPr>
          <a:xfrm>
            <a:off x="3992890" y="283338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026E5337-E80C-944C-B0C9-37418D3C66A7}"/>
              </a:ext>
            </a:extLst>
          </p:cNvPr>
          <p:cNvSpPr/>
          <p:nvPr/>
        </p:nvSpPr>
        <p:spPr>
          <a:xfrm>
            <a:off x="3652871" y="283222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B41BD4CE-77B1-1ECE-7175-6155E33A577E}"/>
              </a:ext>
            </a:extLst>
          </p:cNvPr>
          <p:cNvSpPr/>
          <p:nvPr/>
        </p:nvSpPr>
        <p:spPr>
          <a:xfrm>
            <a:off x="5020006" y="283338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21468409-ABDE-84EC-12CD-4CB609DD74EB}"/>
              </a:ext>
            </a:extLst>
          </p:cNvPr>
          <p:cNvSpPr/>
          <p:nvPr/>
        </p:nvSpPr>
        <p:spPr>
          <a:xfrm>
            <a:off x="4335262" y="283338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E0A32F63-6D6F-EFBE-831A-D1B25ED8CFC6}"/>
              </a:ext>
            </a:extLst>
          </p:cNvPr>
          <p:cNvSpPr/>
          <p:nvPr/>
        </p:nvSpPr>
        <p:spPr>
          <a:xfrm>
            <a:off x="4675167" y="283338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5346BA7A-BB35-2D25-C9A1-DF75CA22F67F}"/>
              </a:ext>
            </a:extLst>
          </p:cNvPr>
          <p:cNvSpPr/>
          <p:nvPr/>
        </p:nvSpPr>
        <p:spPr>
          <a:xfrm>
            <a:off x="3652839" y="248781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3C2F9A77-9E06-8C29-4817-E558A744B0E1}"/>
              </a:ext>
            </a:extLst>
          </p:cNvPr>
          <p:cNvSpPr/>
          <p:nvPr/>
        </p:nvSpPr>
        <p:spPr>
          <a:xfrm>
            <a:off x="3652839" y="214461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3264C4C2-21E7-7573-E8B0-3E35D926E119}"/>
              </a:ext>
            </a:extLst>
          </p:cNvPr>
          <p:cNvSpPr/>
          <p:nvPr/>
        </p:nvSpPr>
        <p:spPr>
          <a:xfrm>
            <a:off x="3652839" y="1801422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72F9BAEB-E379-8433-93C8-FDF299FF6A56}"/>
              </a:ext>
            </a:extLst>
          </p:cNvPr>
          <p:cNvSpPr/>
          <p:nvPr/>
        </p:nvSpPr>
        <p:spPr>
          <a:xfrm>
            <a:off x="3654109" y="145944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7B408AD1-BE0F-8323-0A13-38830FBB2A82}"/>
              </a:ext>
            </a:extLst>
          </p:cNvPr>
          <p:cNvSpPr/>
          <p:nvPr/>
        </p:nvSpPr>
        <p:spPr>
          <a:xfrm>
            <a:off x="5362377" y="145737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C2F543B2-653D-44A6-4AC4-6F8B54D001AA}"/>
              </a:ext>
            </a:extLst>
          </p:cNvPr>
          <p:cNvSpPr/>
          <p:nvPr/>
        </p:nvSpPr>
        <p:spPr>
          <a:xfrm>
            <a:off x="3992890" y="145854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764171A0-DCE7-B0EA-35AF-790B87C25F71}"/>
              </a:ext>
            </a:extLst>
          </p:cNvPr>
          <p:cNvSpPr/>
          <p:nvPr/>
        </p:nvSpPr>
        <p:spPr>
          <a:xfrm>
            <a:off x="5020006" y="145854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AC55A935-6FEE-F0F6-3268-E064DEED38D8}"/>
              </a:ext>
            </a:extLst>
          </p:cNvPr>
          <p:cNvSpPr/>
          <p:nvPr/>
        </p:nvSpPr>
        <p:spPr>
          <a:xfrm>
            <a:off x="4335262" y="145854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295E5A90-CDC8-DDC8-990C-52CC3DED8D27}"/>
              </a:ext>
            </a:extLst>
          </p:cNvPr>
          <p:cNvSpPr/>
          <p:nvPr/>
        </p:nvSpPr>
        <p:spPr>
          <a:xfrm>
            <a:off x="4675167" y="145854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04112464-182C-A78C-D6E6-A24891354CE0}"/>
              </a:ext>
            </a:extLst>
          </p:cNvPr>
          <p:cNvSpPr/>
          <p:nvPr/>
        </p:nvSpPr>
        <p:spPr>
          <a:xfrm>
            <a:off x="5714550" y="180173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EDA60FE2-7F57-015C-237D-E538720C941F}"/>
              </a:ext>
            </a:extLst>
          </p:cNvPr>
          <p:cNvSpPr/>
          <p:nvPr/>
        </p:nvSpPr>
        <p:spPr>
          <a:xfrm>
            <a:off x="5372179" y="1802898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BD47227E-45B6-9D6C-71BC-C86DA12DBC03}"/>
              </a:ext>
            </a:extLst>
          </p:cNvPr>
          <p:cNvSpPr/>
          <p:nvPr/>
        </p:nvSpPr>
        <p:spPr>
          <a:xfrm>
            <a:off x="5714550" y="2145832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2556EA1A-0628-C2BD-ADBF-423DC95B06CB}"/>
              </a:ext>
            </a:extLst>
          </p:cNvPr>
          <p:cNvSpPr txBox="1"/>
          <p:nvPr/>
        </p:nvSpPr>
        <p:spPr>
          <a:xfrm>
            <a:off x="4416850" y="1978028"/>
            <a:ext cx="720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20</a:t>
            </a:r>
            <a:r>
              <a:rPr lang="ko-KR" altLang="en-US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ko-KR" altLang="en-US" sz="20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4091B29D-54DE-0DF0-B263-2092B7B267ED}"/>
              </a:ext>
            </a:extLst>
          </p:cNvPr>
          <p:cNvSpPr/>
          <p:nvPr/>
        </p:nvSpPr>
        <p:spPr>
          <a:xfrm>
            <a:off x="8376562" y="269022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BEF150B1-65EA-956C-5041-E6CD60E8F9BA}"/>
              </a:ext>
            </a:extLst>
          </p:cNvPr>
          <p:cNvSpPr/>
          <p:nvPr/>
        </p:nvSpPr>
        <p:spPr>
          <a:xfrm>
            <a:off x="7007075" y="26913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E335C00B-CB61-FA79-952A-E1F1D4D8946D}"/>
              </a:ext>
            </a:extLst>
          </p:cNvPr>
          <p:cNvSpPr/>
          <p:nvPr/>
        </p:nvSpPr>
        <p:spPr>
          <a:xfrm>
            <a:off x="6667056" y="269022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0A240E5A-FE3E-BB3C-3926-568CA433BD5B}"/>
              </a:ext>
            </a:extLst>
          </p:cNvPr>
          <p:cNvSpPr/>
          <p:nvPr/>
        </p:nvSpPr>
        <p:spPr>
          <a:xfrm>
            <a:off x="8034191" y="26913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0C0EF832-11CD-D34B-5A3F-67F5412322B9}"/>
              </a:ext>
            </a:extLst>
          </p:cNvPr>
          <p:cNvSpPr/>
          <p:nvPr/>
        </p:nvSpPr>
        <p:spPr>
          <a:xfrm>
            <a:off x="7349447" y="26913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2192B394-00F5-CAFB-05EE-20C790B9197A}"/>
              </a:ext>
            </a:extLst>
          </p:cNvPr>
          <p:cNvSpPr/>
          <p:nvPr/>
        </p:nvSpPr>
        <p:spPr>
          <a:xfrm>
            <a:off x="7689352" y="26913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D10C062B-289B-3F9F-7BAF-E2E31E1CD678}"/>
              </a:ext>
            </a:extLst>
          </p:cNvPr>
          <p:cNvSpPr/>
          <p:nvPr/>
        </p:nvSpPr>
        <p:spPr>
          <a:xfrm>
            <a:off x="6667024" y="234581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8228FB7A-44AA-A664-A768-BF40EF18CC0E}"/>
              </a:ext>
            </a:extLst>
          </p:cNvPr>
          <p:cNvSpPr/>
          <p:nvPr/>
        </p:nvSpPr>
        <p:spPr>
          <a:xfrm>
            <a:off x="7347140" y="165974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5922201D-1E51-7287-2DB0-E958C6C39720}"/>
              </a:ext>
            </a:extLst>
          </p:cNvPr>
          <p:cNvSpPr/>
          <p:nvPr/>
        </p:nvSpPr>
        <p:spPr>
          <a:xfrm>
            <a:off x="7003946" y="2003838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1B5D35AF-1DDF-BE26-254D-4DC14F2875B1}"/>
              </a:ext>
            </a:extLst>
          </p:cNvPr>
          <p:cNvSpPr/>
          <p:nvPr/>
        </p:nvSpPr>
        <p:spPr>
          <a:xfrm>
            <a:off x="7003946" y="166064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6E220A1F-E3E0-A467-17D5-CE20EB66EF7D}"/>
              </a:ext>
            </a:extLst>
          </p:cNvPr>
          <p:cNvSpPr/>
          <p:nvPr/>
        </p:nvSpPr>
        <p:spPr>
          <a:xfrm>
            <a:off x="6663427" y="2003838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0E005718-F1D9-D381-17D5-017214A81F1A}"/>
              </a:ext>
            </a:extLst>
          </p:cNvPr>
          <p:cNvSpPr/>
          <p:nvPr/>
        </p:nvSpPr>
        <p:spPr>
          <a:xfrm>
            <a:off x="8032546" y="165974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B5471E9E-6B17-B26C-0C51-C26A2E88F4D2}"/>
              </a:ext>
            </a:extLst>
          </p:cNvPr>
          <p:cNvSpPr/>
          <p:nvPr/>
        </p:nvSpPr>
        <p:spPr>
          <a:xfrm>
            <a:off x="7689352" y="166064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4125E8A1-7975-4D40-6E19-AA9E80E645BC}"/>
              </a:ext>
            </a:extLst>
          </p:cNvPr>
          <p:cNvSpPr/>
          <p:nvPr/>
        </p:nvSpPr>
        <p:spPr>
          <a:xfrm>
            <a:off x="8720579" y="165974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21F4983E-CD06-6947-4AB1-39A998E62FC5}"/>
              </a:ext>
            </a:extLst>
          </p:cNvPr>
          <p:cNvSpPr/>
          <p:nvPr/>
        </p:nvSpPr>
        <p:spPr>
          <a:xfrm>
            <a:off x="8377385" y="166064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F6216D58-0506-BBF8-8762-239DC48F794C}"/>
              </a:ext>
            </a:extLst>
          </p:cNvPr>
          <p:cNvSpPr/>
          <p:nvPr/>
        </p:nvSpPr>
        <p:spPr>
          <a:xfrm>
            <a:off x="8380367" y="234581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6B781DA-F00D-599C-6DE3-22D3BABEC7C5}"/>
              </a:ext>
            </a:extLst>
          </p:cNvPr>
          <p:cNvSpPr/>
          <p:nvPr/>
        </p:nvSpPr>
        <p:spPr>
          <a:xfrm>
            <a:off x="8717289" y="2003838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8D93C032-EDB7-CFF7-9CC7-9C4DA2B30299}"/>
              </a:ext>
            </a:extLst>
          </p:cNvPr>
          <p:cNvSpPr/>
          <p:nvPr/>
        </p:nvSpPr>
        <p:spPr>
          <a:xfrm>
            <a:off x="8717289" y="234581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B2BACD96-9039-05C9-366E-C14E5219101B}"/>
              </a:ext>
            </a:extLst>
          </p:cNvPr>
          <p:cNvSpPr/>
          <p:nvPr/>
        </p:nvSpPr>
        <p:spPr>
          <a:xfrm>
            <a:off x="11270874" y="269022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4AA3D7D5-74F8-EEA0-3C9A-39EC6D9A4F53}"/>
              </a:ext>
            </a:extLst>
          </p:cNvPr>
          <p:cNvSpPr/>
          <p:nvPr/>
        </p:nvSpPr>
        <p:spPr>
          <a:xfrm>
            <a:off x="9901387" y="26913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E67A6B4C-C8F3-CF0B-9242-B8B9608EAEFD}"/>
              </a:ext>
            </a:extLst>
          </p:cNvPr>
          <p:cNvSpPr/>
          <p:nvPr/>
        </p:nvSpPr>
        <p:spPr>
          <a:xfrm>
            <a:off x="9561368" y="269022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A955ABB1-90D8-257D-799C-478D59A9110B}"/>
              </a:ext>
            </a:extLst>
          </p:cNvPr>
          <p:cNvSpPr/>
          <p:nvPr/>
        </p:nvSpPr>
        <p:spPr>
          <a:xfrm>
            <a:off x="10928503" y="26913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12374138-C62E-AEA6-4F79-4F2EB74CC061}"/>
              </a:ext>
            </a:extLst>
          </p:cNvPr>
          <p:cNvSpPr/>
          <p:nvPr/>
        </p:nvSpPr>
        <p:spPr>
          <a:xfrm>
            <a:off x="10243759" y="26913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599BAB91-E36E-CE49-D1C4-56F9A132560D}"/>
              </a:ext>
            </a:extLst>
          </p:cNvPr>
          <p:cNvSpPr/>
          <p:nvPr/>
        </p:nvSpPr>
        <p:spPr>
          <a:xfrm>
            <a:off x="10583664" y="269139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591F8DA6-F627-BCFA-9248-AE4839275D69}"/>
              </a:ext>
            </a:extLst>
          </p:cNvPr>
          <p:cNvSpPr/>
          <p:nvPr/>
        </p:nvSpPr>
        <p:spPr>
          <a:xfrm>
            <a:off x="9561336" y="234581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F3934B12-8B08-883B-F116-0ED5A6EA69D7}"/>
              </a:ext>
            </a:extLst>
          </p:cNvPr>
          <p:cNvSpPr/>
          <p:nvPr/>
        </p:nvSpPr>
        <p:spPr>
          <a:xfrm>
            <a:off x="10241452" y="165974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68A78F54-4E39-3E5F-3DEE-AC6A19517DC5}"/>
              </a:ext>
            </a:extLst>
          </p:cNvPr>
          <p:cNvSpPr/>
          <p:nvPr/>
        </p:nvSpPr>
        <p:spPr>
          <a:xfrm>
            <a:off x="9898258" y="2003838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6A5E3CB4-9B68-CBEF-D0B5-01D8717B57BA}"/>
              </a:ext>
            </a:extLst>
          </p:cNvPr>
          <p:cNvSpPr/>
          <p:nvPr/>
        </p:nvSpPr>
        <p:spPr>
          <a:xfrm>
            <a:off x="9898258" y="166064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6351ACA3-DADA-7C33-43D7-7A38AC5ADA71}"/>
              </a:ext>
            </a:extLst>
          </p:cNvPr>
          <p:cNvSpPr/>
          <p:nvPr/>
        </p:nvSpPr>
        <p:spPr>
          <a:xfrm>
            <a:off x="9557739" y="2003838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CD64E105-9270-1655-4977-FEEF8602B4E3}"/>
              </a:ext>
            </a:extLst>
          </p:cNvPr>
          <p:cNvSpPr/>
          <p:nvPr/>
        </p:nvSpPr>
        <p:spPr>
          <a:xfrm>
            <a:off x="10926858" y="1659740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3A4D10D5-0D43-7DCA-9A9A-40D96F2CA1D4}"/>
              </a:ext>
            </a:extLst>
          </p:cNvPr>
          <p:cNvSpPr/>
          <p:nvPr/>
        </p:nvSpPr>
        <p:spPr>
          <a:xfrm>
            <a:off x="10583664" y="166064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AA6FDD9C-4C2C-FF37-1C93-B6FF8A7C56CB}"/>
              </a:ext>
            </a:extLst>
          </p:cNvPr>
          <p:cNvSpPr/>
          <p:nvPr/>
        </p:nvSpPr>
        <p:spPr>
          <a:xfrm>
            <a:off x="11271697" y="1660644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0AC9D5A1-091A-CCD4-66A0-62A8FDB784C0}"/>
              </a:ext>
            </a:extLst>
          </p:cNvPr>
          <p:cNvSpPr/>
          <p:nvPr/>
        </p:nvSpPr>
        <p:spPr>
          <a:xfrm>
            <a:off x="11274679" y="2345816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6F21DC38-BA97-E872-17BA-2C48CA8246BF}"/>
              </a:ext>
            </a:extLst>
          </p:cNvPr>
          <p:cNvSpPr/>
          <p:nvPr/>
        </p:nvSpPr>
        <p:spPr>
          <a:xfrm>
            <a:off x="11266923" y="2003838"/>
            <a:ext cx="343194" cy="343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FBB36EE4-82DE-B97E-63A3-08509B6E1556}"/>
              </a:ext>
            </a:extLst>
          </p:cNvPr>
          <p:cNvSpPr txBox="1"/>
          <p:nvPr/>
        </p:nvSpPr>
        <p:spPr>
          <a:xfrm>
            <a:off x="10395226" y="2010930"/>
            <a:ext cx="720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16</a:t>
            </a:r>
            <a:r>
              <a:rPr lang="ko-KR" altLang="en-US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ko-KR" altLang="en-US" sz="20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9FA0831-A017-0C9C-A58F-491B96B6EB65}"/>
              </a:ext>
            </a:extLst>
          </p:cNvPr>
          <p:cNvSpPr txBox="1"/>
          <p:nvPr/>
        </p:nvSpPr>
        <p:spPr>
          <a:xfrm>
            <a:off x="112273" y="3224325"/>
            <a:ext cx="3166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5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 코너 구간이 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4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개씩이나 존재해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pPr algn="ctr"/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서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오브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환도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쌍검의 활용처를 마련한다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21B868C0-9ED6-530B-298F-CD436C3981B2}"/>
              </a:ext>
            </a:extLst>
          </p:cNvPr>
          <p:cNvSpPr txBox="1"/>
          <p:nvPr/>
        </p:nvSpPr>
        <p:spPr>
          <a:xfrm>
            <a:off x="2846132" y="3242089"/>
            <a:ext cx="37914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5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 코너 구간이 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개씩이나 존재해 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pPr algn="ctr"/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이하 생략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</a:t>
            </a:r>
          </a:p>
          <a:p>
            <a:pPr algn="ctr"/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개의 핵심 직선 구간 외에 짧은 직선 구간이 있다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B3EB42D6-0B83-8449-AC40-0799A4D59D22}"/>
              </a:ext>
            </a:extLst>
          </p:cNvPr>
          <p:cNvSpPr txBox="1"/>
          <p:nvPr/>
        </p:nvSpPr>
        <p:spPr>
          <a:xfrm>
            <a:off x="944941" y="2333661"/>
            <a:ext cx="1460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완충 </a:t>
            </a:r>
            <a:r>
              <a:rPr lang="ko-KR" altLang="en-US" sz="160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지대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10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ko-KR" altLang="en-US" sz="16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D57033A-1CF7-B96D-5729-B48CDC0671B6}"/>
              </a:ext>
            </a:extLst>
          </p:cNvPr>
          <p:cNvSpPr txBox="1"/>
          <p:nvPr/>
        </p:nvSpPr>
        <p:spPr>
          <a:xfrm>
            <a:off x="4032866" y="2333661"/>
            <a:ext cx="1338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완충 지대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8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ko-KR" altLang="en-US" sz="16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5F1F8A41-C6BC-4B69-A0F3-20D1A6E08D61}"/>
              </a:ext>
            </a:extLst>
          </p:cNvPr>
          <p:cNvSpPr txBox="1"/>
          <p:nvPr/>
        </p:nvSpPr>
        <p:spPr>
          <a:xfrm>
            <a:off x="9870620" y="2333661"/>
            <a:ext cx="14918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완충 지대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10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ko-KR" altLang="en-US" sz="16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2D037C41-5F61-47DE-3AE7-B7832FCF94A0}"/>
              </a:ext>
            </a:extLst>
          </p:cNvPr>
          <p:cNvSpPr txBox="1"/>
          <p:nvPr/>
        </p:nvSpPr>
        <p:spPr>
          <a:xfrm>
            <a:off x="9852093" y="5366615"/>
            <a:ext cx="1338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완충 지대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0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ko-KR" altLang="en-US" sz="16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BBB672E4-F0C9-CFD5-AF9C-EEA292C3102C}"/>
              </a:ext>
            </a:extLst>
          </p:cNvPr>
          <p:cNvSpPr txBox="1"/>
          <p:nvPr/>
        </p:nvSpPr>
        <p:spPr>
          <a:xfrm>
            <a:off x="6922491" y="5366615"/>
            <a:ext cx="1338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완충 지대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6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ko-KR" altLang="en-US" sz="16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CB16DB25-BA44-D925-EE81-09A8530D0F08}"/>
              </a:ext>
            </a:extLst>
          </p:cNvPr>
          <p:cNvSpPr txBox="1"/>
          <p:nvPr/>
        </p:nvSpPr>
        <p:spPr>
          <a:xfrm>
            <a:off x="4005753" y="5366615"/>
            <a:ext cx="1338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완충 지대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4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ko-KR" altLang="en-US" sz="16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A1A879E7-590E-EB1F-4F29-8105E0122AE2}"/>
              </a:ext>
            </a:extLst>
          </p:cNvPr>
          <p:cNvSpPr txBox="1"/>
          <p:nvPr/>
        </p:nvSpPr>
        <p:spPr>
          <a:xfrm>
            <a:off x="1214386" y="4543869"/>
            <a:ext cx="1338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완충 지대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endParaRPr lang="ko-KR" altLang="en-US" sz="16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1EED70F-D06A-44EE-915E-87CC74661DAE}"/>
              </a:ext>
            </a:extLst>
          </p:cNvPr>
          <p:cNvSpPr txBox="1"/>
          <p:nvPr/>
        </p:nvSpPr>
        <p:spPr>
          <a:xfrm>
            <a:off x="6558677" y="3224325"/>
            <a:ext cx="2746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5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 코너 구간이 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2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개씩이나 존재해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pPr algn="ctr"/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이하 생략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C98DB14F-B2D3-4D29-0B91-7CA5C825507A}"/>
              </a:ext>
            </a:extLst>
          </p:cNvPr>
          <p:cNvSpPr txBox="1"/>
          <p:nvPr/>
        </p:nvSpPr>
        <p:spPr>
          <a:xfrm>
            <a:off x="9502626" y="3070639"/>
            <a:ext cx="226857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5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 코너 구간이 하나 존재해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pPr algn="ctr"/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이하 생략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</a:t>
            </a:r>
          </a:p>
          <a:p>
            <a:pPr algn="ctr"/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하나의 핵심 구간 외에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pPr algn="ctr"/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5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4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 직선 구간이 있다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6AAE359-C305-1EE9-1507-7FD552098D32}"/>
              </a:ext>
            </a:extLst>
          </p:cNvPr>
          <p:cNvSpPr txBox="1"/>
          <p:nvPr/>
        </p:nvSpPr>
        <p:spPr>
          <a:xfrm>
            <a:off x="1065730" y="6288604"/>
            <a:ext cx="9756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무기 중 무려 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4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종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서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오브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환도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쌍검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 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0~2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칸의 공격 범위를 가진 </a:t>
            </a:r>
            <a:r>
              <a:rPr lang="ko-KR" altLang="en-US" sz="14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반푼이가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되므로 단순 직사각형 </a:t>
            </a:r>
            <a:r>
              <a:rPr lang="ko-KR" altLang="en-US" sz="14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맵은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배제하는 것이 좋을 것 같다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endParaRPr lang="en-US" altLang="ko-KR" sz="14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369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</TotalTime>
  <Words>1309</Words>
  <Application>Microsoft Office PowerPoint</Application>
  <PresentationFormat>와이드스크린</PresentationFormat>
  <Paragraphs>227</Paragraphs>
  <Slides>19</Slides>
  <Notes>1</Notes>
  <HiddenSlides>3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나눔스퀘어OTF ExtraBold</vt:lpstr>
      <vt:lpstr>나눔스퀘어OTF_ac ExtraBold</vt:lpstr>
      <vt:lpstr>Arial</vt:lpstr>
      <vt:lpstr>나눔스퀘어OTF_ac Bold</vt:lpstr>
      <vt:lpstr>맑은 고딕</vt:lpstr>
      <vt:lpstr>나눔스퀘어OTF Light</vt:lpstr>
      <vt:lpstr>나눔스퀘어OTF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애플 움냠냐</dc:creator>
  <cp:lastModifiedBy>애플 움냠냐</cp:lastModifiedBy>
  <cp:revision>50</cp:revision>
  <dcterms:created xsi:type="dcterms:W3CDTF">2025-12-29T00:10:45Z</dcterms:created>
  <dcterms:modified xsi:type="dcterms:W3CDTF">2026-01-08T06:25:57Z</dcterms:modified>
</cp:coreProperties>
</file>