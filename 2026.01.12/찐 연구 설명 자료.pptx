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69" r:id="rId4"/>
    <p:sldId id="290" r:id="rId5"/>
  </p:sldIdLst>
  <p:sldSz cx="12192000" cy="6858000"/>
  <p:notesSz cx="6858000" cy="9144000"/>
  <p:embeddedFontLst>
    <p:embeddedFont>
      <p:font typeface="나눔스퀘어OTF Bold" panose="020B0600000101010101" pitchFamily="34" charset="-127"/>
      <p:bold r:id="rId6"/>
    </p:embeddedFont>
    <p:embeddedFont>
      <p:font typeface="나눔스퀘어OTF ExtraBold" panose="020B0600000101010101" pitchFamily="34" charset="-127"/>
      <p:bold r:id="rId7"/>
    </p:embeddedFont>
    <p:embeddedFont>
      <p:font typeface="나눔스퀘어OTF" panose="020B0600000101010101" pitchFamily="34" charset="-127"/>
      <p:regular r:id="rId8"/>
    </p:embeddedFont>
    <p:embeddedFont>
      <p:font typeface="나눔스퀘어OTF Light" panose="020B0600000101010101" pitchFamily="34" charset="-127"/>
      <p:regular r:id="rId9"/>
    </p:embeddedFont>
    <p:embeddedFont>
      <p:font typeface="나눔스퀘어OTF_ac Bold" panose="020B0600000101010101" pitchFamily="34" charset="-127"/>
      <p:bold r:id="rId10"/>
    </p:embeddedFont>
    <p:embeddedFont>
      <p:font typeface="나눔스퀘어OTF_ac ExtraBold" panose="020B0600000101010101" pitchFamily="34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B653-FC61-16F5-4979-864FEB38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E5E956-AE38-CD7A-2867-3F15C9866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DC71D-814D-179D-8B67-BCEB6BB1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A3537C-94E0-A748-B4AE-658DDBFA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858CD-79FE-F5E4-2704-9F72B92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8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240D8-27CB-3F08-4E38-2A54A87B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725D5-AAD0-DD29-18B2-B55D45DD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31AF4-A025-5DC4-4691-C519D108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34D5C-65BC-3EE6-1523-9F7554AE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439DC-1ED4-5260-3E6C-1E5B70DC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64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652D-FC63-DBCF-3E35-B9264C99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87FE2-8BE7-E909-FDB6-EDBAF3348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FC849-30E1-7863-CCC9-836BBD6A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89674-A184-B8B6-B1D1-96C8355F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A91A3-C113-8A90-0EB4-6E3DD877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8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6194C-3BA5-6702-BAC4-65FE1746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6FC1D-FB36-E55D-D13F-9EC71501B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205F4A-F71E-6696-EF42-EAD68732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EA9A-6830-8032-CEA5-B54D2A35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817D6-7DCE-EC60-4FE7-009F5A86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2118FD-242D-0F89-A210-FEA01255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6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99DB-31ED-641B-8CB8-E6A2D753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9DA4AB-E02F-D90B-C4B9-5AAF20A27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17B880-49FF-BEE6-9B87-EB41D5D5B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34298F-97DB-8662-821C-4A922F94C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BAE530-800A-A687-0850-0BBA90B25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9048BD-2368-BD54-DCDB-ACFFF791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50C7A1-3740-8B84-B12A-B7EE2A9D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5E5A26-070E-9FE1-4793-69D54664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45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8C305-A77E-809C-268E-E049AD55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3E0687-0B94-01DC-64A4-21BEEF55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D5D8E6-12CC-0F2B-F121-E50CBF24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8C5301-D53D-AA86-7822-8B69A127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83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BF56A1-F570-0CD0-ABE1-CE8A1620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7E8456-CF79-B210-65D7-C77A62E7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89B147-D2E9-EB52-F548-1222ECAC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57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ECCDA-343E-C524-2C48-97C30CDB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DFD01-FC23-7FD6-FDF4-8ABB375D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517206-3184-17C9-9708-824DEFCDE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191AC2-B45E-8462-29F4-86F389CF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C7966-E4F2-3D38-7E8D-29A8F129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E9B53-B6A8-B9AE-FFF4-3E56B012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63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D0532-EAE5-B55B-4B3C-F44DDF2D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EA873-4A8F-B0A8-941E-DE5FD6D99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EB7E84-DACC-0121-2B6E-D7E710EB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2A27B-1323-5849-D673-5142E437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0ECF3-F0D8-6804-8FCA-A212D804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8A1A4B-86A4-F71C-B523-A2EC3B7C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6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7662E-ABAC-BE6F-BFDF-FF428C2A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9F9410-B7ED-EB34-994C-10DF14756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F8FD0-AF26-14EA-07F4-C5A842F9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0D5A0-9D17-8460-668D-0B1A4CB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258A3-6FF0-F552-F898-0DA16EB7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29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BC4210-4053-4FA0-17A7-F57836D2F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88DD0-64F5-4302-1CB0-B7CD4EA72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298DA-1DCF-B134-ADD3-81C4C309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E6840-2A55-4A98-EFB2-0A3A4A99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E8210-E6FB-CA3A-D290-2E7B2F2C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4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81F098-9C7B-507F-B6F2-5BB60274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249DF-0598-A86B-8586-51229AD62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BC6A3-E4D4-55D8-7673-35ED3A0C1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23ED4-2577-609A-1079-20AE21A7A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B2545B-012A-6FC7-FD58-01C986ED3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6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3185C6-A51E-6AF7-2688-031D5590B887}"/>
              </a:ext>
            </a:extLst>
          </p:cNvPr>
          <p:cNvSpPr txBox="1"/>
          <p:nvPr/>
        </p:nvSpPr>
        <p:spPr>
          <a:xfrm>
            <a:off x="5315979" y="6273225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연구 설명 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3123A-6DF1-F88A-2BFC-9AD42149E51E}"/>
              </a:ext>
            </a:extLst>
          </p:cNvPr>
          <p:cNvSpPr txBox="1"/>
          <p:nvPr/>
        </p:nvSpPr>
        <p:spPr>
          <a:xfrm>
            <a:off x="10639672" y="6149400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게임공학과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2021180002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43950-9233-7EA6-0D16-544D5961A1C1}"/>
              </a:ext>
            </a:extLst>
          </p:cNvPr>
          <p:cNvSpPr txBox="1"/>
          <p:nvPr/>
        </p:nvSpPr>
        <p:spPr>
          <a:xfrm>
            <a:off x="10674077" y="5780068"/>
            <a:ext cx="135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고서연</a:t>
            </a:r>
            <a:endParaRPr lang="en-US" altLang="ko-KR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8A856-4025-AAD1-5D23-0B682F5F41D7}"/>
              </a:ext>
            </a:extLst>
          </p:cNvPr>
          <p:cNvSpPr txBox="1"/>
          <p:nvPr/>
        </p:nvSpPr>
        <p:spPr>
          <a:xfrm>
            <a:off x="5554826" y="13918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졸업 논문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B0A42-FEFA-FC4D-8227-3430D3481FF1}"/>
              </a:ext>
            </a:extLst>
          </p:cNvPr>
          <p:cNvSpPr txBox="1"/>
          <p:nvPr/>
        </p:nvSpPr>
        <p:spPr>
          <a:xfrm>
            <a:off x="1738864" y="2305146"/>
            <a:ext cx="8714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레이드형 </a:t>
            </a:r>
            <a:r>
              <a:rPr lang="ko-KR" altLang="en-US" sz="32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턴제</a:t>
            </a:r>
            <a:r>
              <a:rPr lang="ko-KR" altLang="en-US" sz="3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게임에서 </a:t>
            </a:r>
            <a:endParaRPr lang="en-US" altLang="ko-KR" sz="32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3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플레이어의 </a:t>
            </a:r>
            <a:r>
              <a:rPr lang="ko-KR" altLang="en-US" sz="3200" b="1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전략 수렴 과정</a:t>
            </a:r>
            <a:r>
              <a:rPr lang="ko-KR" altLang="en-US" sz="3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에 관한 연구</a:t>
            </a:r>
            <a:endParaRPr lang="en-US" altLang="ko-KR" sz="3200" dirty="0">
              <a:solidFill>
                <a:srgbClr val="C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3694D-D854-3FE7-82D4-3D6A009EAD2F}"/>
              </a:ext>
            </a:extLst>
          </p:cNvPr>
          <p:cNvSpPr txBox="1"/>
          <p:nvPr/>
        </p:nvSpPr>
        <p:spPr>
          <a:xfrm>
            <a:off x="3648050" y="3525357"/>
            <a:ext cx="48958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레이드형 </a:t>
            </a:r>
            <a:r>
              <a:rPr lang="ko-KR" altLang="en-US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턴제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게임에서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  <a:b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</a:b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최대 성과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스코어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가 명확히 정의된 상황에</a:t>
            </a:r>
            <a:b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</a:br>
            <a:r>
              <a:rPr lang="ko-KR" altLang="en-US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플레이어는 어떤 방식으로 전략 공간을 탐색하며</a:t>
            </a:r>
            <a:r>
              <a:rPr lang="en-US" altLang="ko-KR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  <a:br>
              <a:rPr lang="en-US" altLang="ko-KR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</a:br>
            <a:r>
              <a:rPr lang="ko-KR" altLang="en-US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어떤 지점에서 정체 또는 수렴을 보이는가</a:t>
            </a:r>
            <a:r>
              <a:rPr lang="en-US" altLang="ko-KR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9813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5BC8-3818-E387-7987-347BB9E0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38C761-DCE7-BA6D-F0EE-D172A6DED52C}"/>
              </a:ext>
            </a:extLst>
          </p:cNvPr>
          <p:cNvSpPr txBox="1"/>
          <p:nvPr/>
        </p:nvSpPr>
        <p:spPr>
          <a:xfrm>
            <a:off x="5436204" y="19633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연구 요약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73656-09DF-769D-8073-FA9D9AB41767}"/>
              </a:ext>
            </a:extLst>
          </p:cNvPr>
          <p:cNvSpPr txBox="1"/>
          <p:nvPr/>
        </p:nvSpPr>
        <p:spPr>
          <a:xfrm>
            <a:off x="2610928" y="657999"/>
            <a:ext cx="69701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전략 수렴 시점까지의 행동 원리를 알아냄으로써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플레이어가 새로운 전략 탐색을 포기하게 되는 구조적 요인을 밝혀내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라이브 콘텐츠 기획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(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콘텐츠 수명 예측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보상 구조 기획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난이도 상승 방식 설계</a:t>
            </a:r>
            <a:r>
              <a:rPr lang="en-US" altLang="ko-KR" sz="14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)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 기여한다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.</a:t>
            </a:r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5C3AC-FCA1-5213-0C02-6CDB282B7008}"/>
              </a:ext>
            </a:extLst>
          </p:cNvPr>
          <p:cNvSpPr txBox="1"/>
          <p:nvPr/>
        </p:nvSpPr>
        <p:spPr>
          <a:xfrm>
            <a:off x="2888230" y="1643896"/>
            <a:ext cx="64155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레이드처럼 목표가 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‘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최대 데미지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’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로 딱 정해진 </a:t>
            </a:r>
            <a:r>
              <a:rPr lang="ko-KR" altLang="en-US"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턴제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게임에서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</a:p>
          <a:p>
            <a:pPr algn="ctr"/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처음에 플레이어는 여러 </a:t>
            </a:r>
            <a:r>
              <a:rPr lang="ko-KR" altLang="en-US"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덱과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플레이를 바꿔 가며 실험한다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  <a:p>
            <a:pPr algn="ctr"/>
            <a:endParaRPr lang="en-US" altLang="ko-KR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그런데 계속 하다 보면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</a:p>
          <a:p>
            <a:pPr algn="ctr"/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데미지가 거의 안 늘어나기 시작하는 시점</a:t>
            </a:r>
            <a:endParaRPr lang="en-US" altLang="ko-KR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(=</a:t>
            </a:r>
            <a:r>
              <a:rPr lang="ko-KR" altLang="en-US" sz="2000" b="1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전략 수렴 시점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 온다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  <a:p>
            <a:pPr algn="ctr"/>
            <a:endParaRPr lang="en-US" altLang="ko-KR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 연구는 사람들이 어떤 순서로 시도를 줄여 나가는지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</a:p>
          <a:p>
            <a:pPr algn="ctr"/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언제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왜 더 이상 바꾸지 않게 되는지를 살펴보는 것이다</a:t>
            </a:r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026" name="Picture 2" descr="에픽세븐] --- 모든 토벌 13단 오토덱 공유 (원펀X) :: 람쥐단의 게임 블로그">
            <a:extLst>
              <a:ext uri="{FF2B5EF4-FFF2-40B4-BE49-F238E27FC236}">
                <a16:creationId xmlns:a16="http://schemas.microsoft.com/office/drawing/2014/main" id="{6CA1DFEF-8181-CF1C-D8E9-AFA7C3952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93" y="4805973"/>
            <a:ext cx="3119116" cy="175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언리쉬드] 충격과 공포의 어린이날 이벤트 레이드 보스 &gt; 자유게시판 » 커그">
            <a:extLst>
              <a:ext uri="{FF2B5EF4-FFF2-40B4-BE49-F238E27FC236}">
                <a16:creationId xmlns:a16="http://schemas.microsoft.com/office/drawing/2014/main" id="{E25EBAD8-182E-3DC6-C2AC-2B15F8E43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4" r="5321"/>
          <a:stretch>
            <a:fillRect/>
          </a:stretch>
        </p:blipFill>
        <p:spPr bwMode="auto">
          <a:xfrm>
            <a:off x="4490702" y="4805973"/>
            <a:ext cx="2781333" cy="175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913E40-5103-259F-FA0B-9454DC41B512}"/>
              </a:ext>
            </a:extLst>
          </p:cNvPr>
          <p:cNvSpPr txBox="1"/>
          <p:nvPr/>
        </p:nvSpPr>
        <p:spPr>
          <a:xfrm>
            <a:off x="7389915" y="4805973"/>
            <a:ext cx="3827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레이드형 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턴제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게임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=&gt; 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에픽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세븐 토벌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600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언리쉬드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레이드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959DC-31C4-06E8-911B-B994AE8B02EE}"/>
              </a:ext>
            </a:extLst>
          </p:cNvPr>
          <p:cNvSpPr txBox="1"/>
          <p:nvPr/>
        </p:nvSpPr>
        <p:spPr>
          <a:xfrm>
            <a:off x="7389914" y="5603932"/>
            <a:ext cx="4506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고기능 펀치 기계</a:t>
            </a:r>
            <a:r>
              <a:rPr lang="en-US" altLang="ko-KR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endParaRPr lang="en-US" altLang="ko-KR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제한된 턴 및 나의 체력 하에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</a:p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최대한 높은 스코어를 달성하는 게임</a:t>
            </a:r>
          </a:p>
        </p:txBody>
      </p:sp>
    </p:spTree>
    <p:extLst>
      <p:ext uri="{BB962C8B-B14F-4D97-AF65-F5344CB8AC3E}">
        <p14:creationId xmlns:p14="http://schemas.microsoft.com/office/powerpoint/2010/main" val="295249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BDDD-0791-F0F9-0448-AA0BB185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E44129-F534-D8C4-1228-F35C2396651C}"/>
              </a:ext>
            </a:extLst>
          </p:cNvPr>
          <p:cNvSpPr txBox="1"/>
          <p:nvPr/>
        </p:nvSpPr>
        <p:spPr>
          <a:xfrm>
            <a:off x="4896414" y="196334"/>
            <a:ext cx="2399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연구 질문 및 범위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2AA1ED-B141-3C99-20F4-3FA3E9E8C8D6}"/>
              </a:ext>
            </a:extLst>
          </p:cNvPr>
          <p:cNvSpPr txBox="1"/>
          <p:nvPr/>
        </p:nvSpPr>
        <p:spPr>
          <a:xfrm>
            <a:off x="2700689" y="657999"/>
            <a:ext cx="6790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명확한 성과 목표가 있을 때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 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플레이어는 어떤 기준으로 선택지를 줄여 나가는가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?</a:t>
            </a: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수렴 시기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X 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행동 원리 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O</a:t>
            </a:r>
          </a:p>
          <a:p>
            <a:pPr algn="ctr"/>
            <a:endParaRPr lang="ko-KR" altLang="en-US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CEFB6-95D3-74A1-9890-9451F0200709}"/>
              </a:ext>
            </a:extLst>
          </p:cNvPr>
          <p:cNvSpPr txBox="1"/>
          <p:nvPr/>
        </p:nvSpPr>
        <p:spPr>
          <a:xfrm>
            <a:off x="3648054" y="1417187"/>
            <a:ext cx="48958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레이드형 </a:t>
            </a:r>
            <a:r>
              <a:rPr lang="ko-KR" altLang="en-US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턴제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게임에서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  <a:b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</a:b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최대 성과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스코어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가 명확히 정의된 상황에</a:t>
            </a:r>
            <a:b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</a:br>
            <a:r>
              <a:rPr lang="ko-KR" altLang="en-US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플레이어는 어떤 방식으로 전략 공간을 탐색하며</a:t>
            </a:r>
            <a:r>
              <a:rPr lang="en-US" altLang="ko-KR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  <a:br>
              <a:rPr lang="en-US" altLang="ko-KR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</a:br>
            <a:r>
              <a:rPr lang="ko-KR" altLang="en-US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어떤 지점에서 정체 또는 </a:t>
            </a:r>
            <a:r>
              <a:rPr lang="ko-KR" altLang="en-US" b="1" u="sng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수렴</a:t>
            </a:r>
            <a:r>
              <a:rPr lang="ko-KR" altLang="en-US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을 보이는가</a:t>
            </a:r>
            <a:r>
              <a:rPr lang="en-US" altLang="ko-KR" b="1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F2680-079A-D3B9-AD00-3E26777FCDAA}"/>
              </a:ext>
            </a:extLst>
          </p:cNvPr>
          <p:cNvSpPr txBox="1"/>
          <p:nvPr/>
        </p:nvSpPr>
        <p:spPr>
          <a:xfrm>
            <a:off x="6403087" y="2531123"/>
            <a:ext cx="5022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최대 스코어 달성 </a:t>
            </a:r>
            <a:r>
              <a:rPr lang="en-US" altLang="ko-KR" sz="16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X</a:t>
            </a:r>
          </a:p>
          <a:p>
            <a:r>
              <a:rPr lang="ko-KR" altLang="en-US" sz="1600" dirty="0">
                <a:solidFill>
                  <a:srgbClr val="C00000"/>
                </a:solidFill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더 이상 전략 선택의 변화가 두드러지지 않는 상태</a:t>
            </a:r>
            <a:endParaRPr lang="en-US" altLang="ko-KR" sz="1600" dirty="0">
              <a:solidFill>
                <a:srgbClr val="C00000"/>
              </a:solidFill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937E6-DB35-68E1-F7C6-AF0F42DFA751}"/>
              </a:ext>
            </a:extLst>
          </p:cNvPr>
          <p:cNvSpPr txBox="1"/>
          <p:nvPr/>
        </p:nvSpPr>
        <p:spPr>
          <a:xfrm>
            <a:off x="2879210" y="3356577"/>
            <a:ext cx="828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플레이어가 플레이를 반복하며 무기 선택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사용 빈도</a:t>
            </a:r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버프 활용 방식을 변화시키는 과정</a:t>
            </a:r>
            <a:endParaRPr lang="en-US" altLang="ko-KR" b="1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CE5A882-1C86-EC15-FF58-FD758D047AC0}"/>
              </a:ext>
            </a:extLst>
          </p:cNvPr>
          <p:cNvSpPr/>
          <p:nvPr/>
        </p:nvSpPr>
        <p:spPr>
          <a:xfrm>
            <a:off x="891210" y="3243720"/>
            <a:ext cx="1777981" cy="595046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전략 탐색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EDF2AF-F818-C9FE-52D3-7DDC6D765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48967"/>
              </p:ext>
            </p:extLst>
          </p:nvPr>
        </p:nvGraphicFramePr>
        <p:xfrm>
          <a:off x="1612018" y="4921418"/>
          <a:ext cx="8967960" cy="1668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0264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6417696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8342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포함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레이드형 </a:t>
                      </a:r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턴제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전투 구조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단일 목표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보스 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HP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감소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), </a:t>
                      </a:r>
                    </a:p>
                    <a:p>
                      <a:pPr algn="ctr" latinLnBrk="1"/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구성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선택이 가능한 시스템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반복 플레이 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8342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제외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실시간 액션 요소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PVP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경쟁 구도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확률 기반 전투 결과 분석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게임의 재미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몰입도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완성도 평가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최적 전략의 계산 또는 증명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31723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B7150C5-BEEA-42EA-A969-39F50187A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37728"/>
              </p:ext>
            </p:extLst>
          </p:nvPr>
        </p:nvGraphicFramePr>
        <p:xfrm>
          <a:off x="1612018" y="4087170"/>
          <a:ext cx="8967960" cy="8342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0264">
                  <a:extLst>
                    <a:ext uri="{9D8B030D-6E8A-4147-A177-3AD203B41FA5}">
                      <a16:colId xmlns:a16="http://schemas.microsoft.com/office/drawing/2014/main" val="534623594"/>
                    </a:ext>
                  </a:extLst>
                </a:gridCol>
                <a:gridCol w="6417696">
                  <a:extLst>
                    <a:ext uri="{9D8B030D-6E8A-4147-A177-3AD203B41FA5}">
                      <a16:colId xmlns:a16="http://schemas.microsoft.com/office/drawing/2014/main" val="996347174"/>
                    </a:ext>
                  </a:extLst>
                </a:gridCol>
              </a:tblGrid>
              <a:tr h="8342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연구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완성된 상업 게임이 아닌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연구 목적에 맞게 설계된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프로토타입 게임 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503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41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37F7-D260-D029-E312-3B8A156B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69940-3C2C-CEE1-4186-1E1ACF8F009D}"/>
              </a:ext>
            </a:extLst>
          </p:cNvPr>
          <p:cNvSpPr txBox="1"/>
          <p:nvPr/>
        </p:nvSpPr>
        <p:spPr>
          <a:xfrm>
            <a:off x="5428189" y="209034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연구 방법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F1D53-1B2F-6EF0-1A46-4FC6D68F15B5}"/>
              </a:ext>
            </a:extLst>
          </p:cNvPr>
          <p:cNvSpPr txBox="1"/>
          <p:nvPr/>
        </p:nvSpPr>
        <p:spPr>
          <a:xfrm>
            <a:off x="5064317" y="657999"/>
            <a:ext cx="2063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실험 절차 및 기록 대상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A58AC5-44FC-9619-CA6F-032169B6A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135716"/>
              </p:ext>
            </p:extLst>
          </p:nvPr>
        </p:nvGraphicFramePr>
        <p:xfrm>
          <a:off x="2032000" y="3647977"/>
          <a:ext cx="8128000" cy="2635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5816600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898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1. </a:t>
                      </a:r>
                      <a:r>
                        <a:rPr lang="ko-KR" altLang="en-US" sz="20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덱</a:t>
                      </a:r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구성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다양한 스킬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공격 범위를 가진 무기들을 선택하고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endParaRPr lang="en-US" altLang="ko-KR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이동 거리를 마음대로 조합해 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개의 무기 </a:t>
                      </a:r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덱을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구성한다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837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2. </a:t>
                      </a:r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플레이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동일한 보스 상대로 매 턴 사용 무기를 선택해 플레이한다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  <a:tr h="8985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3. </a:t>
                      </a:r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턴 종료 시 선택된 무기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적용된 버프 수치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발생 </a:t>
                      </a:r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피해량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누적 </a:t>
                      </a:r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피해량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잔여 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HP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 자동으로 기록된다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55622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482D12B-5035-EDBE-D80B-9659F7032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488307"/>
              </p:ext>
            </p:extLst>
          </p:nvPr>
        </p:nvGraphicFramePr>
        <p:xfrm>
          <a:off x="2032000" y="1565275"/>
          <a:ext cx="8128000" cy="1193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5816600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아날로그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보드판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디지털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데미지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HP, MP,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공격력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상태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버프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디버프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계산 및 기록기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4C6FBD0-0F35-F66F-3B7E-97B8E12FFF5B}"/>
              </a:ext>
            </a:extLst>
          </p:cNvPr>
          <p:cNvSpPr txBox="1"/>
          <p:nvPr/>
        </p:nvSpPr>
        <p:spPr>
          <a:xfrm>
            <a:off x="2032000" y="1036985"/>
            <a:ext cx="2233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24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실험 도구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AC327-2B5D-F885-962B-D5478297125E}"/>
              </a:ext>
            </a:extLst>
          </p:cNvPr>
          <p:cNvSpPr txBox="1"/>
          <p:nvPr/>
        </p:nvSpPr>
        <p:spPr>
          <a:xfrm>
            <a:off x="2032000" y="3096964"/>
            <a:ext cx="2233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24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실험 절차</a:t>
            </a: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1A2FA7D3-AACF-855F-A527-51F83972D2FB}"/>
              </a:ext>
            </a:extLst>
          </p:cNvPr>
          <p:cNvSpPr/>
          <p:nvPr/>
        </p:nvSpPr>
        <p:spPr>
          <a:xfrm>
            <a:off x="1666875" y="4546394"/>
            <a:ext cx="365125" cy="1736710"/>
          </a:xfrm>
          <a:prstGeom prst="leftBrace">
            <a:avLst>
              <a:gd name="adj1" fmla="val 26594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94C9CE-0CEA-FA61-A7C2-6C5922E00CFA}"/>
              </a:ext>
            </a:extLst>
          </p:cNvPr>
          <p:cNvSpPr txBox="1"/>
          <p:nvPr/>
        </p:nvSpPr>
        <p:spPr>
          <a:xfrm>
            <a:off x="41275" y="5022782"/>
            <a:ext cx="1990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 단위로</a:t>
            </a:r>
            <a:endParaRPr lang="en-US" altLang="ko-KR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 latinLnBrk="1"/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반복</a:t>
            </a:r>
          </a:p>
        </p:txBody>
      </p:sp>
    </p:spTree>
    <p:extLst>
      <p:ext uri="{BB962C8B-B14F-4D97-AF65-F5344CB8AC3E}">
        <p14:creationId xmlns:p14="http://schemas.microsoft.com/office/powerpoint/2010/main" val="140809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414</Words>
  <Application>Microsoft Office PowerPoint</Application>
  <PresentationFormat>와이드스크린</PresentationFormat>
  <Paragraphs>61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나눔스퀘어OTF_ac Bold</vt:lpstr>
      <vt:lpstr>맑은 고딕</vt:lpstr>
      <vt:lpstr>나눔스퀘어OTF Bold</vt:lpstr>
      <vt:lpstr>나눔스퀘어OTF_ac ExtraBold</vt:lpstr>
      <vt:lpstr>나눔스퀘어OTF Light</vt:lpstr>
      <vt:lpstr>나눔스퀘어OTF ExtraBold</vt:lpstr>
      <vt:lpstr>나눔스퀘어OTF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애플 움냠냐</dc:creator>
  <cp:lastModifiedBy>애플 움냠냐</cp:lastModifiedBy>
  <cp:revision>23</cp:revision>
  <dcterms:created xsi:type="dcterms:W3CDTF">2025-12-29T00:10:45Z</dcterms:created>
  <dcterms:modified xsi:type="dcterms:W3CDTF">2026-01-08T00:47:51Z</dcterms:modified>
</cp:coreProperties>
</file>